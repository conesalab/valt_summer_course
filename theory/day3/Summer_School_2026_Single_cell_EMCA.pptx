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62" r:id="rId9"/>
    <p:sldId id="289" r:id="rId10"/>
    <p:sldId id="263" r:id="rId11"/>
    <p:sldId id="264" r:id="rId12"/>
    <p:sldId id="265" r:id="rId13"/>
    <p:sldId id="266" r:id="rId14"/>
    <p:sldId id="267" r:id="rId15"/>
    <p:sldId id="296" r:id="rId16"/>
    <p:sldId id="268" r:id="rId17"/>
    <p:sldId id="269" r:id="rId18"/>
    <p:sldId id="270" r:id="rId19"/>
    <p:sldId id="295" r:id="rId20"/>
    <p:sldId id="294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97" r:id="rId33"/>
    <p:sldId id="282" r:id="rId34"/>
    <p:sldId id="283" r:id="rId35"/>
    <p:sldId id="298" r:id="rId36"/>
    <p:sldId id="291" r:id="rId37"/>
    <p:sldId id="292" r:id="rId38"/>
    <p:sldId id="285" r:id="rId39"/>
    <p:sldId id="286" r:id="rId40"/>
    <p:sldId id="288" r:id="rId4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020" y="4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96359" y="1643760"/>
            <a:ext cx="1367154" cy="392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BDB3EC4-127B-8DB8-0B65-11DFC2A243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52A0FAE-5DD7-9140-68BC-11C57A5E7F25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6FA9A19-3EE1-AE33-1451-7F5DFA6853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4025" y="114300"/>
            <a:ext cx="584225" cy="285750"/>
          </a:xfrm>
          <a:prstGeom prst="rect">
            <a:avLst/>
          </a:prstGeom>
        </p:spPr>
      </p:pic>
      <p:sp>
        <p:nvSpPr>
          <p:cNvPr id="6" name="Shape 13">
            <a:extLst>
              <a:ext uri="{FF2B5EF4-FFF2-40B4-BE49-F238E27FC236}">
                <a16:creationId xmlns:a16="http://schemas.microsoft.com/office/drawing/2014/main" id="{9F487DB7-7893-6F35-257B-69A287402663}"/>
              </a:ext>
            </a:extLst>
          </p:cNvPr>
          <p:cNvSpPr/>
          <p:nvPr userDrawn="1"/>
        </p:nvSpPr>
        <p:spPr>
          <a:xfrm>
            <a:off x="0" y="4850606"/>
            <a:ext cx="9144000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4F95E02-841A-592C-6ED8-65F90CAC75EB}"/>
              </a:ext>
            </a:extLst>
          </p:cNvPr>
          <p:cNvSpPr/>
          <p:nvPr userDrawn="1"/>
        </p:nvSpPr>
        <p:spPr>
          <a:xfrm>
            <a:off x="278977" y="493549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4796D1D-577A-6319-1CA1-19E59E8A9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71F105-4880-47AF-28B3-B781B2D4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88230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2247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333900A-0A21-91D6-0BC6-72F9C3601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656EB34-8BEF-729F-C7A4-B3F1264C1A7B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3DD38DE4-6B22-4AB6-FCC7-6A12CEF77A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74025" y="114300"/>
            <a:ext cx="584225" cy="285750"/>
          </a:xfrm>
          <a:prstGeom prst="rect">
            <a:avLst/>
          </a:prstGeom>
        </p:spPr>
      </p:pic>
      <p:sp>
        <p:nvSpPr>
          <p:cNvPr id="14" name="Text 15">
            <a:extLst>
              <a:ext uri="{FF2B5EF4-FFF2-40B4-BE49-F238E27FC236}">
                <a16:creationId xmlns:a16="http://schemas.microsoft.com/office/drawing/2014/main" id="{22566EAF-8BB7-C913-B2B0-C1CA21CADFB2}"/>
              </a:ext>
            </a:extLst>
          </p:cNvPr>
          <p:cNvSpPr/>
          <p:nvPr userDrawn="1"/>
        </p:nvSpPr>
        <p:spPr>
          <a:xfrm>
            <a:off x="278977" y="496652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63DEA6DA-0035-52E8-C3CD-8F955E965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84A4C2B4-7358-EEA5-8321-7784F71C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88230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42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514350"/>
          </a:xfrm>
          <a:custGeom>
            <a:avLst/>
            <a:gdLst/>
            <a:ahLst/>
            <a:cxnLst/>
            <a:rect l="l" t="t" r="r" b="b"/>
            <a:pathLst>
              <a:path w="9144000" h="514350">
                <a:moveTo>
                  <a:pt x="9144000" y="0"/>
                </a:moveTo>
                <a:lnTo>
                  <a:pt x="0" y="0"/>
                </a:lnTo>
                <a:lnTo>
                  <a:pt x="0" y="514350"/>
                </a:lnTo>
                <a:lnTo>
                  <a:pt x="9144000" y="51435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4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7225" y="114300"/>
            <a:ext cx="581025" cy="28575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4848225"/>
            <a:ext cx="9144000" cy="295275"/>
          </a:xfrm>
          <a:custGeom>
            <a:avLst/>
            <a:gdLst/>
            <a:ahLst/>
            <a:cxnLst/>
            <a:rect l="l" t="t" r="r" b="b"/>
            <a:pathLst>
              <a:path w="9144000" h="295275">
                <a:moveTo>
                  <a:pt x="9144000" y="0"/>
                </a:moveTo>
                <a:lnTo>
                  <a:pt x="0" y="0"/>
                </a:lnTo>
                <a:lnTo>
                  <a:pt x="0" y="295275"/>
                </a:lnTo>
                <a:lnTo>
                  <a:pt x="9144000" y="295275"/>
                </a:lnTo>
                <a:lnTo>
                  <a:pt x="914400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3367" y="115252"/>
            <a:ext cx="7730490" cy="266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880" y="1575752"/>
            <a:ext cx="4030979" cy="277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6700" y="4932792"/>
            <a:ext cx="1298575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6666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9015" y="4963907"/>
            <a:ext cx="203200" cy="142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67676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8.sv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ongtrec.e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object 6" descr="A black and white logo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295275"/>
            <a:ext cx="1790700" cy="876300"/>
          </a:xfrm>
          <a:prstGeom prst="rect">
            <a:avLst/>
          </a:prstGeom>
        </p:spPr>
      </p:pic>
      <p:pic>
        <p:nvPicPr>
          <p:cNvPr id="3" name="object 3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91225" y="361950"/>
            <a:ext cx="3152775" cy="6667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008885" y="2348229"/>
            <a:ext cx="513207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/>
              <a:t>Bioinformatics</a:t>
            </a:r>
            <a:r>
              <a:rPr sz="2700" spc="-65" dirty="0"/>
              <a:t> </a:t>
            </a:r>
            <a:r>
              <a:rPr sz="2700" dirty="0"/>
              <a:t>Summer</a:t>
            </a:r>
            <a:r>
              <a:rPr sz="2700" spc="-50" dirty="0"/>
              <a:t> </a:t>
            </a:r>
            <a:r>
              <a:rPr sz="2700" spc="-10" dirty="0"/>
              <a:t>School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2833370" y="2928937"/>
            <a:ext cx="34893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Long-reads</a:t>
            </a:r>
            <a:r>
              <a:rPr sz="2000" b="1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Transcriptomics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57575" y="4057650"/>
            <a:ext cx="2228850" cy="352425"/>
          </a:xfrm>
          <a:custGeom>
            <a:avLst/>
            <a:gdLst/>
            <a:ahLst/>
            <a:cxnLst/>
            <a:rect l="l" t="t" r="r" b="b"/>
            <a:pathLst>
              <a:path w="2228850" h="352425">
                <a:moveTo>
                  <a:pt x="2170049" y="0"/>
                </a:moveTo>
                <a:lnTo>
                  <a:pt x="0" y="0"/>
                </a:lnTo>
                <a:lnTo>
                  <a:pt x="0" y="293687"/>
                </a:lnTo>
                <a:lnTo>
                  <a:pt x="58800" y="352425"/>
                </a:lnTo>
                <a:lnTo>
                  <a:pt x="2228850" y="352425"/>
                </a:lnTo>
                <a:lnTo>
                  <a:pt x="2228850" y="58737"/>
                </a:lnTo>
                <a:lnTo>
                  <a:pt x="2170049" y="0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56889" y="3564572"/>
            <a:ext cx="3044190" cy="1439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250" i="1" dirty="0">
                <a:solidFill>
                  <a:srgbClr val="FFFFFF"/>
                </a:solidFill>
                <a:latin typeface="Arial"/>
                <a:cs typeface="Arial"/>
              </a:rPr>
              <a:t>Eamon</a:t>
            </a:r>
            <a:r>
              <a:rPr sz="1250" i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i="1" spc="-10" dirty="0">
                <a:solidFill>
                  <a:srgbClr val="FFFFFF"/>
                </a:solidFill>
                <a:latin typeface="Arial"/>
                <a:cs typeface="Arial"/>
              </a:rPr>
              <a:t>McAndrew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50">
              <a:latin typeface="Arial"/>
              <a:cs typeface="Arial"/>
            </a:endParaRPr>
          </a:p>
          <a:p>
            <a:pPr marL="637540" marR="639445" algn="ctr">
              <a:lnSpc>
                <a:spcPts val="1430"/>
              </a:lnSpc>
            </a:pPr>
            <a:r>
              <a:rPr sz="1200" dirty="0">
                <a:solidFill>
                  <a:srgbClr val="E8E8E8"/>
                </a:solidFill>
                <a:latin typeface="Calibri"/>
                <a:cs typeface="Calibri"/>
              </a:rPr>
              <a:t>Ipmc</a:t>
            </a:r>
            <a:r>
              <a:rPr sz="1200" spc="-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8E8E8"/>
                </a:solidFill>
                <a:latin typeface="Calibri"/>
                <a:cs typeface="Calibri"/>
              </a:rPr>
              <a:t>-</a:t>
            </a:r>
            <a:r>
              <a:rPr sz="1200" spc="-1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alibri"/>
                <a:cs typeface="Calibri"/>
              </a:rPr>
              <a:t>Institute</a:t>
            </a:r>
            <a:r>
              <a:rPr sz="1200" spc="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8E8E8"/>
                </a:solidFill>
                <a:latin typeface="Calibri"/>
                <a:cs typeface="Calibri"/>
              </a:rPr>
              <a:t>of</a:t>
            </a:r>
            <a:r>
              <a:rPr sz="1200" spc="1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alibri"/>
                <a:cs typeface="Calibri"/>
              </a:rPr>
              <a:t>Molecular </a:t>
            </a:r>
            <a:r>
              <a:rPr sz="1200" dirty="0">
                <a:solidFill>
                  <a:srgbClr val="E8E8E8"/>
                </a:solidFill>
                <a:latin typeface="Calibri"/>
                <a:cs typeface="Calibri"/>
              </a:rPr>
              <a:t>and</a:t>
            </a:r>
            <a:r>
              <a:rPr sz="1200" spc="-5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E8E8E8"/>
                </a:solidFill>
                <a:latin typeface="Calibri"/>
                <a:cs typeface="Calibri"/>
              </a:rPr>
              <a:t>Cellular</a:t>
            </a:r>
            <a:r>
              <a:rPr sz="1200" spc="-20" dirty="0">
                <a:solidFill>
                  <a:srgbClr val="E8E8E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alibri"/>
                <a:cs typeface="Calibri"/>
              </a:rPr>
              <a:t>Pharmacology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LongTREC</a:t>
            </a:r>
            <a:r>
              <a:rPr sz="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Arial MT"/>
                <a:cs typeface="Arial MT"/>
              </a:rPr>
              <a:t>Long-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reads</a:t>
            </a:r>
            <a:r>
              <a:rPr sz="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TRanscriptome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European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Consortium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Marie</a:t>
            </a:r>
            <a:r>
              <a:rPr sz="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Skłodowska-Curie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grant</a:t>
            </a:r>
            <a:r>
              <a:rPr sz="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agreement</a:t>
            </a:r>
            <a:r>
              <a:rPr sz="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Arial MT"/>
                <a:cs typeface="Arial MT"/>
              </a:rPr>
              <a:t>101072892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FF8B00"/>
                </a:solidFill>
              </a:rPr>
              <a:t>Section</a:t>
            </a:r>
            <a:r>
              <a:rPr sz="2400" spc="-155" dirty="0">
                <a:solidFill>
                  <a:srgbClr val="FF8B00"/>
                </a:solidFill>
              </a:rPr>
              <a:t> </a:t>
            </a:r>
            <a:r>
              <a:rPr sz="2400" spc="-50" dirty="0">
                <a:solidFill>
                  <a:srgbClr val="FF8B00"/>
                </a:solidFill>
              </a:rPr>
              <a:t>4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149667" y="2248788"/>
            <a:ext cx="691959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Long</a:t>
            </a:r>
            <a:r>
              <a:rPr sz="29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Read Single</a:t>
            </a:r>
            <a:r>
              <a:rPr sz="29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290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Transcriptomics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43375" y="2981325"/>
            <a:ext cx="857250" cy="28575"/>
          </a:xfrm>
          <a:custGeom>
            <a:avLst/>
            <a:gdLst/>
            <a:ahLst/>
            <a:cxnLst/>
            <a:rect l="l" t="t" r="r" b="b"/>
            <a:pathLst>
              <a:path w="857250" h="28575">
                <a:moveTo>
                  <a:pt x="857250" y="0"/>
                </a:moveTo>
                <a:lnTo>
                  <a:pt x="0" y="0"/>
                </a:lnTo>
                <a:lnTo>
                  <a:pt x="0" y="28575"/>
                </a:lnTo>
                <a:lnTo>
                  <a:pt x="857250" y="28575"/>
                </a:lnTo>
                <a:lnTo>
                  <a:pt x="857250" y="0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Single</a:t>
            </a:r>
            <a:r>
              <a:rPr spc="25" dirty="0"/>
              <a:t> </a:t>
            </a:r>
            <a:r>
              <a:rPr spc="-10" dirty="0"/>
              <a:t>Cell?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" y="1276350"/>
            <a:ext cx="85725" cy="857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3367" y="807402"/>
            <a:ext cx="625983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So</a:t>
            </a:r>
            <a:r>
              <a:rPr sz="1500" b="1" spc="-114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after</a:t>
            </a:r>
            <a:r>
              <a:rPr sz="1500" b="1" spc="-9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this</a:t>
            </a:r>
            <a:r>
              <a:rPr sz="1500" b="1" spc="-9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week</a:t>
            </a:r>
            <a:r>
              <a:rPr sz="1500" b="1" spc="-4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we</a:t>
            </a:r>
            <a:r>
              <a:rPr sz="1500" b="1" spc="-9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know</a:t>
            </a:r>
            <a:r>
              <a:rPr sz="1500" b="1" spc="-8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all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about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Long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Read</a:t>
            </a:r>
            <a:r>
              <a:rPr sz="1500" b="1" spc="-8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Bulk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Transcriptomics:</a:t>
            </a:r>
            <a:endParaRPr sz="1500">
              <a:latin typeface="Arial"/>
              <a:cs typeface="Arial"/>
            </a:endParaRPr>
          </a:p>
          <a:p>
            <a:pPr marL="205740">
              <a:lnSpc>
                <a:spcPct val="100000"/>
              </a:lnSpc>
              <a:spcBef>
                <a:spcPts val="1375"/>
              </a:spcBef>
            </a:pPr>
            <a:r>
              <a:rPr sz="1550" b="1" dirty="0">
                <a:solidFill>
                  <a:srgbClr val="EC7C30"/>
                </a:solidFill>
                <a:latin typeface="Arial"/>
                <a:cs typeface="Arial"/>
              </a:rPr>
              <a:t>But</a:t>
            </a:r>
            <a:r>
              <a:rPr sz="1550" b="1" spc="17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EC7C30"/>
                </a:solidFill>
                <a:latin typeface="Arial"/>
                <a:cs typeface="Arial"/>
              </a:rPr>
              <a:t>what</a:t>
            </a:r>
            <a:r>
              <a:rPr sz="1550" b="1" spc="9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EC7C30"/>
                </a:solidFill>
                <a:latin typeface="Arial"/>
                <a:cs typeface="Arial"/>
              </a:rPr>
              <a:t>about</a:t>
            </a:r>
            <a:r>
              <a:rPr sz="1550" b="1" spc="90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EC7C30"/>
                </a:solidFill>
                <a:latin typeface="Arial"/>
                <a:cs typeface="Arial"/>
              </a:rPr>
              <a:t>complex</a:t>
            </a:r>
            <a:r>
              <a:rPr sz="1550" b="1" spc="114" dirty="0">
                <a:solidFill>
                  <a:srgbClr val="EC7C30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EC7C30"/>
                </a:solidFill>
                <a:latin typeface="Arial"/>
                <a:cs typeface="Arial"/>
              </a:rPr>
              <a:t>tissue?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1533525"/>
            <a:ext cx="9144000" cy="3609975"/>
            <a:chOff x="0" y="1533525"/>
            <a:chExt cx="9144000" cy="3609975"/>
          </a:xfrm>
        </p:grpSpPr>
        <p:pic>
          <p:nvPicPr>
            <p:cNvPr id="3" name="object 3" descr="Brain Anatomy and How the Brain Works | Johns Hopkins Medicin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0" y="1533525"/>
              <a:ext cx="2400300" cy="1800225"/>
            </a:xfrm>
            <a:prstGeom prst="rect">
              <a:avLst/>
            </a:prstGeom>
          </p:spPr>
        </p:pic>
        <p:pic>
          <p:nvPicPr>
            <p:cNvPr id="4" name="object 4" descr="A diagram of a human body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7375" y="3343275"/>
              <a:ext cx="1581150" cy="1504950"/>
            </a:xfrm>
            <a:prstGeom prst="rect">
              <a:avLst/>
            </a:prstGeom>
          </p:spPr>
        </p:pic>
        <p:pic>
          <p:nvPicPr>
            <p:cNvPr id="5" name="object 5" descr="Une image contenant table, gâteau, décoré, anniversaire  Description générée automatiquement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7150" y="3390900"/>
              <a:ext cx="3733800" cy="1228725"/>
            </a:xfrm>
            <a:prstGeom prst="rect">
              <a:avLst/>
            </a:prstGeom>
          </p:spPr>
        </p:pic>
      </p:grpSp>
      <p:pic>
        <p:nvPicPr>
          <p:cNvPr id="9" name="object 9" descr="Brain cells | The Brain Tumour Charity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62425" y="1457325"/>
            <a:ext cx="3324225" cy="17430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273367" y="115252"/>
            <a:ext cx="1651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Cell?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367" y="695642"/>
            <a:ext cx="8403590" cy="474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In</a:t>
            </a:r>
            <a:r>
              <a:rPr sz="1500" b="1" spc="-7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complex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tissue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the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signal</a:t>
            </a:r>
            <a:r>
              <a:rPr sz="1500" b="1" spc="-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we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generate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with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bulk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assays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is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</a:t>
            </a:r>
            <a:r>
              <a:rPr sz="1500" b="1" spc="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linear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combination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derived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from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many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cell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types.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6" name="object 6" descr="Une image contenant table, gâteau, décoré, anniversaire  Description générée automatiquemen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0" y="1484312"/>
            <a:ext cx="4193554" cy="1383551"/>
          </a:xfrm>
          <a:prstGeom prst="rect">
            <a:avLst/>
          </a:prstGeom>
        </p:spPr>
      </p:pic>
      <p:pic>
        <p:nvPicPr>
          <p:cNvPr id="5" name="object 5" descr="A diagram of a human body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670" y="1583047"/>
            <a:ext cx="2724201" cy="256107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1925" y="2873226"/>
            <a:ext cx="4000500" cy="19948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273367" y="115252"/>
            <a:ext cx="1651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Cell?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3367" y="695642"/>
            <a:ext cx="8403590" cy="474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15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In</a:t>
            </a:r>
            <a:r>
              <a:rPr sz="1500" b="1" spc="-7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complex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tissue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the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signal</a:t>
            </a:r>
            <a:r>
              <a:rPr sz="1500" b="1" spc="-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we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generate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with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bulk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assays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is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</a:t>
            </a:r>
            <a:r>
              <a:rPr sz="1500" b="1" spc="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linear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combination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derived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from </a:t>
            </a:r>
            <a:r>
              <a:rPr sz="1500" b="1" spc="-30" dirty="0">
                <a:solidFill>
                  <a:srgbClr val="0046AB"/>
                </a:solidFill>
                <a:latin typeface="Arial"/>
                <a:cs typeface="Arial"/>
              </a:rPr>
              <a:t>many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cell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types</a:t>
            </a:r>
            <a:r>
              <a:rPr sz="1500" b="1" spc="-6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(subtypes,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 states,</a:t>
            </a:r>
            <a:r>
              <a:rPr sz="1500" b="1" spc="-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diseased</a:t>
            </a:r>
            <a:r>
              <a:rPr sz="1500" b="1" spc="-7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affected/healthy)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 descr="Brain Anatomy and How the Brain Works | Johns Hopkins Medicin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" y="1514475"/>
            <a:ext cx="3209925" cy="2409825"/>
          </a:xfrm>
          <a:prstGeom prst="rect">
            <a:avLst/>
          </a:prstGeom>
        </p:spPr>
      </p:pic>
      <p:pic>
        <p:nvPicPr>
          <p:cNvPr id="4" name="object 4" descr="Summary of major phenotypic alterations from different brain cell types...  | Download Scientific Diagra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1514475"/>
            <a:ext cx="4619625" cy="3124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Single</a:t>
            </a:r>
            <a:r>
              <a:rPr spc="25" dirty="0"/>
              <a:t> </a:t>
            </a:r>
            <a:r>
              <a:rPr spc="-10" dirty="0"/>
              <a:t>Cell?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1795" y="723518"/>
            <a:ext cx="3507104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Cells</a:t>
            </a:r>
            <a:r>
              <a:rPr sz="1500" b="1" spc="-7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don’t</a:t>
            </a:r>
            <a:r>
              <a:rPr sz="1500" b="1" spc="-4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exist</a:t>
            </a:r>
            <a:r>
              <a:rPr sz="1500" b="1" spc="-4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or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operate</a:t>
            </a:r>
            <a:r>
              <a:rPr sz="1500" b="1" spc="-7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in</a:t>
            </a:r>
            <a:r>
              <a:rPr sz="1500" b="1" spc="-7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Isolation.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325" y="1419225"/>
            <a:ext cx="4295775" cy="19240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0625" y="1247775"/>
            <a:ext cx="3019425" cy="2276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62925" y="1543050"/>
            <a:ext cx="885825" cy="14763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280" y="3491547"/>
            <a:ext cx="3215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Mouse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Coronal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Brain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Section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7415" y="3509708"/>
            <a:ext cx="2606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Bronchial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COPD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biopsy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63093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Bulk averages, single cell resolves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2" name="Rounded Rectangle 11"/>
          <p:cNvSpPr/>
          <p:nvPr/>
        </p:nvSpPr>
        <p:spPr>
          <a:xfrm>
            <a:off x="310896" y="1627632"/>
            <a:ext cx="1627632" cy="178308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5875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1691640"/>
            <a:ext cx="162763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ctr"/>
            <a:r>
              <a:rPr sz="1100" b="1" i="0">
                <a:solidFill>
                  <a:srgbClr val="0046AB"/>
                </a:solidFill>
                <a:latin typeface="Arial"/>
              </a:rPr>
              <a:t>Complex tissue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" y="2116836"/>
            <a:ext cx="155448" cy="15544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6404" y="2052828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12164" y="2189988"/>
            <a:ext cx="155448" cy="1554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8932" y="2482596"/>
            <a:ext cx="155448" cy="1554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9556" y="2482596"/>
            <a:ext cx="155448" cy="155448"/>
          </a:xfrm>
          <a:prstGeom prst="ellipse">
            <a:avLst/>
          </a:prstGeom>
          <a:solidFill>
            <a:srgbClr val="2E7C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03604" y="2555748"/>
            <a:ext cx="155448" cy="15544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4924" y="2848356"/>
            <a:ext cx="155448" cy="1554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4692" y="2884932"/>
            <a:ext cx="155448" cy="1554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48740" y="2921508"/>
            <a:ext cx="155448" cy="1554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3524" y="2281428"/>
            <a:ext cx="155448" cy="155448"/>
          </a:xfrm>
          <a:prstGeom prst="ellipse">
            <a:avLst/>
          </a:prstGeom>
          <a:solidFill>
            <a:srgbClr val="2E7C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5860" y="2318004"/>
            <a:ext cx="155448" cy="1554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81812" y="2683764"/>
            <a:ext cx="155448" cy="15544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1975104" y="1417320"/>
            <a:ext cx="329184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ight Arrow 26"/>
          <p:cNvSpPr/>
          <p:nvPr/>
        </p:nvSpPr>
        <p:spPr>
          <a:xfrm>
            <a:off x="1975104" y="3429000"/>
            <a:ext cx="329184" cy="274320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395728" y="932688"/>
            <a:ext cx="6364224" cy="1481328"/>
          </a:xfrm>
          <a:prstGeom prst="roundRect">
            <a:avLst>
              <a:gd name="adj" fmla="val 6000"/>
            </a:avLst>
          </a:prstGeom>
          <a:solidFill>
            <a:srgbClr val="F2F3F5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542032" y="1097280"/>
            <a:ext cx="1755648" cy="36576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Bulk RNA-seq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1609344"/>
            <a:ext cx="219456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00" b="0" i="0">
                <a:solidFill>
                  <a:srgbClr val="222B38"/>
                </a:solidFill>
                <a:latin typeface="Arial"/>
              </a:rPr>
              <a:t>Pool all cells,</a:t>
            </a:r>
          </a:p>
          <a:p>
            <a:pPr algn="l"/>
            <a:r>
              <a:rPr sz="1000" b="0" i="0">
                <a:solidFill>
                  <a:srgbClr val="222B38"/>
                </a:solidFill>
                <a:latin typeface="Arial"/>
              </a:rPr>
              <a:t>sequence together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791456" y="1499616"/>
            <a:ext cx="548640" cy="310896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641848" y="1316736"/>
            <a:ext cx="713232" cy="713232"/>
          </a:xfrm>
          <a:prstGeom prst="ellipse">
            <a:avLst/>
          </a:prstGeom>
          <a:solidFill>
            <a:srgbClr val="8B807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64808" y="1298448"/>
            <a:ext cx="21945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22B38"/>
                </a:solidFill>
                <a:latin typeface="Arial"/>
              </a:rPr>
              <a:t>One averaged profile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C0392B"/>
                </a:solidFill>
                <a:latin typeface="Arial"/>
              </a:rPr>
              <a:t>cell identities lost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95728" y="2779776"/>
            <a:ext cx="6364224" cy="1847088"/>
          </a:xfrm>
          <a:prstGeom prst="roundRect">
            <a:avLst>
              <a:gd name="adj" fmla="val 5000"/>
            </a:avLst>
          </a:prstGeom>
          <a:solidFill>
            <a:srgbClr val="EAF1FB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542032" y="2944368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004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Single-cell RNA-seq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2032" y="3438144"/>
            <a:ext cx="219456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000" b="0" i="0">
                <a:solidFill>
                  <a:srgbClr val="222B38"/>
                </a:solidFill>
                <a:latin typeface="Arial"/>
              </a:rPr>
              <a:t>Keep cells separate,</a:t>
            </a:r>
          </a:p>
          <a:p>
            <a:pPr algn="l"/>
            <a:r>
              <a:rPr sz="1000" b="0" i="0">
                <a:solidFill>
                  <a:srgbClr val="222B38"/>
                </a:solidFill>
                <a:latin typeface="Arial"/>
              </a:rPr>
              <a:t>barcode each one</a:t>
            </a:r>
          </a:p>
        </p:txBody>
      </p:sp>
      <p:sp>
        <p:nvSpPr>
          <p:cNvPr id="37" name="Oval 36"/>
          <p:cNvSpPr/>
          <p:nvPr/>
        </p:nvSpPr>
        <p:spPr>
          <a:xfrm>
            <a:off x="4727448" y="3648456"/>
            <a:ext cx="182880" cy="1828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956048" y="3950208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791456" y="4261104"/>
            <a:ext cx="182880" cy="1828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120640" y="4261104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65776" y="3675887"/>
            <a:ext cx="182880" cy="182880"/>
          </a:xfrm>
          <a:prstGeom prst="ellipse">
            <a:avLst/>
          </a:prstGeom>
          <a:solidFill>
            <a:srgbClr val="2E7CD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/>
          <p:cNvSpPr/>
          <p:nvPr/>
        </p:nvSpPr>
        <p:spPr>
          <a:xfrm>
            <a:off x="5431536" y="3557016"/>
            <a:ext cx="502920" cy="292608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429078" y="3532235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654636" y="3442260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16770" y="3486130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604820" y="3604598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27092" y="3355673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616129" y="3533222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718335" y="3596832"/>
            <a:ext cx="91440" cy="91440"/>
          </a:xfrm>
          <a:prstGeom prst="ellipse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284303" y="3428809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515699" y="3412535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204691" y="3317663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289726" y="3441124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273834" y="3435632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308872" y="3491652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396101" y="3458867"/>
            <a:ext cx="91440" cy="91440"/>
          </a:xfrm>
          <a:prstGeom prst="ellipse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324065" y="4151330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359400" y="4059976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353034" y="4078448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6446759" y="4095742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747222" y="4074738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6600887" y="3936264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488755" y="4128297"/>
            <a:ext cx="91440" cy="91440"/>
          </a:xfrm>
          <a:prstGeom prst="ellipse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375153" y="4121851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388933" y="4010961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431612" y="4030172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7573691" y="4053163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7429066" y="4105826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7473652" y="4045945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7472974" y="4094025"/>
            <a:ext cx="91440" cy="91440"/>
          </a:xfrm>
          <a:prstGeom prst="ellipse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08975" y="3346704"/>
            <a:ext cx="960120" cy="9144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100" b="1" i="0">
                <a:solidFill>
                  <a:srgbClr val="222B38"/>
                </a:solidFill>
                <a:latin typeface="Arial"/>
              </a:rPr>
              <a:t>Many</a:t>
            </a:r>
          </a:p>
          <a:p>
            <a:pPr algn="l"/>
            <a:r>
              <a:rPr sz="1100" b="1" i="0">
                <a:solidFill>
                  <a:srgbClr val="222B38"/>
                </a:solidFill>
                <a:latin typeface="Arial"/>
              </a:rPr>
              <a:t>resolved</a:t>
            </a:r>
          </a:p>
          <a:p>
            <a:pPr algn="l"/>
            <a:r>
              <a:rPr sz="1100" b="1" i="0">
                <a:solidFill>
                  <a:srgbClr val="222B38"/>
                </a:solidFill>
                <a:latin typeface="Arial"/>
              </a:rPr>
              <a:t>profiles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42032" y="4315968"/>
            <a:ext cx="6089904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1050" b="1" i="1">
                <a:solidFill>
                  <a:srgbClr val="1E8E4E"/>
                </a:solidFill>
                <a:latin typeface="Arial"/>
              </a:rPr>
              <a:t>Cell types &amp; states stay resolved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1813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Preserving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cellular</a:t>
            </a:r>
            <a:r>
              <a:rPr sz="155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heterogeneity</a:t>
            </a:r>
            <a:endParaRPr sz="155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86025" y="819150"/>
            <a:ext cx="3733800" cy="1362075"/>
            <a:chOff x="2486025" y="571500"/>
            <a:chExt cx="3733800" cy="1362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6025" y="971550"/>
              <a:ext cx="3590925" cy="9620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3175" y="571500"/>
              <a:ext cx="3676650" cy="50482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038350" y="2257425"/>
            <a:ext cx="4640580" cy="2447925"/>
            <a:chOff x="2038350" y="2009775"/>
            <a:chExt cx="4640580" cy="24479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8350" y="2009775"/>
              <a:ext cx="4410075" cy="24479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86551" y="3729037"/>
              <a:ext cx="485775" cy="238125"/>
            </a:xfrm>
            <a:custGeom>
              <a:avLst/>
              <a:gdLst/>
              <a:ahLst/>
              <a:cxnLst/>
              <a:rect l="l" t="t" r="r" b="b"/>
              <a:pathLst>
                <a:path w="485775" h="238125">
                  <a:moveTo>
                    <a:pt x="485775" y="0"/>
                  </a:moveTo>
                  <a:lnTo>
                    <a:pt x="0" y="0"/>
                  </a:lnTo>
                  <a:lnTo>
                    <a:pt x="0" y="238125"/>
                  </a:lnTo>
                  <a:lnTo>
                    <a:pt x="485775" y="238125"/>
                  </a:lnTo>
                  <a:lnTo>
                    <a:pt x="485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86551" y="3729037"/>
              <a:ext cx="485775" cy="238125"/>
            </a:xfrm>
            <a:custGeom>
              <a:avLst/>
              <a:gdLst/>
              <a:ahLst/>
              <a:cxnLst/>
              <a:rect l="l" t="t" r="r" b="b"/>
              <a:pathLst>
                <a:path w="485775" h="238125">
                  <a:moveTo>
                    <a:pt x="0" y="238125"/>
                  </a:moveTo>
                  <a:lnTo>
                    <a:pt x="485775" y="238125"/>
                  </a:lnTo>
                  <a:lnTo>
                    <a:pt x="485775" y="0"/>
                  </a:lnTo>
                  <a:lnTo>
                    <a:pt x="0" y="0"/>
                  </a:lnTo>
                  <a:lnTo>
                    <a:pt x="0" y="2381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3" name="panel 50">
            <a:extLst>
              <a:ext uri="{FF2B5EF4-FFF2-40B4-BE49-F238E27FC236}">
                <a16:creationId xmlns:a16="http://schemas.microsoft.com/office/drawing/2014/main" id="{FD8305EB-6985-4DBA-AAD1-42FE4E9AD4E3}"/>
              </a:ext>
            </a:extLst>
          </p:cNvPr>
          <p:cNvSpPr/>
          <p:nvPr/>
        </p:nvSpPr>
        <p:spPr>
          <a:xfrm>
            <a:off x="6720840" y="685800"/>
            <a:ext cx="2111375" cy="1323975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explainer 51">
            <a:extLst>
              <a:ext uri="{FF2B5EF4-FFF2-40B4-BE49-F238E27FC236}">
                <a16:creationId xmlns:a16="http://schemas.microsoft.com/office/drawing/2014/main" id="{8A0DF9B8-C646-448B-A1A6-870D64B1DCB3}"/>
              </a:ext>
            </a:extLst>
          </p:cNvPr>
          <p:cNvSpPr txBox="1"/>
          <p:nvPr/>
        </p:nvSpPr>
        <p:spPr>
          <a:xfrm>
            <a:off x="6876288" y="822960"/>
            <a:ext cx="1932213" cy="1508760"/>
          </a:xfrm>
          <a:prstGeom prst="rect">
            <a:avLst/>
          </a:prstGeom>
        </p:spPr>
        <p:txBody>
          <a:bodyPr vert="horz" wrap="square" lIns="0" tIns="0" rIns="0" bIns="0" anchor="t"/>
          <a:lstStyle/>
          <a:p>
            <a:pPr marL="0" indent="0" algn="l">
              <a:lnSpc>
                <a:spcPct val="106000"/>
              </a:lnSpc>
            </a:pPr>
            <a:r>
              <a:rPr sz="1250" b="1" dirty="0">
                <a:solidFill>
                  <a:srgbClr val="FF8B00"/>
                </a:solidFill>
                <a:latin typeface="Arial"/>
                <a:cs typeface="Arial"/>
              </a:rPr>
              <a:t>The core idea:  </a:t>
            </a:r>
            <a:r>
              <a:rPr sz="1150" dirty="0">
                <a:solidFill>
                  <a:srgbClr val="2B2B2B"/>
                </a:solidFill>
                <a:latin typeface="Arial"/>
                <a:cs typeface="Arial"/>
              </a:rPr>
              <a:t>bulk gives one averaged profile; single cell resolves the distribution, so distinct cell types and states stay visible instead of being averaged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02B2-D67D-4912-9BE1-16163A36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67" y="115252"/>
            <a:ext cx="7730490" cy="238527"/>
          </a:xfrm>
        </p:spPr>
        <p:txBody>
          <a:bodyPr/>
          <a:lstStyle/>
          <a:p>
            <a:r>
              <a:rPr lang="en-GB" dirty="0"/>
              <a:t>Limitations of short 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3F69B-8C73-4B10-9329-661B2DBA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6719"/>
            <a:ext cx="7772400" cy="39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2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7147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Long</a:t>
            </a:r>
            <a:r>
              <a:rPr sz="1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Read single</a:t>
            </a:r>
            <a:r>
              <a:rPr sz="155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1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Transcriptomics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123950"/>
            <a:ext cx="8248650" cy="26765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41973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sz="15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reads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assigned</a:t>
            </a:r>
            <a:r>
              <a:rPr sz="15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5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sz="15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424" y="1047750"/>
            <a:ext cx="8865379" cy="3352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1651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Cell?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8189BF-31BB-4192-8574-841E1CC23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58" y="590550"/>
            <a:ext cx="5955942" cy="340641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BEDC74A-98B8-461E-B875-4C56BDED103E}"/>
              </a:ext>
            </a:extLst>
          </p:cNvPr>
          <p:cNvSpPr/>
          <p:nvPr/>
        </p:nvSpPr>
        <p:spPr>
          <a:xfrm>
            <a:off x="3969542" y="4488418"/>
            <a:ext cx="3922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00" b="1" i="0" u="none" strike="noStrike" baseline="0" dirty="0">
                <a:latin typeface="Arial" panose="020B0604020202020204" pitchFamily="34" charset="0"/>
              </a:rPr>
              <a:t>60,037 Cells × 220,116 Transcripts</a:t>
            </a:r>
            <a:endParaRPr lang="en-GB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2C6F1E7-FC14-412F-831E-48C8E22E40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5200" y="2083082"/>
            <a:ext cx="4988100" cy="2481536"/>
          </a:xfrm>
          <a:prstGeom prst="rect">
            <a:avLst/>
          </a:prstGeom>
        </p:spPr>
      </p:pic>
      <p:pic>
        <p:nvPicPr>
          <p:cNvPr id="25" name="object 2">
            <a:extLst>
              <a:ext uri="{FF2B5EF4-FFF2-40B4-BE49-F238E27FC236}">
                <a16:creationId xmlns:a16="http://schemas.microsoft.com/office/drawing/2014/main" id="{E1E25A10-0311-4A50-9AB8-84B1B6CC4D3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86400" y="578882"/>
            <a:ext cx="3511395" cy="1326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9" name="header title"/>
          <p:cNvSpPr txBox="1"/>
          <p:nvPr/>
        </p:nvSpPr>
        <p:spPr>
          <a:xfrm>
            <a:off x="273367" y="115252"/>
            <a:ext cx="7730490" cy="266065"/>
          </a:xfrm>
          <a:prstGeom prst="rect">
            <a:avLst/>
          </a:prstGeom>
        </p:spPr>
        <p:txBody>
          <a:bodyPr vert="horz" wrap="square" lIns="0" tIns="15875" rIns="0" bIns="0" rtlCol="0"/>
          <a:lstStyle/>
          <a:p>
            <a:pPr marL="12700">
              <a:lnSpc>
                <a:spcPct val="100000"/>
              </a:lnSpc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The challenges of Single Cell Long Reads</a:t>
            </a:r>
          </a:p>
        </p:txBody>
      </p:sp>
      <p:sp>
        <p:nvSpPr>
          <p:cNvPr id="31" name="gcard 1"/>
          <p:cNvSpPr/>
          <p:nvPr/>
        </p:nvSpPr>
        <p:spPr>
          <a:xfrm>
            <a:off x="411480" y="713232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chip 1"/>
          <p:cNvSpPr/>
          <p:nvPr/>
        </p:nvSpPr>
        <p:spPr>
          <a:xfrm>
            <a:off x="612648" y="914400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2" name="gtitle 1"/>
          <p:cNvSpPr txBox="1"/>
          <p:nvPr/>
        </p:nvSpPr>
        <p:spPr>
          <a:xfrm>
            <a:off x="1124712" y="896112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Cost &amp; throughput</a:t>
            </a:r>
          </a:p>
        </p:txBody>
      </p:sp>
      <p:sp>
        <p:nvSpPr>
          <p:cNvPr id="33" name="gbody 1"/>
          <p:cNvSpPr txBox="1"/>
          <p:nvPr/>
        </p:nvSpPr>
        <p:spPr>
          <a:xfrm>
            <a:off x="612648" y="1408176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High per-cell sequencing cost and lower throughput vs. short-read platforms.</a:t>
            </a:r>
          </a:p>
        </p:txBody>
      </p:sp>
      <p:sp>
        <p:nvSpPr>
          <p:cNvPr id="36" name="gcard 2"/>
          <p:cNvSpPr/>
          <p:nvPr/>
        </p:nvSpPr>
        <p:spPr>
          <a:xfrm>
            <a:off x="4700016" y="713232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chip 2"/>
          <p:cNvSpPr/>
          <p:nvPr/>
        </p:nvSpPr>
        <p:spPr>
          <a:xfrm>
            <a:off x="4901184" y="914400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7" name="gtitle 2"/>
          <p:cNvSpPr txBox="1"/>
          <p:nvPr/>
        </p:nvSpPr>
        <p:spPr>
          <a:xfrm>
            <a:off x="5413248" y="896112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Higher error rates</a:t>
            </a:r>
          </a:p>
        </p:txBody>
      </p:sp>
      <p:sp>
        <p:nvSpPr>
          <p:cNvPr id="38" name="gbody 2"/>
          <p:cNvSpPr txBox="1"/>
          <p:nvPr/>
        </p:nvSpPr>
        <p:spPr>
          <a:xfrm>
            <a:off x="4901184" y="1408176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Higher raw read error rates complicate accurate isoform identification.</a:t>
            </a:r>
          </a:p>
        </p:txBody>
      </p:sp>
      <p:sp>
        <p:nvSpPr>
          <p:cNvPr id="41" name="gcard 3"/>
          <p:cNvSpPr/>
          <p:nvPr/>
        </p:nvSpPr>
        <p:spPr>
          <a:xfrm>
            <a:off x="411480" y="1999488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chip 3"/>
          <p:cNvSpPr/>
          <p:nvPr/>
        </p:nvSpPr>
        <p:spPr>
          <a:xfrm>
            <a:off x="612648" y="2200656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2" name="gtitle 3"/>
          <p:cNvSpPr txBox="1"/>
          <p:nvPr/>
        </p:nvSpPr>
        <p:spPr>
          <a:xfrm>
            <a:off x="1124712" y="2182368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Sparse coverage</a:t>
            </a:r>
          </a:p>
        </p:txBody>
      </p:sp>
      <p:sp>
        <p:nvSpPr>
          <p:cNvPr id="43" name="gbody 3"/>
          <p:cNvSpPr txBox="1"/>
          <p:nvPr/>
        </p:nvSpPr>
        <p:spPr>
          <a:xfrm>
            <a:off x="612648" y="2694432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Limited detection of low-abundance transcripts; short-read gene-level single cell is already sparse.</a:t>
            </a:r>
          </a:p>
        </p:txBody>
      </p:sp>
      <p:sp>
        <p:nvSpPr>
          <p:cNvPr id="46" name="gcard 4"/>
          <p:cNvSpPr/>
          <p:nvPr/>
        </p:nvSpPr>
        <p:spPr>
          <a:xfrm>
            <a:off x="4700016" y="1999488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chip 4"/>
          <p:cNvSpPr/>
          <p:nvPr/>
        </p:nvSpPr>
        <p:spPr>
          <a:xfrm>
            <a:off x="4901184" y="2200656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7" name="gtitle 4"/>
          <p:cNvSpPr txBox="1"/>
          <p:nvPr/>
        </p:nvSpPr>
        <p:spPr>
          <a:xfrm>
            <a:off x="5413248" y="2182368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Barcode / UMI</a:t>
            </a:r>
          </a:p>
        </p:txBody>
      </p:sp>
      <p:sp>
        <p:nvSpPr>
          <p:cNvPr id="48" name="gbody 4"/>
          <p:cNvSpPr txBox="1"/>
          <p:nvPr/>
        </p:nvSpPr>
        <p:spPr>
          <a:xfrm>
            <a:off x="4901184" y="2694432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Barcode and UMI assignment inefficiencies, plus cDNA length biases.</a:t>
            </a:r>
          </a:p>
        </p:txBody>
      </p:sp>
      <p:sp>
        <p:nvSpPr>
          <p:cNvPr id="51" name="gcard 5"/>
          <p:cNvSpPr/>
          <p:nvPr/>
        </p:nvSpPr>
        <p:spPr>
          <a:xfrm>
            <a:off x="411480" y="3285744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chip 5"/>
          <p:cNvSpPr/>
          <p:nvPr/>
        </p:nvSpPr>
        <p:spPr>
          <a:xfrm>
            <a:off x="612648" y="3486912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52" name="gtitle 5"/>
          <p:cNvSpPr txBox="1"/>
          <p:nvPr/>
        </p:nvSpPr>
        <p:spPr>
          <a:xfrm>
            <a:off x="1124712" y="3468624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Compute &amp; storage</a:t>
            </a:r>
          </a:p>
        </p:txBody>
      </p:sp>
      <p:sp>
        <p:nvSpPr>
          <p:cNvPr id="53" name="gbody 5"/>
          <p:cNvSpPr txBox="1"/>
          <p:nvPr/>
        </p:nvSpPr>
        <p:spPr>
          <a:xfrm>
            <a:off x="612648" y="3980688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Demanding compute and storage requirements for long-read datasets.</a:t>
            </a:r>
          </a:p>
        </p:txBody>
      </p:sp>
      <p:sp>
        <p:nvSpPr>
          <p:cNvPr id="56" name="gcard 6"/>
          <p:cNvSpPr/>
          <p:nvPr/>
        </p:nvSpPr>
        <p:spPr>
          <a:xfrm>
            <a:off x="4700016" y="3285744"/>
            <a:ext cx="4032504" cy="1085088"/>
          </a:xfrm>
          <a:prstGeom prst="roundRect">
            <a:avLst>
              <a:gd name="adj" fmla="val 7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18000" dir="5400000" rotWithShape="0">
              <a:srgbClr val="0046AB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chip 6"/>
          <p:cNvSpPr/>
          <p:nvPr/>
        </p:nvSpPr>
        <p:spPr>
          <a:xfrm>
            <a:off x="4901184" y="3486912"/>
            <a:ext cx="384048" cy="384048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lIns="0" tIns="0" rIns="0" bIns="0" anchor="ctr" anchorCtr="1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7" name="gtitle 6"/>
          <p:cNvSpPr txBox="1"/>
          <p:nvPr/>
        </p:nvSpPr>
        <p:spPr>
          <a:xfrm>
            <a:off x="5413248" y="3468624"/>
            <a:ext cx="3118104" cy="420624"/>
          </a:xfrm>
          <a:prstGeom prst="rect">
            <a:avLst/>
          </a:prstGeom>
        </p:spPr>
        <p:txBody>
          <a:bodyPr lIns="0" tIns="0" rIns="0" bIns="0" anchor="ctr"/>
          <a:lstStyle/>
          <a:p>
            <a:pPr marL="0" indent="0">
              <a:lnSpc>
                <a:spcPct val="100000"/>
              </a:lnSpc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Immature tooling</a:t>
            </a:r>
          </a:p>
        </p:txBody>
      </p:sp>
      <p:sp>
        <p:nvSpPr>
          <p:cNvPr id="58" name="gbody 6"/>
          <p:cNvSpPr txBox="1"/>
          <p:nvPr/>
        </p:nvSpPr>
        <p:spPr>
          <a:xfrm>
            <a:off x="4901184" y="3980688"/>
            <a:ext cx="3630168" cy="188976"/>
          </a:xfrm>
          <a:prstGeom prst="rect">
            <a:avLst/>
          </a:prstGeom>
        </p:spPr>
        <p:txBody>
          <a:bodyPr lIns="0" tIns="0" rIns="0" bIns="0" anchor="t"/>
          <a:lstStyle/>
          <a:p>
            <a:pPr marL="0" indent="0">
              <a:lnSpc>
                <a:spcPct val="102000"/>
              </a:lnSpc>
            </a:pPr>
            <a:r>
              <a:rPr sz="1250" dirty="0">
                <a:solidFill>
                  <a:srgbClr val="2B2B2B"/>
                </a:solidFill>
                <a:latin typeface="Arial"/>
                <a:cs typeface="Arial"/>
              </a:rPr>
              <a:t>Limited mature analysis tools for downstream isoform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26885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5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5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spatial</a:t>
            </a:r>
            <a:r>
              <a:rPr sz="15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context?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4A85474-5BC4-453F-A5EE-2E25CFFA955F}"/>
              </a:ext>
            </a:extLst>
          </p:cNvPr>
          <p:cNvSpPr/>
          <p:nvPr/>
        </p:nvSpPr>
        <p:spPr>
          <a:xfrm>
            <a:off x="285750" y="826840"/>
            <a:ext cx="8643938" cy="22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463" dirty="0"/>
          </a:p>
        </p:txBody>
      </p:sp>
      <p:pic>
        <p:nvPicPr>
          <p:cNvPr id="8" name="New picture">
            <a:extLst>
              <a:ext uri="{FF2B5EF4-FFF2-40B4-BE49-F238E27FC236}">
                <a16:creationId xmlns:a16="http://schemas.microsoft.com/office/drawing/2014/main" id="{93EAD7C7-B807-4B4F-9859-5AFD5FC095C3}"/>
              </a:ext>
            </a:extLst>
          </p:cNvPr>
          <p:cNvPicPr/>
          <p:nvPr/>
        </p:nvPicPr>
        <p:blipFill rotWithShape="1">
          <a:blip r:embed="rId2"/>
          <a:srcRect l="2" r="97" b="53983"/>
          <a:stretch/>
        </p:blipFill>
        <p:spPr>
          <a:xfrm>
            <a:off x="598113" y="930810"/>
            <a:ext cx="4897949" cy="1640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8DA8A7-82F9-4DEC-B44A-4A6472808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90"/>
          <a:stretch/>
        </p:blipFill>
        <p:spPr>
          <a:xfrm>
            <a:off x="598113" y="2882513"/>
            <a:ext cx="4628563" cy="156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82928A-570C-418E-999A-F11A320AF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459" y="2882513"/>
            <a:ext cx="2388328" cy="1880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AB889E-3DB9-4D25-827D-9906B0264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410" y="930810"/>
            <a:ext cx="2236234" cy="16409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6858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Isoform diversity is more than splicing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603504"/>
            <a:ext cx="8595359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46AB"/>
                </a:solidFill>
                <a:latin typeface="Arial"/>
              </a:rPr>
              <a:t>Splicing is just one of several mechanisms that let a single gene produce </a:t>
            </a:r>
            <a:r>
              <a:rPr lang="en-GB" sz="1200" b="1" dirty="0">
                <a:solidFill>
                  <a:srgbClr val="0046AB"/>
                </a:solidFill>
                <a:latin typeface="Arial"/>
              </a:rPr>
              <a:t>diverse final mRNA products</a:t>
            </a:r>
            <a:endParaRPr sz="1200" b="1" i="0" dirty="0">
              <a:solidFill>
                <a:srgbClr val="0046AB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78992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Alternative splicing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Exon skipping, intron retention, alternative 5′/3′ sites, mutually exclusive exons.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0879" y="1078992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Alternative TSS / promoter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Different start sites change the 5′ end and are often coupled to downstream splicing.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439" y="1078992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Alternative polyadenylation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&gt;Half of human genes; 3′UTR length tunes mRNA stability and localisation.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32304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E4F4F1"/>
          </a:solidFill>
          <a:ln w="15240">
            <a:solidFill>
              <a:srgbClr val="12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28C7A"/>
                </a:solidFill>
                <a:latin typeface="Arial"/>
              </a:rPr>
              <a:t>A-to-I RNA editing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ADAR recodes bases and can create or remove splice sites.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0879" y="2432304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E4F4F1"/>
          </a:solidFill>
          <a:ln w="15240">
            <a:solidFill>
              <a:srgbClr val="128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28C7A"/>
                </a:solidFill>
                <a:latin typeface="Arial"/>
              </a:rPr>
              <a:t>m6A &amp; RNA modifications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Marks shape splicing, export, stability and translation.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439" y="2432304"/>
            <a:ext cx="2682240" cy="1280160"/>
          </a:xfrm>
          <a:prstGeom prst="roundRect">
            <a:avLst>
              <a:gd name="adj" fmla="val 7000"/>
            </a:avLst>
          </a:prstGeom>
          <a:solidFill>
            <a:srgbClr val="FCEFDF"/>
          </a:solidFill>
          <a:ln w="1651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8821E"/>
                </a:solidFill>
                <a:latin typeface="Arial"/>
              </a:rPr>
              <a:t>Fusions &amp; readthrough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Chimeric transcripts spanning genes; frequent in cancer.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895344"/>
            <a:ext cx="8595359" cy="56692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46AB"/>
                </a:solidFill>
                <a:latin typeface="Arial"/>
              </a:rPr>
              <a:t>Long reads capture these events co-occurring on the same molecule; short-read 3′/5′ capture sees only one end.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promise</a:t>
            </a:r>
            <a:r>
              <a:rPr spc="6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single</a:t>
            </a:r>
            <a:r>
              <a:rPr spc="65" dirty="0"/>
              <a:t> </a:t>
            </a:r>
            <a:r>
              <a:rPr dirty="0"/>
              <a:t>cell</a:t>
            </a:r>
            <a:r>
              <a:rPr spc="50" dirty="0"/>
              <a:t> </a:t>
            </a:r>
            <a:r>
              <a:rPr dirty="0"/>
              <a:t>long</a:t>
            </a:r>
            <a:r>
              <a:rPr spc="50" dirty="0"/>
              <a:t> </a:t>
            </a:r>
            <a:r>
              <a:rPr spc="-10" dirty="0"/>
              <a:t>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9745" y="628332"/>
            <a:ext cx="23495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Allele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Specific</a:t>
            </a:r>
            <a:r>
              <a:rPr sz="1500" b="1" spc="-6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Expression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876300"/>
            <a:ext cx="2514600" cy="18097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34732" y="628332"/>
            <a:ext cx="22942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Full</a:t>
            </a:r>
            <a:r>
              <a:rPr sz="1500" b="1" spc="-10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Gene</a:t>
            </a:r>
            <a:r>
              <a:rPr sz="1500" b="1" spc="-8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Body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Coverage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009650"/>
            <a:ext cx="4162425" cy="1676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43330" y="2791142"/>
            <a:ext cx="16319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</a:t>
            </a:r>
            <a:r>
              <a:rPr sz="1500" b="1" spc="-7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46AB"/>
                </a:solidFill>
                <a:latin typeface="Arial"/>
                <a:cs typeface="Arial"/>
              </a:rPr>
              <a:t>-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&gt;</a:t>
            </a:r>
            <a:r>
              <a:rPr sz="1500" b="1" spc="-1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I </a:t>
            </a:r>
            <a:r>
              <a:rPr sz="1500" b="1" spc="-40" dirty="0">
                <a:solidFill>
                  <a:srgbClr val="0046AB"/>
                </a:solidFill>
                <a:latin typeface="Arial"/>
                <a:cs typeface="Arial"/>
              </a:rPr>
              <a:t>RNA-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Editing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79745" y="2859023"/>
            <a:ext cx="2225040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And</a:t>
            </a:r>
            <a:r>
              <a:rPr sz="1500" b="1" spc="-8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more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–</a:t>
            </a:r>
            <a:r>
              <a:rPr sz="1500" b="1" spc="-10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All</a:t>
            </a:r>
            <a:r>
              <a:rPr sz="1500" b="1" spc="-4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at</a:t>
            </a:r>
            <a:r>
              <a:rPr sz="1500" b="1" spc="-4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0046AB"/>
                </a:solidFill>
                <a:latin typeface="Arial"/>
                <a:cs typeface="Arial"/>
              </a:rPr>
              <a:t>once*</a:t>
            </a:r>
            <a:r>
              <a:rPr sz="1500" b="1" spc="-5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!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350" y="3171825"/>
            <a:ext cx="3276600" cy="12382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98462" y="2960751"/>
            <a:ext cx="355600" cy="241300"/>
            <a:chOff x="398462" y="2960751"/>
            <a:chExt cx="355600" cy="241300"/>
          </a:xfrm>
        </p:grpSpPr>
        <p:sp>
          <p:nvSpPr>
            <p:cNvPr id="12" name="object 12"/>
            <p:cNvSpPr/>
            <p:nvPr/>
          </p:nvSpPr>
          <p:spPr>
            <a:xfrm>
              <a:off x="404812" y="2967101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342900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342900" y="2286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4812" y="2967101"/>
              <a:ext cx="342900" cy="228600"/>
            </a:xfrm>
            <a:custGeom>
              <a:avLst/>
              <a:gdLst/>
              <a:ahLst/>
              <a:cxnLst/>
              <a:rect l="l" t="t" r="r" b="b"/>
              <a:pathLst>
                <a:path w="342900" h="228600">
                  <a:moveTo>
                    <a:pt x="0" y="228600"/>
                  </a:moveTo>
                  <a:lnTo>
                    <a:pt x="342900" y="228600"/>
                  </a:lnTo>
                  <a:lnTo>
                    <a:pt x="3429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88975" y="4443095"/>
            <a:ext cx="31375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Individual</a:t>
            </a:r>
            <a:r>
              <a:rPr sz="1100" i="1" u="sng" spc="-35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10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A-to-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I</a:t>
            </a:r>
            <a:r>
              <a:rPr sz="1100" i="1" u="sng" spc="-20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editing</a:t>
            </a:r>
            <a:r>
              <a:rPr sz="1100" i="1" u="sng" spc="-30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site</a:t>
            </a:r>
            <a:r>
              <a:rPr sz="1100" i="1" u="sng" spc="-35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editing</a:t>
            </a:r>
            <a:r>
              <a:rPr sz="1100" i="1" u="sng" spc="45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ratio</a:t>
            </a:r>
            <a:r>
              <a:rPr sz="1100" i="1" u="sng" spc="-30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per</a:t>
            </a:r>
            <a:r>
              <a:rPr sz="1100" i="1" u="sng" spc="-10" dirty="0">
                <a:solidFill>
                  <a:srgbClr val="0084A9"/>
                </a:solidFill>
                <a:uFill>
                  <a:solidFill>
                    <a:srgbClr val="0084A9"/>
                  </a:solidFill>
                </a:uFill>
                <a:latin typeface="Arial"/>
                <a:cs typeface="Arial"/>
              </a:rPr>
              <a:t> region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4400" y="3171825"/>
            <a:ext cx="4029075" cy="140017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14122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Question</a:t>
            </a:r>
            <a:r>
              <a:rPr sz="1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1" name="card 21"/>
          <p:cNvSpPr/>
          <p:nvPr/>
        </p:nvSpPr>
        <p:spPr>
          <a:xfrm>
            <a:off x="502920" y="1078992"/>
            <a:ext cx="8138160" cy="15453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20000" dir="5400000" rotWithShape="0">
              <a:srgbClr val="0046A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badge 1"/>
          <p:cNvSpPr/>
          <p:nvPr/>
        </p:nvSpPr>
        <p:spPr>
          <a:xfrm>
            <a:off x="777240" y="1463040"/>
            <a:ext cx="777240" cy="777240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vert="horz" wrap="square"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3" name="cardtext 23"/>
          <p:cNvSpPr txBox="1"/>
          <p:nvPr/>
        </p:nvSpPr>
        <p:spPr>
          <a:xfrm>
            <a:off x="1828800" y="1170432"/>
            <a:ext cx="6537960" cy="1362456"/>
          </a:xfrm>
          <a:prstGeom prst="rect">
            <a:avLst/>
          </a:prstGeom>
        </p:spPr>
        <p:txBody>
          <a:bodyPr vert="horz" wrap="square" lIns="0" tIns="0" rIns="0" bIns="0" anchor="ctr"/>
          <a:lstStyle/>
          <a:p>
            <a:pPr marL="0" indent="0">
              <a:lnSpc>
                <a:spcPct val="104000"/>
              </a:lnSpc>
            </a:pPr>
            <a:r>
              <a:rPr sz="1800" dirty="0">
                <a:solidFill>
                  <a:srgbClr val="2B2B2B"/>
                </a:solidFill>
                <a:latin typeface="Arial"/>
                <a:cs typeface="Arial"/>
              </a:rPr>
              <a:t>What does single cell offer over bulk transcriptomic approaches?</a:t>
            </a:r>
          </a:p>
        </p:txBody>
      </p:sp>
      <p:sp>
        <p:nvSpPr>
          <p:cNvPr id="24" name="card 24"/>
          <p:cNvSpPr/>
          <p:nvPr/>
        </p:nvSpPr>
        <p:spPr>
          <a:xfrm>
            <a:off x="502920" y="2825496"/>
            <a:ext cx="8138160" cy="15453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20000" dir="5400000" rotWithShape="0">
              <a:srgbClr val="0046A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badge 2"/>
          <p:cNvSpPr/>
          <p:nvPr/>
        </p:nvSpPr>
        <p:spPr>
          <a:xfrm>
            <a:off x="777240" y="3209544"/>
            <a:ext cx="777240" cy="777240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vert="horz" wrap="square"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6" name="cardtext 26"/>
          <p:cNvSpPr txBox="1"/>
          <p:nvPr/>
        </p:nvSpPr>
        <p:spPr>
          <a:xfrm>
            <a:off x="1828800" y="2916936"/>
            <a:ext cx="6537960" cy="1362456"/>
          </a:xfrm>
          <a:prstGeom prst="rect">
            <a:avLst/>
          </a:prstGeom>
        </p:spPr>
        <p:txBody>
          <a:bodyPr vert="horz" wrap="square" lIns="0" tIns="0" rIns="0" bIns="0" anchor="ctr"/>
          <a:lstStyle/>
          <a:p>
            <a:pPr marL="0" indent="0">
              <a:lnSpc>
                <a:spcPct val="104000"/>
              </a:lnSpc>
            </a:pPr>
            <a:r>
              <a:rPr sz="1800" dirty="0">
                <a:solidFill>
                  <a:srgbClr val="2B2B2B"/>
                </a:solidFill>
                <a:latin typeface="Arial"/>
                <a:cs typeface="Arial"/>
              </a:rPr>
              <a:t>What are the challenges of long read single cell approaches?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FF8B00"/>
                </a:solidFill>
              </a:rPr>
              <a:t>Section</a:t>
            </a:r>
            <a:r>
              <a:rPr sz="2400" spc="-155" dirty="0">
                <a:solidFill>
                  <a:srgbClr val="FF8B00"/>
                </a:solidFill>
              </a:rPr>
              <a:t> </a:t>
            </a:r>
            <a:r>
              <a:rPr sz="2400" spc="-50" dirty="0">
                <a:solidFill>
                  <a:srgbClr val="FF8B00"/>
                </a:solidFill>
              </a:rPr>
              <a:t>4</a:t>
            </a:r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122676" y="2248788"/>
            <a:ext cx="297751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b="1" spc="-20" dirty="0">
                <a:solidFill>
                  <a:srgbClr val="FFFFFF"/>
                </a:solidFill>
                <a:latin typeface="Arial"/>
                <a:cs typeface="Arial"/>
              </a:rPr>
              <a:t>Tertiary</a:t>
            </a:r>
            <a:r>
              <a:rPr sz="29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b="1" spc="-1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43375" y="2981325"/>
            <a:ext cx="857250" cy="28575"/>
          </a:xfrm>
          <a:custGeom>
            <a:avLst/>
            <a:gdLst/>
            <a:ahLst/>
            <a:cxnLst/>
            <a:rect l="l" t="t" r="r" b="b"/>
            <a:pathLst>
              <a:path w="857250" h="28575">
                <a:moveTo>
                  <a:pt x="857250" y="0"/>
                </a:moveTo>
                <a:lnTo>
                  <a:pt x="0" y="0"/>
                </a:lnTo>
                <a:lnTo>
                  <a:pt x="0" y="28575"/>
                </a:lnTo>
                <a:lnTo>
                  <a:pt x="857250" y="28575"/>
                </a:lnTo>
                <a:lnTo>
                  <a:pt x="857250" y="0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0"/>
            <a:ext cx="7315200" cy="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err="1"/>
              <a:t>Libr</a:t>
            </a:r>
            <a:r>
              <a:rPr lang="en-GB" dirty="0"/>
              <a:t>a</a:t>
            </a:r>
            <a:r>
              <a:rPr dirty="0" err="1"/>
              <a:t>ry</a:t>
            </a:r>
            <a:r>
              <a:rPr dirty="0"/>
              <a:t> curation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11" name="Rounded Rectangle 10"/>
          <p:cNvSpPr/>
          <p:nvPr/>
        </p:nvSpPr>
        <p:spPr>
          <a:xfrm>
            <a:off x="274320" y="603504"/>
            <a:ext cx="8595359" cy="420624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0046AB"/>
                </a:solidFill>
                <a:latin typeface="Arial"/>
              </a:rPr>
              <a:t>Curate the cDNA library so long-read depth is spent on real, full-length, informative molecules.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20700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46AB"/>
                </a:solidFill>
                <a:latin typeface="Arial"/>
              </a:rPr>
              <a:t>Clean-up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Strip template-switch, primer-dimer and barcode-free reads that waste long-read throughput.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E7CD6"/>
                </a:solidFill>
                <a:latin typeface="Arial"/>
              </a:rPr>
              <a:t>bead / size clean-up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0879" y="120700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46AB"/>
                </a:solidFill>
                <a:latin typeface="Arial"/>
              </a:rPr>
              <a:t>Length selection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Remove truncated cDNA and short fragments; enrich longer, full-insert molecules.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E7CD6"/>
                </a:solidFill>
                <a:latin typeface="Arial"/>
              </a:rPr>
              <a:t>SPRI · BluePippin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439" y="120700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 dirty="0">
                <a:solidFill>
                  <a:srgbClr val="0046AB"/>
                </a:solidFill>
                <a:latin typeface="Arial"/>
              </a:rPr>
              <a:t>Full-length selection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222B38"/>
                </a:solidFill>
                <a:latin typeface="Arial"/>
              </a:rPr>
              <a:t>5′ cap + poly-A capture so reads span true 5′-to-3′ transcript ends.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850" i="1" dirty="0">
                <a:solidFill>
                  <a:srgbClr val="2E7CD6"/>
                </a:solidFill>
                <a:latin typeface="Arial"/>
              </a:rPr>
              <a:t>5’ vs 3’ kits, Existing full transcript selection protocols, various long read single cell protocols</a:t>
            </a:r>
            <a:endParaRPr sz="850" b="0" i="1" dirty="0">
              <a:solidFill>
                <a:srgbClr val="2E7CD6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74320" y="294436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CEFDF"/>
          </a:solidFill>
          <a:ln w="2032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21E"/>
                </a:solidFill>
                <a:latin typeface="Arial"/>
              </a:rPr>
              <a:t>Exon enrichment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Single-nucleus libraries are intron- and nascent-rich; enrich mature, exonic transcripts for cleaner isoform calls.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E8821E"/>
                </a:solidFill>
                <a:latin typeface="Arial"/>
              </a:rPr>
              <a:t>especially for snRNA-seq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0879" y="294436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46AB"/>
                </a:solidFill>
                <a:latin typeface="Arial"/>
              </a:rPr>
              <a:t>Target enrichment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Hybridisation panel capture focuses depth on chosen genes for deep isoform coverage.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E7CD6"/>
                </a:solidFill>
                <a:latin typeface="Arial"/>
              </a:rPr>
              <a:t>scTaILoR-seq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439" y="2944368"/>
            <a:ext cx="2682240" cy="14630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0046AB"/>
                </a:solidFill>
                <a:latin typeface="Arial"/>
              </a:rPr>
              <a:t>Throughput boost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Concatenate multiple cDNAs per read to multiply usable molecules per run.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2E7CD6"/>
                </a:solidFill>
                <a:latin typeface="Arial"/>
              </a:rPr>
              <a:t>MAS-seq · HIT-scISOseq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63093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The single-cell isoform analysis workflow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2" name="Rounded Rectangle 11"/>
          <p:cNvSpPr/>
          <p:nvPr/>
        </p:nvSpPr>
        <p:spPr>
          <a:xfrm>
            <a:off x="274320" y="640080"/>
            <a:ext cx="2286000" cy="420624"/>
          </a:xfrm>
          <a:prstGeom prst="roundRect">
            <a:avLst>
              <a:gd name="adj" fmla="val 12000"/>
            </a:avLst>
          </a:prstGeom>
          <a:solidFill>
            <a:srgbClr val="004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Cell × isoform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640080"/>
            <a:ext cx="27432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Arial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5" y="640080"/>
            <a:ext cx="1975104" cy="420624"/>
          </a:xfrm>
          <a:prstGeom prst="roundRect">
            <a:avLst>
              <a:gd name="adj" fmla="val 12000"/>
            </a:avLst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GTF annotation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94359"/>
            <a:ext cx="3840480" cy="53035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/>
            <a:r>
              <a:rPr sz="850" b="1" i="1" dirty="0">
                <a:solidFill>
                  <a:srgbClr val="6B7280"/>
                </a:solidFill>
                <a:latin typeface="Arial"/>
              </a:rPr>
              <a:t>Upstream (covered earlier):</a:t>
            </a:r>
          </a:p>
          <a:p>
            <a:pPr algn="l"/>
            <a:r>
              <a:rPr sz="850" b="0" i="1" dirty="0" err="1">
                <a:solidFill>
                  <a:srgbClr val="6B7280"/>
                </a:solidFill>
                <a:latin typeface="Arial"/>
              </a:rPr>
              <a:t>demux</a:t>
            </a:r>
            <a:r>
              <a:rPr sz="850" b="0" i="1" dirty="0">
                <a:solidFill>
                  <a:srgbClr val="6B7280"/>
                </a:solidFill>
                <a:latin typeface="Arial"/>
              </a:rPr>
              <a:t> · alignment · isoform ID &amp; quantification</a:t>
            </a:r>
          </a:p>
          <a:p>
            <a:pPr algn="l"/>
            <a:r>
              <a:rPr sz="850" b="0" i="1" dirty="0">
                <a:solidFill>
                  <a:srgbClr val="6B7280"/>
                </a:solidFill>
                <a:latin typeface="Arial"/>
              </a:rPr>
              <a:t>FLAMES · </a:t>
            </a:r>
            <a:r>
              <a:rPr sz="850" b="0" i="1" dirty="0" err="1">
                <a:solidFill>
                  <a:srgbClr val="6B7280"/>
                </a:solidFill>
                <a:latin typeface="Arial"/>
              </a:rPr>
              <a:t>sicelore</a:t>
            </a:r>
            <a:r>
              <a:rPr sz="850" b="0" i="1" dirty="0">
                <a:solidFill>
                  <a:srgbClr val="6B7280"/>
                </a:solidFill>
                <a:latin typeface="Arial"/>
              </a:rPr>
              <a:t> · </a:t>
            </a:r>
            <a:r>
              <a:rPr sz="850" b="0" i="1" dirty="0" err="1">
                <a:solidFill>
                  <a:srgbClr val="6B7280"/>
                </a:solidFill>
                <a:latin typeface="Arial"/>
              </a:rPr>
              <a:t>IsoQuant</a:t>
            </a:r>
            <a:r>
              <a:rPr lang="en-GB" sz="850" b="0" i="1" dirty="0">
                <a:solidFill>
                  <a:srgbClr val="6B7280"/>
                </a:solidFill>
                <a:latin typeface="Arial"/>
              </a:rPr>
              <a:t> – </a:t>
            </a:r>
            <a:r>
              <a:rPr lang="en-GB" sz="850" b="0" i="1" dirty="0" err="1">
                <a:solidFill>
                  <a:srgbClr val="6B7280"/>
                </a:solidFill>
                <a:latin typeface="Arial"/>
              </a:rPr>
              <a:t>IsoSeq</a:t>
            </a:r>
            <a:r>
              <a:rPr lang="en-GB" sz="850" b="0" i="1" dirty="0">
                <a:solidFill>
                  <a:srgbClr val="6B7280"/>
                </a:solidFill>
                <a:latin typeface="Arial"/>
              </a:rPr>
              <a:t> – </a:t>
            </a:r>
            <a:r>
              <a:rPr lang="en-GB" sz="850" b="0" i="1" dirty="0" err="1">
                <a:solidFill>
                  <a:srgbClr val="6B7280"/>
                </a:solidFill>
                <a:latin typeface="Arial"/>
              </a:rPr>
              <a:t>wf-SingleCell</a:t>
            </a:r>
            <a:endParaRPr sz="850" b="0" i="1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1234440" y="1060704"/>
            <a:ext cx="274320" cy="201168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4320" y="1298448"/>
            <a:ext cx="8595360" cy="128016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84048" y="1389888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04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1   Build the single-cell atlas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177393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222B38"/>
                </a:solidFill>
                <a:latin typeface="Arial"/>
              </a:rPr>
              <a:t>QC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(empties, doublets,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ambient RNA)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903095" y="2039112"/>
            <a:ext cx="201168" cy="18288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151126" y="177393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222B38"/>
                </a:solidFill>
                <a:latin typeface="Arial"/>
              </a:rPr>
              <a:t>Normalise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15309" y="2039112"/>
            <a:ext cx="201168" cy="18288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863340" y="177393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222B38"/>
                </a:solidFill>
                <a:latin typeface="Arial"/>
              </a:rPr>
              <a:t>Feature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selection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(HV genes/isoforms)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327523" y="2039112"/>
            <a:ext cx="201168" cy="18288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575554" y="177393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222B38"/>
                </a:solidFill>
                <a:latin typeface="Arial"/>
              </a:rPr>
              <a:t>Dimensionality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reduction +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clustering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039737" y="2039112"/>
            <a:ext cx="201168" cy="18288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87768" y="177393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950" b="1" i="0">
                <a:solidFill>
                  <a:srgbClr val="222B38"/>
                </a:solidFill>
                <a:latin typeface="Arial"/>
              </a:rPr>
              <a:t>Cell-type</a:t>
            </a:r>
          </a:p>
          <a:p>
            <a:pPr algn="ctr"/>
            <a:r>
              <a:rPr sz="800" b="0" i="0">
                <a:solidFill>
                  <a:srgbClr val="222B38"/>
                </a:solidFill>
                <a:latin typeface="Arial"/>
              </a:rPr>
              <a:t>annotation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77240" y="2578608"/>
            <a:ext cx="274320" cy="201168"/>
          </a:xfrm>
          <a:prstGeom prst="downArrow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4320" y="2743200"/>
            <a:ext cx="8595360" cy="1417320"/>
          </a:xfrm>
          <a:prstGeom prst="roundRect">
            <a:avLst>
              <a:gd name="adj" fmla="val 4000"/>
            </a:avLst>
          </a:prstGeom>
          <a:solidFill>
            <a:srgbClr val="FCEFDF"/>
          </a:solidFill>
          <a:ln w="1270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84048" y="283464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2   Resolve isoform biology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3236976"/>
            <a:ext cx="2468880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Pseudobulk</a:t>
            </a:r>
          </a:p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aggregation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985516" y="3529584"/>
            <a:ext cx="274320" cy="201168"/>
          </a:xfrm>
          <a:prstGeom prst="rightArrow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337560" y="3236976"/>
            <a:ext cx="2468880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Differential isoform</a:t>
            </a:r>
          </a:p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usage  (ΔPSI)</a:t>
            </a:r>
          </a:p>
          <a:p>
            <a:pPr algn="ctr"/>
            <a:r>
              <a:rPr sz="760" b="0" i="1">
                <a:solidFill>
                  <a:srgbClr val="E8821E"/>
                </a:solidFill>
                <a:latin typeface="Arial"/>
              </a:rPr>
              <a:t>Sierra · satuRn · DTUrtle ·</a:t>
            </a:r>
          </a:p>
          <a:p>
            <a:pPr algn="ctr"/>
            <a:r>
              <a:rPr sz="760" b="0" i="1">
                <a:solidFill>
                  <a:srgbClr val="E8821E"/>
                </a:solidFill>
                <a:latin typeface="Arial"/>
              </a:rPr>
              <a:t>IsoformSwitchAnalyzeR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884164" y="3529584"/>
            <a:ext cx="274320" cy="201168"/>
          </a:xfrm>
          <a:prstGeom prst="rightArrow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36208" y="3236976"/>
            <a:ext cx="2468880" cy="786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Isoform switching</a:t>
            </a:r>
          </a:p>
          <a:p>
            <a:pPr algn="ctr"/>
            <a:r>
              <a:rPr sz="1000" b="1" i="0">
                <a:solidFill>
                  <a:srgbClr val="222B38"/>
                </a:solidFill>
                <a:latin typeface="Arial"/>
              </a:rPr>
              <a:t>across trajectory</a:t>
            </a:r>
          </a:p>
          <a:p>
            <a:pPr algn="ctr"/>
            <a:r>
              <a:rPr sz="760" b="0" i="1">
                <a:solidFill>
                  <a:srgbClr val="E8821E"/>
                </a:solidFill>
                <a:latin typeface="Arial"/>
              </a:rPr>
              <a:t>along pseudotime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251959"/>
            <a:ext cx="85953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/>
            <a:r>
              <a:rPr sz="1050" b="1" i="1">
                <a:solidFill>
                  <a:srgbClr val="0046AB"/>
                </a:solidFill>
                <a:latin typeface="Arial"/>
              </a:rPr>
              <a:t>Gene-level steps build the map; isoform-level steps are where long reads pay off.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30" dirty="0"/>
              <a:t> </a:t>
            </a:r>
            <a:r>
              <a:rPr dirty="0"/>
              <a:t>do</a:t>
            </a:r>
            <a:r>
              <a:rPr spc="45" dirty="0"/>
              <a:t> </a:t>
            </a:r>
            <a:r>
              <a:rPr dirty="0"/>
              <a:t>we</a:t>
            </a:r>
            <a:r>
              <a:rPr spc="50" dirty="0"/>
              <a:t> </a:t>
            </a:r>
            <a:r>
              <a:rPr dirty="0"/>
              <a:t>need</a:t>
            </a:r>
            <a:r>
              <a:rPr spc="-3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dirty="0"/>
              <a:t>begin</a:t>
            </a:r>
            <a:r>
              <a:rPr spc="45" dirty="0"/>
              <a:t> </a:t>
            </a:r>
            <a:r>
              <a:rPr dirty="0"/>
              <a:t>tertiary</a:t>
            </a:r>
            <a:r>
              <a:rPr spc="50" dirty="0"/>
              <a:t> </a:t>
            </a:r>
            <a:r>
              <a:rPr dirty="0"/>
              <a:t>analysis</a:t>
            </a:r>
            <a:r>
              <a:rPr spc="5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Isoforms</a:t>
            </a:r>
            <a:r>
              <a:rPr spc="50" dirty="0"/>
              <a:t> </a:t>
            </a:r>
            <a:r>
              <a:rPr dirty="0"/>
              <a:t>at</a:t>
            </a:r>
            <a:r>
              <a:rPr spc="35" dirty="0"/>
              <a:t> </a:t>
            </a:r>
            <a:r>
              <a:rPr dirty="0"/>
              <a:t>Single</a:t>
            </a:r>
            <a:r>
              <a:rPr spc="-20" dirty="0"/>
              <a:t> </a:t>
            </a:r>
            <a:r>
              <a:rPr dirty="0"/>
              <a:t>Cell</a:t>
            </a:r>
            <a:r>
              <a:rPr spc="-35" dirty="0"/>
              <a:t> </a:t>
            </a:r>
            <a:r>
              <a:rPr spc="-10" dirty="0"/>
              <a:t>Resolution?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205" y="1462087"/>
            <a:ext cx="18834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Cell</a:t>
            </a:r>
            <a:r>
              <a:rPr sz="1500" b="1" spc="-3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46AB"/>
                </a:solidFill>
                <a:latin typeface="Arial"/>
                <a:cs typeface="Arial"/>
              </a:rPr>
              <a:t>X</a:t>
            </a:r>
            <a:r>
              <a:rPr sz="1500" b="1" spc="-85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Isoform</a:t>
            </a:r>
            <a:r>
              <a:rPr sz="1500" b="1" spc="-50" dirty="0">
                <a:solidFill>
                  <a:srgbClr val="0046AB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0046AB"/>
                </a:solidFill>
                <a:latin typeface="Arial"/>
                <a:cs typeface="Arial"/>
              </a:rPr>
              <a:t>Matrix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87490" y="1462087"/>
            <a:ext cx="10090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0046AB"/>
                </a:solidFill>
                <a:latin typeface="Arial"/>
                <a:cs typeface="Arial"/>
              </a:rPr>
              <a:t>Annotation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1704975"/>
            <a:ext cx="3000375" cy="2533650"/>
          </a:xfrm>
          <a:prstGeom prst="rect">
            <a:avLst/>
          </a:prstGeom>
        </p:spPr>
      </p:pic>
      <p:pic>
        <p:nvPicPr>
          <p:cNvPr id="5" name="object 5" descr="Gtf Изображения: просматривайте стоковые фотографии, векторные изображения  и видео в количестве 254 | Adobe Stock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3042" y="1872946"/>
            <a:ext cx="1829170" cy="2008111"/>
          </a:xfrm>
          <a:prstGeom prst="rect">
            <a:avLst/>
          </a:prstGeom>
        </p:spPr>
      </p:pic>
      <p:pic>
        <p:nvPicPr>
          <p:cNvPr id="6" name="object 6" descr="File, format, type, document, gff icon - Download on Iconfind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73749" y="1809750"/>
            <a:ext cx="2047875" cy="20478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10" name="explainer 50">
            <a:extLst>
              <a:ext uri="{FF2B5EF4-FFF2-40B4-BE49-F238E27FC236}">
                <a16:creationId xmlns:a16="http://schemas.microsoft.com/office/drawing/2014/main" id="{E234E332-C2C9-48F8-9575-047DC064286A}"/>
              </a:ext>
            </a:extLst>
          </p:cNvPr>
          <p:cNvSpPr txBox="1"/>
          <p:nvPr/>
        </p:nvSpPr>
        <p:spPr>
          <a:xfrm>
            <a:off x="740664" y="713232"/>
            <a:ext cx="7680960" cy="566928"/>
          </a:xfrm>
          <a:prstGeom prst="rect">
            <a:avLst/>
          </a:prstGeom>
        </p:spPr>
        <p:txBody>
          <a:bodyPr vert="horz" wrap="square" lIns="0" tIns="0" rIns="0" bIns="0" anchor="t"/>
          <a:lstStyle/>
          <a:p>
            <a:pPr marL="0" indent="0" algn="l">
              <a:lnSpc>
                <a:spcPct val="106000"/>
              </a:lnSpc>
            </a:pPr>
            <a:r>
              <a:rPr sz="1300" b="1" dirty="0">
                <a:solidFill>
                  <a:srgbClr val="FF8B00"/>
                </a:solidFill>
                <a:latin typeface="Arial"/>
                <a:cs typeface="Arial"/>
              </a:rPr>
              <a:t>To start, we need two things:  </a:t>
            </a:r>
            <a:r>
              <a:rPr sz="1300" dirty="0">
                <a:solidFill>
                  <a:srgbClr val="2B2B2B"/>
                </a:solidFill>
                <a:latin typeface="Arial"/>
                <a:cs typeface="Arial"/>
              </a:rPr>
              <a:t>a cell-by-isoform count matrix (what was measured) and a transcriptome annotation (GTF/GFF) that defines which isoform each transcript is.</a:t>
            </a:r>
            <a:r>
              <a:rPr lang="en-GB" sz="1300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endParaRPr sz="1300" dirty="0">
              <a:solidFill>
                <a:srgbClr val="2B2B2B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92366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Removing</a:t>
            </a:r>
            <a:r>
              <a:rPr sz="15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Low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sz="15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Cells</a:t>
            </a:r>
            <a:r>
              <a:rPr sz="155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550" b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necessary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 descr="https://www.sc-best-practices.org/_images/quality_control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313816"/>
            <a:ext cx="7048500" cy="3228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7258B4-0545-41B8-8136-1B98EC6C18EE}"/>
              </a:ext>
            </a:extLst>
          </p:cNvPr>
          <p:cNvGrpSpPr/>
          <p:nvPr/>
        </p:nvGrpSpPr>
        <p:grpSpPr>
          <a:xfrm>
            <a:off x="5181600" y="731520"/>
            <a:ext cx="3810000" cy="1154430"/>
            <a:chOff x="5181600" y="731520"/>
            <a:chExt cx="3477768" cy="996696"/>
          </a:xfrm>
        </p:grpSpPr>
        <p:sp>
          <p:nvSpPr>
            <p:cNvPr id="6" name="panel 40">
              <a:extLst>
                <a:ext uri="{FF2B5EF4-FFF2-40B4-BE49-F238E27FC236}">
                  <a16:creationId xmlns:a16="http://schemas.microsoft.com/office/drawing/2014/main" id="{B8E7A973-482A-4270-9D67-A18A4712297D}"/>
                </a:ext>
              </a:extLst>
            </p:cNvPr>
            <p:cNvSpPr/>
            <p:nvPr/>
          </p:nvSpPr>
          <p:spPr>
            <a:xfrm>
              <a:off x="5181600" y="731520"/>
              <a:ext cx="3477768" cy="868680"/>
            </a:xfrm>
            <a:prstGeom prst="roundRect">
              <a:avLst>
                <a:gd name="adj" fmla="val 9000"/>
              </a:avLst>
            </a:prstGeom>
            <a:solidFill>
              <a:srgbClr val="F4F7FB"/>
            </a:solidFill>
            <a:ln w="9525">
              <a:solidFill>
                <a:srgbClr val="DCE6F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explainer 41">
              <a:extLst>
                <a:ext uri="{FF2B5EF4-FFF2-40B4-BE49-F238E27FC236}">
                  <a16:creationId xmlns:a16="http://schemas.microsoft.com/office/drawing/2014/main" id="{C6C24157-A213-46D9-AA1F-69E0764EC14E}"/>
                </a:ext>
              </a:extLst>
            </p:cNvPr>
            <p:cNvSpPr txBox="1"/>
            <p:nvPr/>
          </p:nvSpPr>
          <p:spPr>
            <a:xfrm>
              <a:off x="5257800" y="859536"/>
              <a:ext cx="3401568" cy="868680"/>
            </a:xfrm>
            <a:prstGeom prst="rect">
              <a:avLst/>
            </a:prstGeom>
          </p:spPr>
          <p:txBody>
            <a:bodyPr vert="horz" wrap="square" lIns="0" tIns="0" rIns="0" bIns="0" anchor="t"/>
            <a:lstStyle/>
            <a:p>
              <a:pPr marL="0" indent="0" algn="l">
                <a:lnSpc>
                  <a:spcPct val="106000"/>
                </a:lnSpc>
              </a:pPr>
              <a:r>
                <a:rPr sz="1300" b="1" dirty="0">
                  <a:solidFill>
                    <a:srgbClr val="FF8B00"/>
                  </a:solidFill>
                  <a:latin typeface="Arial"/>
                  <a:cs typeface="Arial"/>
                </a:rPr>
                <a:t>Before analysis,  </a:t>
              </a:r>
              <a:r>
                <a:rPr sz="1300" dirty="0">
                  <a:solidFill>
                    <a:srgbClr val="2B2B2B"/>
                  </a:solidFill>
                  <a:latin typeface="Arial"/>
                  <a:cs typeface="Arial"/>
                </a:rPr>
                <a:t>we filter out empty droplets, dying cells, doublets and ambient RNA so each barcode reflects one real, intact cell.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1534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Normalization</a:t>
            </a:r>
            <a:r>
              <a:rPr sz="15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550" b="1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why</a:t>
            </a:r>
            <a:r>
              <a:rPr sz="155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matters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 descr="Illustration showing problems with global normalization of scRNA-seq data especially in cases involving significant diversity in cell types and sizes. 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3710" y="704347"/>
            <a:ext cx="5105400" cy="39054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explainer 40">
            <a:extLst>
              <a:ext uri="{FF2B5EF4-FFF2-40B4-BE49-F238E27FC236}">
                <a16:creationId xmlns:a16="http://schemas.microsoft.com/office/drawing/2014/main" id="{3C16C788-953A-4BFC-8833-86C7B932F0CF}"/>
              </a:ext>
            </a:extLst>
          </p:cNvPr>
          <p:cNvSpPr txBox="1"/>
          <p:nvPr/>
        </p:nvSpPr>
        <p:spPr>
          <a:xfrm>
            <a:off x="338455" y="1927439"/>
            <a:ext cx="2453640" cy="1459230"/>
          </a:xfrm>
          <a:prstGeom prst="rect">
            <a:avLst/>
          </a:prstGeom>
        </p:spPr>
        <p:txBody>
          <a:bodyPr vert="horz" wrap="square" lIns="0" tIns="0" rIns="0" bIns="0" anchor="t"/>
          <a:lstStyle/>
          <a:p>
            <a:pPr marL="0" indent="0" algn="l">
              <a:lnSpc>
                <a:spcPct val="106000"/>
              </a:lnSpc>
            </a:pPr>
            <a:r>
              <a:rPr sz="1300" b="1" dirty="0">
                <a:solidFill>
                  <a:srgbClr val="FF8B00"/>
                </a:solidFill>
                <a:latin typeface="Arial"/>
                <a:cs typeface="Arial"/>
              </a:rPr>
              <a:t>Why normalise?  </a:t>
            </a:r>
            <a:r>
              <a:rPr sz="1200" dirty="0">
                <a:solidFill>
                  <a:srgbClr val="2B2B2B"/>
                </a:solidFill>
                <a:latin typeface="Arial"/>
                <a:cs typeface="Arial"/>
              </a:rPr>
              <a:t>Cells differ in total counts purely for technical reasons. Scaling to a common library size stops these differences from masquerading as real biology, though dropouts in small cells remain.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8201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Selecting</a:t>
            </a:r>
            <a:r>
              <a:rPr sz="15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Informative</a:t>
            </a:r>
            <a:r>
              <a:rPr sz="155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 descr="8. Feature selection — Single-cell best practi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330" y="859366"/>
            <a:ext cx="7419340" cy="23435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6" name="explainer 40">
            <a:extLst>
              <a:ext uri="{FF2B5EF4-FFF2-40B4-BE49-F238E27FC236}">
                <a16:creationId xmlns:a16="http://schemas.microsoft.com/office/drawing/2014/main" id="{13008302-42A7-4D15-AE12-3303D354AD2A}"/>
              </a:ext>
            </a:extLst>
          </p:cNvPr>
          <p:cNvSpPr txBox="1"/>
          <p:nvPr/>
        </p:nvSpPr>
        <p:spPr>
          <a:xfrm>
            <a:off x="502920" y="3520440"/>
            <a:ext cx="7955280" cy="777240"/>
          </a:xfrm>
          <a:prstGeom prst="rect">
            <a:avLst/>
          </a:prstGeom>
        </p:spPr>
        <p:txBody>
          <a:bodyPr vert="horz" wrap="square" lIns="0" tIns="0" rIns="0" bIns="0" anchor="t"/>
          <a:lstStyle/>
          <a:p>
            <a:pPr marL="0" indent="0" algn="l">
              <a:lnSpc>
                <a:spcPct val="106000"/>
              </a:lnSpc>
            </a:pPr>
            <a:r>
              <a:rPr sz="1300" b="1" dirty="0">
                <a:solidFill>
                  <a:srgbClr val="FF8B00"/>
                </a:solidFill>
                <a:latin typeface="Arial"/>
                <a:cs typeface="Arial"/>
              </a:rPr>
              <a:t>Feature selection:  </a:t>
            </a:r>
            <a:r>
              <a:rPr sz="1300" dirty="0">
                <a:solidFill>
                  <a:srgbClr val="2B2B2B"/>
                </a:solidFill>
                <a:latin typeface="Arial"/>
                <a:cs typeface="Arial"/>
              </a:rPr>
              <a:t>most genes/isoforms add noise, not signal. We keep the highly variable features that separate cell types and drop the rest, cutting dimensionality and </a:t>
            </a:r>
            <a:r>
              <a:rPr lang="en-GB" sz="1300" dirty="0">
                <a:solidFill>
                  <a:srgbClr val="2B2B2B"/>
                </a:solidFill>
                <a:latin typeface="Arial"/>
                <a:cs typeface="Arial"/>
              </a:rPr>
              <a:t>computation</a:t>
            </a:r>
            <a:r>
              <a:rPr sz="130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24104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Reducing</a:t>
            </a:r>
            <a:r>
              <a:rPr sz="15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Dimensionality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 descr="9. Dimensionality Reduction — Single-cell best practice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" y="638175"/>
            <a:ext cx="7239000" cy="1876425"/>
          </a:xfrm>
          <a:prstGeom prst="rect">
            <a:avLst/>
          </a:prstGeom>
        </p:spPr>
      </p:pic>
      <p:pic>
        <p:nvPicPr>
          <p:cNvPr id="4" name="object 4" descr="https://miro.medium.com/v2/resize:fit:987/1*8vmuleLMcOnA4lWr8cIqRg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2743637"/>
            <a:ext cx="3181350" cy="1866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7" name="panel 40">
            <a:extLst>
              <a:ext uri="{FF2B5EF4-FFF2-40B4-BE49-F238E27FC236}">
                <a16:creationId xmlns:a16="http://schemas.microsoft.com/office/drawing/2014/main" id="{927CF327-E189-4CBB-AA02-1BEA332394EF}"/>
              </a:ext>
            </a:extLst>
          </p:cNvPr>
          <p:cNvSpPr/>
          <p:nvPr/>
        </p:nvSpPr>
        <p:spPr>
          <a:xfrm>
            <a:off x="762000" y="2827604"/>
            <a:ext cx="2514600" cy="16002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explainer 41">
            <a:extLst>
              <a:ext uri="{FF2B5EF4-FFF2-40B4-BE49-F238E27FC236}">
                <a16:creationId xmlns:a16="http://schemas.microsoft.com/office/drawing/2014/main" id="{82256D60-3C5D-4E3D-A384-13ED7CBC4C6C}"/>
              </a:ext>
            </a:extLst>
          </p:cNvPr>
          <p:cNvSpPr txBox="1"/>
          <p:nvPr/>
        </p:nvSpPr>
        <p:spPr>
          <a:xfrm>
            <a:off x="944880" y="2964764"/>
            <a:ext cx="2194560" cy="1325880"/>
          </a:xfrm>
          <a:prstGeom prst="rect">
            <a:avLst/>
          </a:prstGeom>
        </p:spPr>
        <p:txBody>
          <a:bodyPr vert="horz" wrap="square" lIns="0" tIns="0" rIns="0" bIns="0" anchor="t"/>
          <a:lstStyle/>
          <a:p>
            <a:pPr marL="0" indent="0" algn="l">
              <a:lnSpc>
                <a:spcPct val="106000"/>
              </a:lnSpc>
            </a:pPr>
            <a:r>
              <a:rPr sz="1250" b="1" dirty="0">
                <a:solidFill>
                  <a:srgbClr val="FF8B00"/>
                </a:solidFill>
                <a:latin typeface="Arial"/>
                <a:cs typeface="Arial"/>
              </a:rPr>
              <a:t>Fewer axes,  </a:t>
            </a:r>
            <a:r>
              <a:rPr sz="1150" dirty="0">
                <a:solidFill>
                  <a:srgbClr val="2B2B2B"/>
                </a:solidFill>
                <a:latin typeface="Arial"/>
                <a:cs typeface="Arial"/>
              </a:rPr>
              <a:t>same structure. PCA then UMAP/t-SNE compress thousands of features into 2-3 dimensions so related cells cluster together and can be visualised.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Do</a:t>
            </a:r>
            <a:r>
              <a:rPr spc="55" dirty="0"/>
              <a:t> </a:t>
            </a:r>
            <a:r>
              <a:rPr dirty="0"/>
              <a:t>I</a:t>
            </a:r>
            <a:r>
              <a:rPr spc="60" dirty="0"/>
              <a:t> </a:t>
            </a:r>
            <a:r>
              <a:rPr dirty="0"/>
              <a:t>define</a:t>
            </a:r>
            <a:r>
              <a:rPr spc="-5" dirty="0"/>
              <a:t> </a:t>
            </a:r>
            <a:r>
              <a:rPr dirty="0"/>
              <a:t>my</a:t>
            </a:r>
            <a:r>
              <a:rPr spc="-5" dirty="0"/>
              <a:t> </a:t>
            </a:r>
            <a:r>
              <a:rPr dirty="0"/>
              <a:t>clusters</a:t>
            </a:r>
            <a:r>
              <a:rPr spc="7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Gene</a:t>
            </a:r>
            <a:r>
              <a:rPr spc="70" dirty="0"/>
              <a:t> </a:t>
            </a:r>
            <a:r>
              <a:rPr dirty="0"/>
              <a:t>or</a:t>
            </a:r>
            <a:r>
              <a:rPr spc="30" dirty="0"/>
              <a:t> </a:t>
            </a:r>
            <a:r>
              <a:rPr dirty="0"/>
              <a:t>Isoform</a:t>
            </a:r>
            <a:r>
              <a:rPr spc="-5" dirty="0"/>
              <a:t> </a:t>
            </a:r>
            <a:r>
              <a:rPr spc="-10" dirty="0"/>
              <a:t>Features?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81100"/>
            <a:ext cx="5019674" cy="20097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2100" y="1228725"/>
            <a:ext cx="3619500" cy="2000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47316" y="3334004"/>
            <a:ext cx="724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Pacbio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7680" y="3414395"/>
            <a:ext cx="1030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Nanopore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8080" y="4080357"/>
            <a:ext cx="44196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b="1" dirty="0">
                <a:solidFill>
                  <a:srgbClr val="FF8B00"/>
                </a:solidFill>
                <a:latin typeface="Arial"/>
                <a:cs typeface="Arial"/>
              </a:rPr>
              <a:t>Same cells – two related feature spaces 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8196326" y="4491037"/>
            <a:ext cx="390525" cy="304800"/>
          </a:xfrm>
          <a:custGeom>
            <a:avLst/>
            <a:gdLst/>
            <a:ahLst/>
            <a:cxnLst/>
            <a:rect l="l" t="t" r="r" b="b"/>
            <a:pathLst>
              <a:path w="390525" h="304800">
                <a:moveTo>
                  <a:pt x="0" y="304800"/>
                </a:moveTo>
                <a:lnTo>
                  <a:pt x="390525" y="304800"/>
                </a:lnTo>
                <a:lnTo>
                  <a:pt x="390525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24751" y="4922668"/>
            <a:ext cx="114681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latin typeface="Arial MT"/>
                <a:cs typeface="Arial MT"/>
              </a:rPr>
              <a:t>(Shi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et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al.,</a:t>
            </a:r>
            <a:r>
              <a:rPr sz="1200" spc="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2023)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421830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Putting</a:t>
            </a:r>
            <a:r>
              <a:rPr sz="15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55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55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together</a:t>
            </a:r>
            <a:r>
              <a:rPr sz="15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5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Annotate</a:t>
            </a:r>
            <a:r>
              <a:rPr sz="1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1550" b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43200" y="819150"/>
            <a:ext cx="6232082" cy="3810000"/>
            <a:chOff x="714375" y="752475"/>
            <a:chExt cx="8153400" cy="42576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" y="752475"/>
              <a:ext cx="8153400" cy="42576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96326" y="4491037"/>
              <a:ext cx="390525" cy="304800"/>
            </a:xfrm>
            <a:custGeom>
              <a:avLst/>
              <a:gdLst/>
              <a:ahLst/>
              <a:cxnLst/>
              <a:rect l="l" t="t" r="r" b="b"/>
              <a:pathLst>
                <a:path w="390525" h="304800">
                  <a:moveTo>
                    <a:pt x="0" y="304800"/>
                  </a:moveTo>
                  <a:lnTo>
                    <a:pt x="390525" y="3048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302F78-4C31-4210-8D99-421A8AB56E63}"/>
              </a:ext>
            </a:extLst>
          </p:cNvPr>
          <p:cNvGrpSpPr/>
          <p:nvPr/>
        </p:nvGrpSpPr>
        <p:grpSpPr>
          <a:xfrm>
            <a:off x="76200" y="2114550"/>
            <a:ext cx="3124200" cy="1447800"/>
            <a:chOff x="381000" y="742950"/>
            <a:chExt cx="2267712" cy="1447800"/>
          </a:xfrm>
        </p:grpSpPr>
        <p:sp>
          <p:nvSpPr>
            <p:cNvPr id="9" name="panel 40">
              <a:extLst>
                <a:ext uri="{FF2B5EF4-FFF2-40B4-BE49-F238E27FC236}">
                  <a16:creationId xmlns:a16="http://schemas.microsoft.com/office/drawing/2014/main" id="{4E5E22EF-A8F0-487D-B433-1A4090DE6333}"/>
                </a:ext>
              </a:extLst>
            </p:cNvPr>
            <p:cNvSpPr/>
            <p:nvPr/>
          </p:nvSpPr>
          <p:spPr>
            <a:xfrm>
              <a:off x="381000" y="742950"/>
              <a:ext cx="2267712" cy="914400"/>
            </a:xfrm>
            <a:prstGeom prst="roundRect">
              <a:avLst>
                <a:gd name="adj" fmla="val 9000"/>
              </a:avLst>
            </a:prstGeom>
            <a:solidFill>
              <a:srgbClr val="F4F7FB"/>
            </a:solidFill>
            <a:ln w="9525">
              <a:solidFill>
                <a:srgbClr val="DCE6F2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explainer 41">
              <a:extLst>
                <a:ext uri="{FF2B5EF4-FFF2-40B4-BE49-F238E27FC236}">
                  <a16:creationId xmlns:a16="http://schemas.microsoft.com/office/drawing/2014/main" id="{F9D1A4FF-C250-4647-BE5C-EEC729AC2036}"/>
                </a:ext>
              </a:extLst>
            </p:cNvPr>
            <p:cNvSpPr txBox="1"/>
            <p:nvPr/>
          </p:nvSpPr>
          <p:spPr>
            <a:xfrm>
              <a:off x="527238" y="885357"/>
              <a:ext cx="2076074" cy="1305393"/>
            </a:xfrm>
            <a:prstGeom prst="rect">
              <a:avLst/>
            </a:prstGeom>
          </p:spPr>
          <p:txBody>
            <a:bodyPr vert="horz" wrap="square" lIns="0" tIns="0" rIns="0" bIns="0" anchor="t"/>
            <a:lstStyle/>
            <a:p>
              <a:pPr marL="0" indent="0" algn="l">
                <a:lnSpc>
                  <a:spcPct val="106000"/>
                </a:lnSpc>
              </a:pPr>
              <a:r>
                <a:rPr sz="1150" b="1" dirty="0">
                  <a:solidFill>
                    <a:srgbClr val="FF8B00"/>
                  </a:solidFill>
                  <a:latin typeface="Arial"/>
                  <a:cs typeface="Arial"/>
                </a:rPr>
                <a:t>The pipeline:  </a:t>
              </a:r>
              <a:r>
                <a:rPr sz="1050" dirty="0">
                  <a:solidFill>
                    <a:srgbClr val="2B2B2B"/>
                  </a:solidFill>
                  <a:latin typeface="Arial"/>
                  <a:cs typeface="Arial"/>
                </a:rPr>
                <a:t>QC and normalisation feed dimensionality reduction, clustering and marker ranking, which together let us label each cluster as a known cell type.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Pseudobulk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8" name="Rounded Rectangle 7"/>
          <p:cNvSpPr/>
          <p:nvPr/>
        </p:nvSpPr>
        <p:spPr>
          <a:xfrm>
            <a:off x="274320" y="585216"/>
            <a:ext cx="8595359" cy="420624"/>
          </a:xfrm>
          <a:prstGeom prst="roundRect">
            <a:avLst>
              <a:gd name="adj" fmla="val 18000"/>
            </a:avLst>
          </a:prstGeom>
          <a:solidFill>
            <a:srgbClr val="EAF1FB"/>
          </a:solidFill>
          <a:ln w="1270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Pseudobulk:  sum single-cell counts within each sample × cell-type group, then analyse like bulk RNA-seq.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444752"/>
            <a:ext cx="1645920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490472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6AB"/>
                </a:solidFill>
                <a:latin typeface="Arial"/>
              </a:rPr>
              <a:t>Single cells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" y="1828800"/>
            <a:ext cx="146304" cy="146304"/>
          </a:xfrm>
          <a:prstGeom prst="ellipse">
            <a:avLst/>
          </a:prstGeom>
          <a:solidFill>
            <a:srgbClr val="2E7CD6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0664" y="1828800"/>
            <a:ext cx="146304" cy="146304"/>
          </a:xfrm>
          <a:prstGeom prst="ellipse">
            <a:avLst/>
          </a:prstGeom>
          <a:solidFill>
            <a:srgbClr val="8E44A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" y="1828800"/>
            <a:ext cx="146304" cy="146304"/>
          </a:xfrm>
          <a:prstGeom prst="ellipse">
            <a:avLst/>
          </a:prstGeom>
          <a:solidFill>
            <a:srgbClr val="1E8E4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71016" y="1828800"/>
            <a:ext cx="146304" cy="146304"/>
          </a:xfrm>
          <a:prstGeom prst="ellipse">
            <a:avLst/>
          </a:prstGeom>
          <a:solidFill>
            <a:srgbClr val="8E44A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36192" y="1828800"/>
            <a:ext cx="146304" cy="146304"/>
          </a:xfrm>
          <a:prstGeom prst="ellipse">
            <a:avLst/>
          </a:prstGeom>
          <a:solidFill>
            <a:srgbClr val="1E8E4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5488" y="2043684"/>
            <a:ext cx="146304" cy="146304"/>
          </a:xfrm>
          <a:prstGeom prst="ellipse">
            <a:avLst/>
          </a:prstGeom>
          <a:solidFill>
            <a:srgbClr val="1E8E4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0664" y="2043684"/>
            <a:ext cx="146304" cy="146304"/>
          </a:xfrm>
          <a:prstGeom prst="ellipse">
            <a:avLst/>
          </a:prstGeom>
          <a:solidFill>
            <a:srgbClr val="1E8E4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2043684"/>
            <a:ext cx="146304" cy="146304"/>
          </a:xfrm>
          <a:prstGeom prst="ellipse">
            <a:avLst/>
          </a:prstGeom>
          <a:solidFill>
            <a:srgbClr val="2E7CD6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71016" y="2043684"/>
            <a:ext cx="146304" cy="146304"/>
          </a:xfrm>
          <a:prstGeom prst="ellipse">
            <a:avLst/>
          </a:prstGeom>
          <a:solidFill>
            <a:srgbClr val="16A08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36192" y="2043684"/>
            <a:ext cx="146304" cy="146304"/>
          </a:xfrm>
          <a:prstGeom prst="ellipse">
            <a:avLst/>
          </a:prstGeom>
          <a:solidFill>
            <a:srgbClr val="F39C12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5488" y="2258568"/>
            <a:ext cx="146304" cy="146304"/>
          </a:xfrm>
          <a:prstGeom prst="ellipse">
            <a:avLst/>
          </a:prstGeom>
          <a:solidFill>
            <a:srgbClr val="E74C3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40664" y="2258568"/>
            <a:ext cx="146304" cy="146304"/>
          </a:xfrm>
          <a:prstGeom prst="ellipse">
            <a:avLst/>
          </a:prstGeom>
          <a:solidFill>
            <a:srgbClr val="1E8E4E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5840" y="2258568"/>
            <a:ext cx="146304" cy="146304"/>
          </a:xfrm>
          <a:prstGeom prst="ellipse">
            <a:avLst/>
          </a:prstGeom>
          <a:solidFill>
            <a:srgbClr val="16A08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71016" y="2258568"/>
            <a:ext cx="146304" cy="146304"/>
          </a:xfrm>
          <a:prstGeom prst="ellipse">
            <a:avLst/>
          </a:prstGeom>
          <a:solidFill>
            <a:srgbClr val="E74C3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36192" y="2258568"/>
            <a:ext cx="146304" cy="146304"/>
          </a:xfrm>
          <a:prstGeom prst="ellipse">
            <a:avLst/>
          </a:prstGeom>
          <a:solidFill>
            <a:srgbClr val="16A08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75488" y="2473452"/>
            <a:ext cx="146304" cy="146304"/>
          </a:xfrm>
          <a:prstGeom prst="ellipse">
            <a:avLst/>
          </a:prstGeom>
          <a:solidFill>
            <a:srgbClr val="8E44A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0664" y="2473452"/>
            <a:ext cx="146304" cy="146304"/>
          </a:xfrm>
          <a:prstGeom prst="ellipse">
            <a:avLst/>
          </a:prstGeom>
          <a:solidFill>
            <a:srgbClr val="F39C12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" y="2473452"/>
            <a:ext cx="146304" cy="146304"/>
          </a:xfrm>
          <a:prstGeom prst="ellipse">
            <a:avLst/>
          </a:prstGeom>
          <a:solidFill>
            <a:srgbClr val="E74C3C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71016" y="2473452"/>
            <a:ext cx="146304" cy="146304"/>
          </a:xfrm>
          <a:prstGeom prst="ellipse">
            <a:avLst/>
          </a:prstGeom>
          <a:solidFill>
            <a:srgbClr val="F39C12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536192" y="2473452"/>
            <a:ext cx="146304" cy="146304"/>
          </a:xfrm>
          <a:prstGeom prst="ellipse">
            <a:avLst/>
          </a:prstGeom>
          <a:solidFill>
            <a:srgbClr val="2E7CD6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2798064"/>
            <a:ext cx="16459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22B38"/>
                </a:solidFill>
                <a:latin typeface="Arial"/>
              </a:rPr>
              <a:t>cells × isoforms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sparse, noisy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9384" y="1536192"/>
            <a:ext cx="10515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22B38"/>
                </a:solidFill>
                <a:latin typeface="Arial"/>
              </a:rPr>
              <a:t>group by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22B38"/>
                </a:solidFill>
                <a:latin typeface="Arial"/>
              </a:rPr>
              <a:t>sample × cell type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1E"/>
                </a:solidFill>
                <a:latin typeface="Arial"/>
              </a:rPr>
              <a:t>Σ counts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975104" y="2231136"/>
            <a:ext cx="960120" cy="27432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990088" y="1444752"/>
            <a:ext cx="2542032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90088" y="1490472"/>
            <a:ext cx="2542032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46AB"/>
                </a:solidFill>
                <a:latin typeface="Arial"/>
              </a:rPr>
              <a:t>Pseudobulk matrix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9272" y="1865376"/>
            <a:ext cx="187452" cy="187452"/>
          </a:xfrm>
          <a:prstGeom prst="rect">
            <a:avLst/>
          </a:prstGeom>
          <a:solidFill>
            <a:srgbClr val="16A085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02152" y="1865376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712464" y="1865376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22776" y="1865376"/>
            <a:ext cx="187452" cy="187452"/>
          </a:xfrm>
          <a:prstGeom prst="rect">
            <a:avLst/>
          </a:prstGeom>
          <a:solidFill>
            <a:srgbClr val="BFD3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33087" y="1865376"/>
            <a:ext cx="187452" cy="187452"/>
          </a:xfrm>
          <a:prstGeom prst="rect">
            <a:avLst/>
          </a:prstGeom>
          <a:solidFill>
            <a:srgbClr val="BFD3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43400" y="1865376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53712" y="1865376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64024" y="1865376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74336" y="1865376"/>
            <a:ext cx="187452" cy="187452"/>
          </a:xfrm>
          <a:prstGeom prst="rect">
            <a:avLst/>
          </a:prstGeom>
          <a:solidFill>
            <a:srgbClr val="BFD3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19272" y="2075688"/>
            <a:ext cx="187452" cy="187452"/>
          </a:xfrm>
          <a:prstGeom prst="rect">
            <a:avLst/>
          </a:prstGeom>
          <a:solidFill>
            <a:srgbClr val="E74C3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502152" y="2075688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712464" y="2075688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922776" y="2075688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133087" y="2075688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343400" y="2075688"/>
            <a:ext cx="187452" cy="187452"/>
          </a:xfrm>
          <a:prstGeom prst="rect">
            <a:avLst/>
          </a:prstGeom>
          <a:solidFill>
            <a:srgbClr val="BFD3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53712" y="2075688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764024" y="2075688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974336" y="2075688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319272" y="2286000"/>
            <a:ext cx="187452" cy="187452"/>
          </a:xfrm>
          <a:prstGeom prst="rect">
            <a:avLst/>
          </a:prstGeom>
          <a:solidFill>
            <a:srgbClr val="8E44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502152" y="2286000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712464" y="2286000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22776" y="2286000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33087" y="2286000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343400" y="2286000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53712" y="2286000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764024" y="2286000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74336" y="2286000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319272" y="2496312"/>
            <a:ext cx="187452" cy="187452"/>
          </a:xfrm>
          <a:prstGeom prst="rect">
            <a:avLst/>
          </a:prstGeom>
          <a:solidFill>
            <a:srgbClr val="F39C1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502152" y="2496312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712464" y="2496312"/>
            <a:ext cx="187452" cy="187452"/>
          </a:xfrm>
          <a:prstGeom prst="rect">
            <a:avLst/>
          </a:prstGeom>
          <a:solidFill>
            <a:srgbClr val="5B8FD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922776" y="2496312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133087" y="2496312"/>
            <a:ext cx="187452" cy="187452"/>
          </a:xfrm>
          <a:prstGeom prst="rect">
            <a:avLst/>
          </a:prstGeom>
          <a:solidFill>
            <a:srgbClr val="D9534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343400" y="2496312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553712" y="2496312"/>
            <a:ext cx="187452" cy="187452"/>
          </a:xfrm>
          <a:prstGeom prst="rect">
            <a:avLst/>
          </a:prstGeom>
          <a:solidFill>
            <a:srgbClr val="F3C9C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764024" y="2496312"/>
            <a:ext cx="187452" cy="187452"/>
          </a:xfrm>
          <a:prstGeom prst="rect">
            <a:avLst/>
          </a:prstGeom>
          <a:solidFill>
            <a:srgbClr val="1F4E9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74336" y="2496312"/>
            <a:ext cx="187452" cy="187452"/>
          </a:xfrm>
          <a:prstGeom prst="rect">
            <a:avLst/>
          </a:prstGeom>
          <a:solidFill>
            <a:srgbClr val="BFD3E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90088" y="2798064"/>
            <a:ext cx="2542032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22B38"/>
                </a:solidFill>
                <a:latin typeface="Arial"/>
              </a:rPr>
              <a:t>samples × isoforms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dense, robust counts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5586983" y="2231136"/>
            <a:ext cx="502920" cy="274320"/>
          </a:xfrm>
          <a:prstGeom prst="rightArrow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144767" y="1444752"/>
            <a:ext cx="2724912" cy="1335024"/>
          </a:xfrm>
          <a:prstGeom prst="roundRect">
            <a:avLst>
              <a:gd name="adj" fmla="val 7000"/>
            </a:avLst>
          </a:prstGeom>
          <a:solidFill>
            <a:srgbClr val="0046AB"/>
          </a:solidFill>
          <a:ln w="12700">
            <a:solidFill>
              <a:srgbClr val="004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Bulk DE frameworks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DESeq2 · edgeR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limma-voom · dreamlet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CDDF5"/>
                </a:solidFill>
                <a:latin typeface="Arial"/>
              </a:rPr>
              <a:t>well-calibrated statistics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" y="3310128"/>
            <a:ext cx="2682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Proper replication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Cells are aggregated to biological replicates (e.g. donors), so cells are not mistaken for replicates. This controls the false positives of cell-level tests.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0046AB"/>
                </a:solidFill>
                <a:latin typeface="Arial"/>
              </a:rPr>
              <a:t>Squair et al. 2021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30879" y="3310128"/>
            <a:ext cx="268224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Plug-and-play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Reuse mature, well-calibrated bulk DE methods and their flexible designs, contrasts and random effects.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87439" y="3310128"/>
            <a:ext cx="2682240" cy="1188720"/>
          </a:xfrm>
          <a:prstGeom prst="roundRect">
            <a:avLst>
              <a:gd name="adj" fmla="val 7000"/>
            </a:avLst>
          </a:prstGeom>
          <a:solidFill>
            <a:srgbClr val="FCEFDF"/>
          </a:solidFill>
          <a:ln w="1905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E8821E"/>
                </a:solidFill>
                <a:latin typeface="Arial"/>
              </a:rPr>
              <a:t>Trade-off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Needs enough cells per group, and collapses within-group heterogeneity (see the coverage / heterogeneity slide).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32416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Coverage/Heterogeneity</a:t>
            </a:r>
            <a:r>
              <a:rPr sz="155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Trade-</a:t>
            </a:r>
            <a:r>
              <a:rPr sz="1550" b="1" spc="-25" dirty="0">
                <a:solidFill>
                  <a:srgbClr val="FFFFFF"/>
                </a:solidFill>
                <a:latin typeface="Arial"/>
                <a:cs typeface="Arial"/>
              </a:rPr>
              <a:t>off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3" name="object 3" descr="Building and analyzing metacells in single-cell genomics data | Molecular  Systems Biology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975" y="657225"/>
            <a:ext cx="5734050" cy="38290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29540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Finding</a:t>
            </a:r>
            <a:r>
              <a:rPr sz="1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15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Resolution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9887" y="598551"/>
            <a:ext cx="8069580" cy="3345179"/>
            <a:chOff x="369887" y="598551"/>
            <a:chExt cx="8069580" cy="33451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075" y="714375"/>
              <a:ext cx="7839075" cy="322891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6237" y="604901"/>
              <a:ext cx="914400" cy="2819400"/>
            </a:xfrm>
            <a:custGeom>
              <a:avLst/>
              <a:gdLst/>
              <a:ahLst/>
              <a:cxnLst/>
              <a:rect l="l" t="t" r="r" b="b"/>
              <a:pathLst>
                <a:path w="914400" h="2819400">
                  <a:moveTo>
                    <a:pt x="914400" y="0"/>
                  </a:moveTo>
                  <a:lnTo>
                    <a:pt x="0" y="0"/>
                  </a:lnTo>
                  <a:lnTo>
                    <a:pt x="0" y="2819400"/>
                  </a:lnTo>
                  <a:lnTo>
                    <a:pt x="914400" y="2819400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6237" y="604901"/>
              <a:ext cx="914400" cy="2819400"/>
            </a:xfrm>
            <a:custGeom>
              <a:avLst/>
              <a:gdLst/>
              <a:ahLst/>
              <a:cxnLst/>
              <a:rect l="l" t="t" r="r" b="b"/>
              <a:pathLst>
                <a:path w="914400" h="2819400">
                  <a:moveTo>
                    <a:pt x="0" y="2819400"/>
                  </a:moveTo>
                  <a:lnTo>
                    <a:pt x="914400" y="2819400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2819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Percent</a:t>
            </a:r>
            <a:r>
              <a:rPr spc="40" dirty="0"/>
              <a:t> </a:t>
            </a:r>
            <a:r>
              <a:rPr dirty="0"/>
              <a:t>spliced</a:t>
            </a:r>
            <a:r>
              <a:rPr spc="50" dirty="0"/>
              <a:t> </a:t>
            </a:r>
            <a:r>
              <a:rPr dirty="0"/>
              <a:t>in</a:t>
            </a:r>
            <a:r>
              <a:rPr spc="50" dirty="0"/>
              <a:t> </a:t>
            </a:r>
            <a:r>
              <a:rPr dirty="0"/>
              <a:t>as</a:t>
            </a:r>
            <a:r>
              <a:rPr spc="6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metric</a:t>
            </a:r>
            <a:r>
              <a:rPr spc="-10" dirty="0"/>
              <a:t> </a:t>
            </a:r>
            <a:r>
              <a:rPr dirty="0"/>
              <a:t>for</a:t>
            </a:r>
            <a:r>
              <a:rPr spc="25" dirty="0"/>
              <a:t> </a:t>
            </a:r>
            <a:r>
              <a:rPr dirty="0"/>
              <a:t>Isoform</a:t>
            </a:r>
            <a:r>
              <a:rPr spc="65" dirty="0"/>
              <a:t> </a:t>
            </a:r>
            <a:r>
              <a:rPr spc="-10" dirty="0"/>
              <a:t>changes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62000" y="922400"/>
            <a:ext cx="7439025" cy="2364105"/>
            <a:chOff x="762000" y="922400"/>
            <a:chExt cx="7439025" cy="23641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923924"/>
              <a:ext cx="7439025" cy="2362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00137" y="928750"/>
              <a:ext cx="552450" cy="390525"/>
            </a:xfrm>
            <a:custGeom>
              <a:avLst/>
              <a:gdLst/>
              <a:ahLst/>
              <a:cxnLst/>
              <a:rect l="l" t="t" r="r" b="b"/>
              <a:pathLst>
                <a:path w="552450" h="390525">
                  <a:moveTo>
                    <a:pt x="552450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552450" y="390525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00137" y="928750"/>
              <a:ext cx="552450" cy="390525"/>
            </a:xfrm>
            <a:custGeom>
              <a:avLst/>
              <a:gdLst/>
              <a:ahLst/>
              <a:cxnLst/>
              <a:rect l="l" t="t" r="r" b="b"/>
              <a:pathLst>
                <a:path w="552450" h="390525">
                  <a:moveTo>
                    <a:pt x="0" y="390525"/>
                  </a:moveTo>
                  <a:lnTo>
                    <a:pt x="552450" y="390525"/>
                  </a:lnTo>
                  <a:lnTo>
                    <a:pt x="552450" y="0"/>
                  </a:lnTo>
                  <a:lnTo>
                    <a:pt x="0" y="0"/>
                  </a:lnTo>
                  <a:lnTo>
                    <a:pt x="0" y="39052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3"/>
          <p:cNvSpPr txBox="1"/>
          <p:nvPr/>
        </p:nvSpPr>
        <p:spPr>
          <a:xfrm>
            <a:off x="1932051" y="3727452"/>
            <a:ext cx="35534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Cambria Math"/>
                <a:cs typeface="Cambria Math"/>
              </a:rPr>
              <a:t>Isoform </a:t>
            </a:r>
            <a:r>
              <a:rPr sz="1900" spc="-55" dirty="0">
                <a:latin typeface="Cambria Math"/>
                <a:cs typeface="Cambria Math"/>
              </a:rPr>
              <a:t>Usage/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Percent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spc="-55" dirty="0">
                <a:latin typeface="Cambria Math"/>
                <a:cs typeface="Cambria Math"/>
              </a:rPr>
              <a:t>Spliced</a:t>
            </a:r>
            <a:r>
              <a:rPr sz="190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in</a:t>
            </a:r>
            <a:r>
              <a:rPr sz="1900" spc="-10" dirty="0">
                <a:latin typeface="Cambria Math"/>
                <a:cs typeface="Cambria Math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=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2346" y="3619119"/>
            <a:ext cx="1504950" cy="52514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3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𝐼𝑛𝑑𝑖𝑣𝑖𝑑𝑢𝑎𝑙</a:t>
            </a:r>
            <a:r>
              <a:rPr sz="1350" u="heavy" spc="3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1350" u="heavy" spc="-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𝐶𝑜𝑢𝑛𝑡</a:t>
            </a:r>
            <a:endParaRPr sz="1350">
              <a:latin typeface="Cambria Math"/>
              <a:cs typeface="Cambria Math"/>
            </a:endParaRPr>
          </a:p>
          <a:p>
            <a:pPr marL="43815">
              <a:lnSpc>
                <a:spcPct val="100000"/>
              </a:lnSpc>
              <a:spcBef>
                <a:spcPts val="345"/>
              </a:spcBef>
            </a:pPr>
            <a:r>
              <a:rPr sz="1350" dirty="0">
                <a:latin typeface="Cambria Math"/>
                <a:cs typeface="Cambria Math"/>
              </a:rPr>
              <a:t>𝑇𝑜𝑡𝑎𝑙</a:t>
            </a:r>
            <a:r>
              <a:rPr sz="1350" spc="170" dirty="0">
                <a:latin typeface="Cambria Math"/>
                <a:cs typeface="Cambria Math"/>
              </a:rPr>
              <a:t> </a:t>
            </a:r>
            <a:r>
              <a:rPr sz="1350" dirty="0">
                <a:latin typeface="Cambria Math"/>
                <a:cs typeface="Cambria Math"/>
              </a:rPr>
              <a:t>𝐺𝑒𝑛𝑒</a:t>
            </a:r>
            <a:r>
              <a:rPr sz="1350" spc="215" dirty="0">
                <a:latin typeface="Cambria Math"/>
                <a:cs typeface="Cambria Math"/>
              </a:rPr>
              <a:t> </a:t>
            </a:r>
            <a:r>
              <a:rPr sz="1350" spc="-20" dirty="0">
                <a:latin typeface="Cambria Math"/>
                <a:cs typeface="Cambria Math"/>
              </a:rPr>
              <a:t>𝐶𝑜𝑢𝑛𝑡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685800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DGE, DTE and DTU: three questions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5212080" y="5852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85232" y="658368"/>
            <a:ext cx="146304" cy="146304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9824" y="566928"/>
            <a:ext cx="109728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isoform 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658368"/>
            <a:ext cx="146304" cy="146304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1112" y="566928"/>
            <a:ext cx="12801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22B38"/>
                </a:solidFill>
                <a:latin typeface="Arial"/>
              </a:rPr>
              <a:t>isoform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66928"/>
            <a:ext cx="484632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One gene, two isoforms, two conditions — three different questions: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1005840"/>
            <a:ext cx="2682240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004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1078992"/>
            <a:ext cx="26822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46AB"/>
                </a:solidFill>
                <a:latin typeface="Arial"/>
              </a:rPr>
              <a:t>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408176"/>
            <a:ext cx="2462784" cy="5120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22B38"/>
                </a:solidFill>
                <a:latin typeface="Arial"/>
              </a:rPr>
              <a:t>Does the gene's TOTAL output change?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892" y="2291486"/>
            <a:ext cx="475488" cy="1046073"/>
          </a:xfrm>
          <a:prstGeom prst="rect">
            <a:avLst/>
          </a:prstGeom>
          <a:solidFill>
            <a:srgbClr val="6E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60499" y="2291486"/>
            <a:ext cx="475488" cy="1046073"/>
          </a:xfrm>
          <a:prstGeom prst="rect">
            <a:avLst/>
          </a:prstGeom>
          <a:solidFill>
            <a:srgbClr val="6E8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83664"/>
            <a:ext cx="2499359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8CB0"/>
                </a:solidFill>
                <a:latin typeface="Arial"/>
              </a:rPr>
              <a:t>total unchanged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55848"/>
            <a:ext cx="2316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Cond 1            Cond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602736"/>
            <a:ext cx="2499359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DESeq2 · edgeR · dreamlet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0879" y="1005840"/>
            <a:ext cx="2682240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30879" y="1078992"/>
            <a:ext cx="26822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D6"/>
                </a:solidFill>
                <a:latin typeface="Arial"/>
              </a:rPr>
              <a:t>DTE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0607" y="1408176"/>
            <a:ext cx="2462784" cy="5120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22B38"/>
                </a:solidFill>
                <a:latin typeface="Arial"/>
              </a:rPr>
              <a:t>Does an individual transcript's level change?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9519" y="2265334"/>
            <a:ext cx="237744" cy="1072225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53839" y="2945282"/>
            <a:ext cx="237744" cy="392277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52415" y="2945282"/>
            <a:ext cx="237744" cy="392277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26735" y="2265334"/>
            <a:ext cx="237744" cy="1072225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22319" y="1883664"/>
            <a:ext cx="2499359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22B38"/>
                </a:solidFill>
                <a:latin typeface="Arial"/>
              </a:rPr>
              <a:t>A down, B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3759" y="3355848"/>
            <a:ext cx="2316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Cond 1            Cond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2319" y="3602736"/>
            <a:ext cx="2499359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transcript-level DE · swish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439" y="1005840"/>
            <a:ext cx="2682240" cy="2907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87439" y="1078992"/>
            <a:ext cx="2682240" cy="31089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821E"/>
                </a:solidFill>
                <a:latin typeface="Arial"/>
              </a:rPr>
              <a:t>DTU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7167" y="1408176"/>
            <a:ext cx="2462784" cy="5120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22B38"/>
                </a:solidFill>
                <a:latin typeface="Arial"/>
              </a:rPr>
              <a:t>Do the relative PROPORTIONS shift?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08012" y="2495470"/>
            <a:ext cx="475488" cy="842089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08012" y="2134575"/>
            <a:ext cx="475488" cy="360895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3619" y="2976664"/>
            <a:ext cx="475488" cy="360895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73619" y="2134575"/>
            <a:ext cx="475488" cy="842089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78879" y="1883664"/>
            <a:ext cx="2499359" cy="21945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21E"/>
                </a:solidFill>
                <a:latin typeface="Arial"/>
              </a:rPr>
              <a:t>proportions flip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319" y="3355848"/>
            <a:ext cx="2316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Cond 1            Cond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8879" y="3602736"/>
            <a:ext cx="2499359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6B7280"/>
                </a:solidFill>
                <a:latin typeface="Arial"/>
              </a:rPr>
              <a:t>Sierra · satuRn · DTUrtle · scisorseqr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" y="4041648"/>
            <a:ext cx="8595359" cy="512064"/>
          </a:xfrm>
          <a:prstGeom prst="roundRect">
            <a:avLst>
              <a:gd name="adj" fmla="val 10000"/>
            </a:avLst>
          </a:prstGeom>
          <a:solidFill>
            <a:srgbClr val="FCEFDF"/>
          </a:solidFill>
          <a:ln w="1524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22B38"/>
                </a:solidFill>
                <a:latin typeface="Arial"/>
              </a:rPr>
              <a:t>A gene can show </a:t>
            </a:r>
            <a:r>
              <a:rPr sz="1050" b="1" i="0">
                <a:solidFill>
                  <a:srgbClr val="0046AB"/>
                </a:solidFill>
                <a:latin typeface="Arial"/>
              </a:rPr>
              <a:t>no change in total expression</a:t>
            </a:r>
            <a:r>
              <a:rPr sz="1050" b="1" i="0">
                <a:solidFill>
                  <a:srgbClr val="222B38"/>
                </a:solidFill>
                <a:latin typeface="Arial"/>
              </a:rPr>
              <a:t> yet a clear </a:t>
            </a:r>
            <a:r>
              <a:rPr sz="1050" b="1" i="0">
                <a:solidFill>
                  <a:srgbClr val="E8821E"/>
                </a:solidFill>
                <a:latin typeface="Arial"/>
              </a:rPr>
              <a:t>isoform switch</a:t>
            </a:r>
            <a:r>
              <a:rPr sz="1050" b="0" i="1">
                <a:solidFill>
                  <a:srgbClr val="222B38"/>
                </a:solidFill>
                <a:latin typeface="Arial"/>
              </a:rPr>
              <a:t>  —  e.g. RTN4 switches dominant isoform between fetal and adult human cortex.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73367" y="115252"/>
            <a:ext cx="52177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Detecting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Differential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Isoform</a:t>
            </a:r>
            <a:r>
              <a:rPr sz="1550" b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Usage</a:t>
            </a:r>
            <a:r>
              <a:rPr sz="15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sz="1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Cell</a:t>
            </a:r>
            <a:r>
              <a:rPr sz="155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0" y="523875"/>
            <a:ext cx="9144000" cy="4619625"/>
            <a:chOff x="0" y="523875"/>
            <a:chExt cx="9144000" cy="4619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5550" y="523875"/>
              <a:ext cx="6410325" cy="2057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" y="647700"/>
              <a:ext cx="2400300" cy="18002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4225" y="2247900"/>
              <a:ext cx="2619375" cy="26003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2650" y="2409825"/>
              <a:ext cx="1114425" cy="1019175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Isoform</a:t>
            </a:r>
            <a:r>
              <a:rPr spc="75" dirty="0"/>
              <a:t> </a:t>
            </a:r>
            <a:r>
              <a:rPr dirty="0"/>
              <a:t>switching</a:t>
            </a:r>
            <a:r>
              <a:rPr spc="-15" dirty="0"/>
              <a:t> </a:t>
            </a:r>
            <a:r>
              <a:rPr dirty="0"/>
              <a:t>Across</a:t>
            </a:r>
            <a:r>
              <a:rPr spc="7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differentiation</a:t>
            </a:r>
            <a:r>
              <a:rPr spc="65" dirty="0"/>
              <a:t> </a:t>
            </a:r>
            <a:r>
              <a:rPr spc="-10" dirty="0"/>
              <a:t>trajectory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A8DB85-F53B-4576-8682-DC2DFE0A3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3939" y="666750"/>
            <a:ext cx="4379814" cy="4131750"/>
          </a:xfrm>
          <a:prstGeom prst="rect">
            <a:avLst/>
          </a:prstGeom>
        </p:spPr>
      </p:pic>
      <p:grpSp>
        <p:nvGrpSpPr>
          <p:cNvPr id="7" name="object 4">
            <a:extLst>
              <a:ext uri="{FF2B5EF4-FFF2-40B4-BE49-F238E27FC236}">
                <a16:creationId xmlns:a16="http://schemas.microsoft.com/office/drawing/2014/main" id="{5E897898-770E-4645-A9ED-B1936707ABDC}"/>
              </a:ext>
            </a:extLst>
          </p:cNvPr>
          <p:cNvGrpSpPr/>
          <p:nvPr/>
        </p:nvGrpSpPr>
        <p:grpSpPr>
          <a:xfrm>
            <a:off x="577775" y="577600"/>
            <a:ext cx="3006788" cy="2079454"/>
            <a:chOff x="141287" y="684276"/>
            <a:chExt cx="3992879" cy="2670175"/>
          </a:xfrm>
        </p:grpSpPr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C56A22EF-E5E7-4954-8A53-92865CAB0E6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875" y="685800"/>
              <a:ext cx="3990975" cy="2571750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965FED33-C130-474D-BEBE-3898CA0332AA}"/>
                </a:ext>
              </a:extLst>
            </p:cNvPr>
            <p:cNvSpPr/>
            <p:nvPr/>
          </p:nvSpPr>
          <p:spPr>
            <a:xfrm>
              <a:off x="204787" y="3062351"/>
              <a:ext cx="542925" cy="285750"/>
            </a:xfrm>
            <a:custGeom>
              <a:avLst/>
              <a:gdLst/>
              <a:ahLst/>
              <a:cxnLst/>
              <a:rect l="l" t="t" r="r" b="b"/>
              <a:pathLst>
                <a:path w="542925" h="285750">
                  <a:moveTo>
                    <a:pt x="542925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542925" y="285750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9C8CDF0A-2283-4AE3-8539-039121D1CF98}"/>
                </a:ext>
              </a:extLst>
            </p:cNvPr>
            <p:cNvSpPr/>
            <p:nvPr/>
          </p:nvSpPr>
          <p:spPr>
            <a:xfrm>
              <a:off x="204787" y="3062351"/>
              <a:ext cx="542925" cy="285750"/>
            </a:xfrm>
            <a:custGeom>
              <a:avLst/>
              <a:gdLst/>
              <a:ahLst/>
              <a:cxnLst/>
              <a:rect l="l" t="t" r="r" b="b"/>
              <a:pathLst>
                <a:path w="542925" h="285750">
                  <a:moveTo>
                    <a:pt x="0" y="285750"/>
                  </a:moveTo>
                  <a:lnTo>
                    <a:pt x="542925" y="285750"/>
                  </a:lnTo>
                  <a:lnTo>
                    <a:pt x="542925" y="0"/>
                  </a:lnTo>
                  <a:lnTo>
                    <a:pt x="0" y="0"/>
                  </a:lnTo>
                  <a:lnTo>
                    <a:pt x="0" y="28575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44B4E78B-A3E9-4A3A-8B77-F7611138ED81}"/>
                </a:ext>
              </a:extLst>
            </p:cNvPr>
            <p:cNvSpPr/>
            <p:nvPr/>
          </p:nvSpPr>
          <p:spPr>
            <a:xfrm>
              <a:off x="147637" y="690626"/>
              <a:ext cx="542925" cy="295275"/>
            </a:xfrm>
            <a:custGeom>
              <a:avLst/>
              <a:gdLst/>
              <a:ahLst/>
              <a:cxnLst/>
              <a:rect l="l" t="t" r="r" b="b"/>
              <a:pathLst>
                <a:path w="542925" h="295275">
                  <a:moveTo>
                    <a:pt x="542925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542925" y="295275"/>
                  </a:lnTo>
                  <a:lnTo>
                    <a:pt x="542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C91F4045-4294-431B-B35C-3E2244E96CF1}"/>
                </a:ext>
              </a:extLst>
            </p:cNvPr>
            <p:cNvSpPr/>
            <p:nvPr/>
          </p:nvSpPr>
          <p:spPr>
            <a:xfrm>
              <a:off x="147637" y="690626"/>
              <a:ext cx="542925" cy="295275"/>
            </a:xfrm>
            <a:custGeom>
              <a:avLst/>
              <a:gdLst/>
              <a:ahLst/>
              <a:cxnLst/>
              <a:rect l="l" t="t" r="r" b="b"/>
              <a:pathLst>
                <a:path w="542925" h="295275">
                  <a:moveTo>
                    <a:pt x="0" y="295275"/>
                  </a:moveTo>
                  <a:lnTo>
                    <a:pt x="542925" y="295275"/>
                  </a:lnTo>
                  <a:lnTo>
                    <a:pt x="542925" y="0"/>
                  </a:lnTo>
                  <a:lnTo>
                    <a:pt x="0" y="0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3">
            <a:extLst>
              <a:ext uri="{FF2B5EF4-FFF2-40B4-BE49-F238E27FC236}">
                <a16:creationId xmlns:a16="http://schemas.microsoft.com/office/drawing/2014/main" id="{1628DEF5-08BD-4CBD-8FF7-A1EA09801C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7775" y="2474423"/>
            <a:ext cx="2870652" cy="222948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749807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Where does the isoform diversity live?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585216"/>
            <a:ext cx="8595359" cy="310896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46AB"/>
                </a:solidFill>
                <a:latin typeface="Arial"/>
              </a:rPr>
              <a:t>Bulk and pseudobulk give one number per group. A gene at PSI = 0.50 can hide two very different cell populations: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78992"/>
            <a:ext cx="3794760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52144"/>
            <a:ext cx="361188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Intra-cellular diversity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22B38"/>
                </a:solidFill>
                <a:latin typeface="Arial"/>
              </a:rPr>
              <a:t>every cell co-expresses both isoforms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0724" y="1682495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03604" y="1682495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20724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32788" y="1682495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15668" y="1682495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32788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44852" y="1682495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27732" y="1682495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244852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56916" y="1682495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39796" y="1682495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56916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20724" y="2194560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03604" y="2194560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20724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732788" y="2194560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15668" y="2194560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732788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44852" y="2194560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27732" y="2194560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244852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56916" y="2194560"/>
            <a:ext cx="18288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39796" y="2194560"/>
            <a:ext cx="18288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756916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2633472"/>
            <a:ext cx="3611880" cy="256032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0"/>
                </a:solidFill>
                <a:latin typeface="Arial"/>
              </a:rPr>
              <a:t>average PSI = 0.50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1078992"/>
            <a:ext cx="3794760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1152144"/>
            <a:ext cx="361188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0046AB"/>
                </a:solidFill>
                <a:latin typeface="Arial"/>
              </a:rPr>
              <a:t>Inter-cellular diversity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22B38"/>
                </a:solidFill>
                <a:latin typeface="Arial"/>
              </a:rPr>
              <a:t>each cell is committed to one isoform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29884" y="1682495"/>
            <a:ext cx="36576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929884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41948" y="1682495"/>
            <a:ext cx="36576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41948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54012" y="1682495"/>
            <a:ext cx="36576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954012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66076" y="1682495"/>
            <a:ext cx="36576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466076" y="1682495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29884" y="2194560"/>
            <a:ext cx="36576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929884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1948" y="2194560"/>
            <a:ext cx="36576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41948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954012" y="2194560"/>
            <a:ext cx="365760" cy="365760"/>
          </a:xfrm>
          <a:prstGeom prst="rect">
            <a:avLst/>
          </a:prstGeom>
          <a:solidFill>
            <a:srgbClr val="E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954012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466076" y="2194560"/>
            <a:ext cx="365760" cy="365760"/>
          </a:xfrm>
          <a:prstGeom prst="rect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466076" y="2194560"/>
            <a:ext cx="365760" cy="365760"/>
          </a:xfrm>
          <a:prstGeom prst="roundRect">
            <a:avLst>
              <a:gd name="adj" fmla="val 30000"/>
            </a:avLst>
          </a:prstGeom>
          <a:noFill/>
          <a:ln w="12700">
            <a:solidFill>
              <a:srgbClr val="99A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74920" y="2633472"/>
            <a:ext cx="3611880" cy="256032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6B7280"/>
                </a:solidFill>
                <a:latin typeface="Arial"/>
              </a:rPr>
              <a:t>average PSI = 0.50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1828800"/>
            <a:ext cx="548640" cy="36576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6B7280"/>
                </a:solidFill>
                <a:latin typeface="Arial"/>
              </a:rPr>
              <a:t>vs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2331720" y="3017520"/>
            <a:ext cx="274320" cy="23774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Down Arrow 54"/>
          <p:cNvSpPr/>
          <p:nvPr/>
        </p:nvSpPr>
        <p:spPr>
          <a:xfrm>
            <a:off x="6400800" y="3017520"/>
            <a:ext cx="274320" cy="237744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331720" y="3310128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 w="13970">
            <a:solidFill>
              <a:srgbClr val="2E7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46AB"/>
                </a:solidFill>
                <a:latin typeface="Arial"/>
              </a:rPr>
              <a:t>Bulk / pseudobulk sees PSI = 0.50 in BOTH — they look identical.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4320" y="3913632"/>
            <a:ext cx="8595359" cy="566928"/>
          </a:xfrm>
          <a:prstGeom prst="roundRect">
            <a:avLst>
              <a:gd name="adj" fmla="val 10000"/>
            </a:avLst>
          </a:prstGeom>
          <a:solidFill>
            <a:srgbClr val="FCEFDF"/>
          </a:solidFill>
          <a:ln w="15240">
            <a:solidFill>
              <a:srgbClr val="E8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222B38"/>
                </a:solidFill>
                <a:latin typeface="Arial"/>
              </a:rPr>
              <a:t>Only single-cell isoforms separate three levels: </a:t>
            </a:r>
            <a:r>
              <a:rPr sz="1050" b="1" i="0" dirty="0">
                <a:solidFill>
                  <a:srgbClr val="E8821E"/>
                </a:solidFill>
                <a:latin typeface="Arial"/>
              </a:rPr>
              <a:t>within a cell · between cells of one type · between cell types.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C915DE-3604-65F2-90C5-60403EE3A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4A1757-BEF4-225A-0A0D-1BD7DCE7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882304" cy="246221"/>
          </a:xfrm>
        </p:spPr>
        <p:txBody>
          <a:bodyPr/>
          <a:lstStyle/>
          <a:p>
            <a:r>
              <a:rPr lang="en-US" dirty="0"/>
              <a:t>The limitations of length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377A1-9CB3-4EE0-8FF6-269DC997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41" y="673302"/>
            <a:ext cx="7283824" cy="2178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5F28DD-0A82-499F-8BE1-9AE5BA55F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37" y="2942325"/>
            <a:ext cx="7436232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087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6C2E09-C85A-4923-AE83-EB5C8BA4C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BF767-C656-4949-A1BE-987685A9F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50" y="691623"/>
            <a:ext cx="6745900" cy="4032306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2EF82E99-349F-4885-990A-0A43ED77D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3" y="109538"/>
            <a:ext cx="7883525" cy="341312"/>
          </a:xfrm>
        </p:spPr>
        <p:txBody>
          <a:bodyPr/>
          <a:lstStyle/>
          <a:p>
            <a:r>
              <a:rPr lang="en-US" dirty="0"/>
              <a:t>The limitations of length</a:t>
            </a:r>
          </a:p>
        </p:txBody>
      </p:sp>
    </p:spTree>
    <p:extLst>
      <p:ext uri="{BB962C8B-B14F-4D97-AF65-F5344CB8AC3E}">
        <p14:creationId xmlns:p14="http://schemas.microsoft.com/office/powerpoint/2010/main" val="1478986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Question</a:t>
            </a:r>
            <a:r>
              <a:rPr spc="65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1" name="card 21"/>
          <p:cNvSpPr/>
          <p:nvPr/>
        </p:nvSpPr>
        <p:spPr>
          <a:xfrm>
            <a:off x="502920" y="1078992"/>
            <a:ext cx="8138160" cy="9631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20000" dir="5400000" rotWithShape="0">
              <a:srgbClr val="0046A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badge 1"/>
          <p:cNvSpPr/>
          <p:nvPr/>
        </p:nvSpPr>
        <p:spPr>
          <a:xfrm>
            <a:off x="777240" y="1310152"/>
            <a:ext cx="500847" cy="500847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vert="horz" wrap="square"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3" name="cardtext 23"/>
          <p:cNvSpPr txBox="1"/>
          <p:nvPr/>
        </p:nvSpPr>
        <p:spPr>
          <a:xfrm>
            <a:off x="1552407" y="1170432"/>
            <a:ext cx="6814353" cy="780288"/>
          </a:xfrm>
          <a:prstGeom prst="rect">
            <a:avLst/>
          </a:prstGeom>
        </p:spPr>
        <p:txBody>
          <a:bodyPr vert="horz" wrap="square" lIns="0" tIns="0" rIns="0" bIns="0" anchor="ctr"/>
          <a:lstStyle/>
          <a:p>
            <a:pPr marL="0" indent="0">
              <a:lnSpc>
                <a:spcPct val="104000"/>
              </a:lnSpc>
            </a:pPr>
            <a:r>
              <a:rPr sz="1800" dirty="0">
                <a:solidFill>
                  <a:srgbClr val="2B2B2B"/>
                </a:solidFill>
                <a:latin typeface="Arial"/>
                <a:cs typeface="Arial"/>
              </a:rPr>
              <a:t>Why is normalisation a crucial step of single cell analysis?</a:t>
            </a:r>
          </a:p>
        </p:txBody>
      </p:sp>
      <p:sp>
        <p:nvSpPr>
          <p:cNvPr id="24" name="card 24"/>
          <p:cNvSpPr/>
          <p:nvPr/>
        </p:nvSpPr>
        <p:spPr>
          <a:xfrm>
            <a:off x="502920" y="2243328"/>
            <a:ext cx="8138160" cy="9631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20000" dir="5400000" rotWithShape="0">
              <a:srgbClr val="0046A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badge 2"/>
          <p:cNvSpPr/>
          <p:nvPr/>
        </p:nvSpPr>
        <p:spPr>
          <a:xfrm>
            <a:off x="777240" y="2474488"/>
            <a:ext cx="500847" cy="500847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vert="horz" wrap="square"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6" name="cardtext 26"/>
          <p:cNvSpPr txBox="1"/>
          <p:nvPr/>
        </p:nvSpPr>
        <p:spPr>
          <a:xfrm>
            <a:off x="1552407" y="2334768"/>
            <a:ext cx="6814353" cy="780288"/>
          </a:xfrm>
          <a:prstGeom prst="rect">
            <a:avLst/>
          </a:prstGeom>
        </p:spPr>
        <p:txBody>
          <a:bodyPr vert="horz" wrap="square" lIns="0" tIns="0" rIns="0" bIns="0" anchor="ctr"/>
          <a:lstStyle/>
          <a:p>
            <a:pPr marL="0" indent="0">
              <a:lnSpc>
                <a:spcPct val="104000"/>
              </a:lnSpc>
            </a:pPr>
            <a:r>
              <a:rPr sz="1800" dirty="0">
                <a:solidFill>
                  <a:srgbClr val="2B2B2B"/>
                </a:solidFill>
                <a:latin typeface="Arial"/>
                <a:cs typeface="Arial"/>
              </a:rPr>
              <a:t>Should I do dimensionality reduction and clustering on gene or isoform features?</a:t>
            </a:r>
          </a:p>
        </p:txBody>
      </p:sp>
      <p:sp>
        <p:nvSpPr>
          <p:cNvPr id="27" name="card 27"/>
          <p:cNvSpPr/>
          <p:nvPr/>
        </p:nvSpPr>
        <p:spPr>
          <a:xfrm>
            <a:off x="502920" y="3407664"/>
            <a:ext cx="8138160" cy="9631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6F2"/>
            </a:solidFill>
          </a:ln>
          <a:effectLst>
            <a:outerShdw blurRad="40000" dist="20000" dir="5400000" rotWithShape="0">
              <a:srgbClr val="0046AB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badge 3"/>
          <p:cNvSpPr/>
          <p:nvPr/>
        </p:nvSpPr>
        <p:spPr>
          <a:xfrm>
            <a:off x="777240" y="3638824"/>
            <a:ext cx="500847" cy="500847"/>
          </a:xfrm>
          <a:prstGeom prst="ellipse">
            <a:avLst/>
          </a:prstGeom>
          <a:solidFill>
            <a:srgbClr val="FF8B00"/>
          </a:solidFill>
          <a:ln>
            <a:noFill/>
          </a:ln>
        </p:spPr>
        <p:txBody>
          <a:bodyPr vert="horz" wrap="square" lIns="0" tIns="0" rIns="0" bIns="0" anchor="ctr" anchorCtr="1"/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9" name="cardtext 29"/>
          <p:cNvSpPr txBox="1"/>
          <p:nvPr/>
        </p:nvSpPr>
        <p:spPr>
          <a:xfrm>
            <a:off x="1552407" y="3499104"/>
            <a:ext cx="6814353" cy="780288"/>
          </a:xfrm>
          <a:prstGeom prst="rect">
            <a:avLst/>
          </a:prstGeom>
        </p:spPr>
        <p:txBody>
          <a:bodyPr vert="horz" wrap="square" lIns="0" tIns="0" rIns="0" bIns="0" anchor="ctr"/>
          <a:lstStyle/>
          <a:p>
            <a:pPr marL="0" indent="0">
              <a:lnSpc>
                <a:spcPct val="104000"/>
              </a:lnSpc>
            </a:pPr>
            <a:r>
              <a:rPr sz="1800" dirty="0">
                <a:solidFill>
                  <a:srgbClr val="2B2B2B"/>
                </a:solidFill>
                <a:latin typeface="Arial"/>
                <a:cs typeface="Arial"/>
              </a:rPr>
              <a:t>When aggregating cells (pseudobulk, metacells, etc.), what do we trade off as we increase the number of cells aggregated into a single unit?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367" y="115252"/>
            <a:ext cx="714057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Practical</a:t>
            </a:r>
            <a:r>
              <a:rPr sz="15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session :</a:t>
            </a:r>
            <a:r>
              <a:rPr sz="1550" b="1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Exploring</a:t>
            </a:r>
            <a:r>
              <a:rPr sz="1550" b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Differential Isoform</a:t>
            </a: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Usage</a:t>
            </a:r>
            <a:r>
              <a:rPr sz="15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55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b="1" spc="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Mouse</a:t>
            </a:r>
            <a:r>
              <a:rPr sz="155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FFFFFF"/>
                </a:solidFill>
                <a:latin typeface="Arial"/>
                <a:cs typeface="Arial"/>
              </a:rPr>
              <a:t>Brain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718415"/>
            <a:ext cx="3276600" cy="29202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Long-</a:t>
            </a:r>
            <a:r>
              <a:rPr dirty="0"/>
              <a:t>reads</a:t>
            </a:r>
            <a:r>
              <a:rPr spc="30" dirty="0"/>
              <a:t> </a:t>
            </a:r>
            <a:r>
              <a:rPr spc="-10" dirty="0"/>
              <a:t>Transcriptomics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189CA200-B0E6-457B-826A-83F2EA49C1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560" y="610895"/>
            <a:ext cx="3493962" cy="11075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02FB028-F0BF-4D55-B0FD-528D0F75E5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7515" y="604819"/>
            <a:ext cx="4381500" cy="41044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 descr="preencoded.png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4143375" y="2981325"/>
              <a:ext cx="857250" cy="28575"/>
            </a:xfrm>
            <a:custGeom>
              <a:avLst/>
              <a:gdLst/>
              <a:ahLst/>
              <a:cxnLst/>
              <a:rect l="l" t="t" r="r" b="b"/>
              <a:pathLst>
                <a:path w="857250" h="28575">
                  <a:moveTo>
                    <a:pt x="85725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857250" y="28575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568953" y="1243964"/>
            <a:ext cx="201358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dirty="0"/>
              <a:t>Thank</a:t>
            </a:r>
            <a:r>
              <a:rPr sz="2900" spc="-50" dirty="0"/>
              <a:t> </a:t>
            </a:r>
            <a:r>
              <a:rPr sz="2900" spc="-20" dirty="0"/>
              <a:t>You!</a:t>
            </a:r>
            <a:endParaRPr sz="2900"/>
          </a:p>
        </p:txBody>
      </p:sp>
      <p:grpSp>
        <p:nvGrpSpPr>
          <p:cNvPr id="7" name="object 7"/>
          <p:cNvGrpSpPr/>
          <p:nvPr/>
        </p:nvGrpSpPr>
        <p:grpSpPr>
          <a:xfrm>
            <a:off x="3857625" y="1905000"/>
            <a:ext cx="1428750" cy="1019175"/>
            <a:chOff x="3857625" y="1905000"/>
            <a:chExt cx="1428750" cy="1019175"/>
          </a:xfrm>
        </p:grpSpPr>
        <p:sp>
          <p:nvSpPr>
            <p:cNvPr id="8" name="object 8"/>
            <p:cNvSpPr/>
            <p:nvPr/>
          </p:nvSpPr>
          <p:spPr>
            <a:xfrm>
              <a:off x="4143375" y="1905000"/>
              <a:ext cx="857250" cy="28575"/>
            </a:xfrm>
            <a:custGeom>
              <a:avLst/>
              <a:gdLst/>
              <a:ahLst/>
              <a:cxnLst/>
              <a:rect l="l" t="t" r="r" b="b"/>
              <a:pathLst>
                <a:path w="857250" h="28575">
                  <a:moveTo>
                    <a:pt x="85725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857250" y="28575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7625" y="2219325"/>
              <a:ext cx="1428750" cy="7048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16226" y="3154362"/>
            <a:ext cx="4589780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3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13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1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LongTREC</a:t>
            </a:r>
            <a:r>
              <a:rPr sz="1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FFFFFF"/>
                </a:solidFill>
                <a:latin typeface="Arial MT"/>
                <a:cs typeface="Arial MT"/>
              </a:rPr>
              <a:t>Summer</a:t>
            </a:r>
            <a:r>
              <a:rPr sz="1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Arial MT"/>
                <a:cs typeface="Arial MT"/>
              </a:rPr>
              <a:t>School:</a:t>
            </a:r>
            <a:endParaRPr sz="1350">
              <a:latin typeface="Arial MT"/>
              <a:cs typeface="Arial MT"/>
            </a:endParaRPr>
          </a:p>
          <a:p>
            <a:pPr marR="56515" algn="ctr">
              <a:lnSpc>
                <a:spcPct val="100000"/>
              </a:lnSpc>
              <a:spcBef>
                <a:spcPts val="1535"/>
              </a:spcBef>
            </a:pPr>
            <a:r>
              <a:rPr sz="1350" b="1" spc="-10" dirty="0">
                <a:solidFill>
                  <a:srgbClr val="FF8B00"/>
                </a:solidFill>
                <a:latin typeface="Arial"/>
                <a:cs typeface="Arial"/>
                <a:hlinkClick r:id="rId4"/>
              </a:rPr>
              <a:t>https://longtrec.eu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1560</TotalTime>
  <Words>1614</Words>
  <Application>Microsoft Office PowerPoint</Application>
  <PresentationFormat>On-screen Show (16:9)</PresentationFormat>
  <Paragraphs>302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Arial MT</vt:lpstr>
      <vt:lpstr>Calibri</vt:lpstr>
      <vt:lpstr>Cambria Math</vt:lpstr>
      <vt:lpstr>Office Theme</vt:lpstr>
      <vt:lpstr>Bioinformatics Summer School</vt:lpstr>
      <vt:lpstr>Section 4</vt:lpstr>
      <vt:lpstr>Why Single Cell?</vt:lpstr>
      <vt:lpstr>PowerPoint Presentation</vt:lpstr>
      <vt:lpstr>PowerPoint Presentation</vt:lpstr>
      <vt:lpstr>Why Single Cell?</vt:lpstr>
      <vt:lpstr>PowerPoint Presentation</vt:lpstr>
      <vt:lpstr>PowerPoint Presentation</vt:lpstr>
      <vt:lpstr>Limitations of short 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promise of single cell long reads</vt:lpstr>
      <vt:lpstr>PowerPoint Presentation</vt:lpstr>
      <vt:lpstr>Section 4</vt:lpstr>
      <vt:lpstr>Library curation</vt:lpstr>
      <vt:lpstr>PowerPoint Presentation</vt:lpstr>
      <vt:lpstr>What do we need to begin tertiary analysis of Isoforms at Single Cell Resolution?</vt:lpstr>
      <vt:lpstr>PowerPoint Presentation</vt:lpstr>
      <vt:lpstr>PowerPoint Presentation</vt:lpstr>
      <vt:lpstr>PowerPoint Presentation</vt:lpstr>
      <vt:lpstr>PowerPoint Presentation</vt:lpstr>
      <vt:lpstr>Do I define my clusters on Gene or Isoform Features?</vt:lpstr>
      <vt:lpstr>PowerPoint Presentation</vt:lpstr>
      <vt:lpstr>Pseudobulk</vt:lpstr>
      <vt:lpstr>PowerPoint Presentation</vt:lpstr>
      <vt:lpstr>PowerPoint Presentation</vt:lpstr>
      <vt:lpstr>Percent spliced in as a metric for Isoform changes</vt:lpstr>
      <vt:lpstr>PowerPoint Presentation</vt:lpstr>
      <vt:lpstr>PowerPoint Presentation</vt:lpstr>
      <vt:lpstr>Isoform switching Across a differentiation trajectory</vt:lpstr>
      <vt:lpstr>PowerPoint Presentation</vt:lpstr>
      <vt:lpstr>The limitations of length</vt:lpstr>
      <vt:lpstr>The limitations of length</vt:lpstr>
      <vt:lpstr>Question Time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Summer School</dc:title>
  <dc:creator>IPMC</dc:creator>
  <cp:lastModifiedBy>IPMC</cp:lastModifiedBy>
  <cp:revision>21</cp:revision>
  <dcterms:created xsi:type="dcterms:W3CDTF">2026-06-26T07:01:27Z</dcterms:created>
  <dcterms:modified xsi:type="dcterms:W3CDTF">2026-06-27T09:10:11Z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2025-07-17T00:00:00Z</vt:filetime>
  </property>
  <property fmtid="{D5CDD505-2E9C-101B-9397-08002B2CF9AE}" pid="4" name="LastSaved">
    <vt:filetime>2026-06-26T00:00:00Z</vt:filetime>
  </property>
</Properties>
</file>