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67" r:id="rId2"/>
    <p:sldId id="276" r:id="rId3"/>
    <p:sldId id="277" r:id="rId4"/>
    <p:sldId id="278" r:id="rId5"/>
    <p:sldId id="294" r:id="rId6"/>
    <p:sldId id="279" r:id="rId7"/>
    <p:sldId id="317" r:id="rId8"/>
    <p:sldId id="318" r:id="rId9"/>
    <p:sldId id="319" r:id="rId10"/>
    <p:sldId id="280" r:id="rId11"/>
    <p:sldId id="281" r:id="rId12"/>
    <p:sldId id="282" r:id="rId13"/>
    <p:sldId id="300" r:id="rId14"/>
    <p:sldId id="301" r:id="rId15"/>
    <p:sldId id="302" r:id="rId16"/>
    <p:sldId id="303" r:id="rId17"/>
    <p:sldId id="283" r:id="rId18"/>
    <p:sldId id="304" r:id="rId19"/>
    <p:sldId id="305" r:id="rId20"/>
    <p:sldId id="306" r:id="rId21"/>
    <p:sldId id="307" r:id="rId22"/>
    <p:sldId id="284" r:id="rId23"/>
    <p:sldId id="308" r:id="rId24"/>
    <p:sldId id="309" r:id="rId25"/>
    <p:sldId id="285" r:id="rId26"/>
    <p:sldId id="310" r:id="rId27"/>
    <p:sldId id="311" r:id="rId28"/>
    <p:sldId id="286" r:id="rId29"/>
    <p:sldId id="287" r:id="rId30"/>
    <p:sldId id="313" r:id="rId31"/>
    <p:sldId id="314" r:id="rId32"/>
    <p:sldId id="315" r:id="rId33"/>
    <p:sldId id="288" r:id="rId34"/>
    <p:sldId id="316" r:id="rId35"/>
    <p:sldId id="320" r:id="rId36"/>
    <p:sldId id="321" r:id="rId37"/>
    <p:sldId id="325" r:id="rId38"/>
    <p:sldId id="326" r:id="rId39"/>
    <p:sldId id="324" r:id="rId40"/>
    <p:sldId id="322" r:id="rId41"/>
    <p:sldId id="329" r:id="rId42"/>
    <p:sldId id="328" r:id="rId43"/>
    <p:sldId id="330" r:id="rId44"/>
    <p:sldId id="327" r:id="rId45"/>
    <p:sldId id="323" r:id="rId46"/>
    <p:sldId id="332" r:id="rId47"/>
    <p:sldId id="333" r:id="rId48"/>
    <p:sldId id="289" r:id="rId49"/>
    <p:sldId id="291" r:id="rId50"/>
    <p:sldId id="290" r:id="rId51"/>
    <p:sldId id="292" r:id="rId52"/>
    <p:sldId id="293" r:id="rId53"/>
    <p:sldId id="297" r:id="rId54"/>
    <p:sldId id="261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FFFF"/>
    <a:srgbClr val="F28C29"/>
    <a:srgbClr val="0047AB"/>
    <a:srgbClr val="FF8C00"/>
    <a:srgbClr val="139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23"/>
    <p:restoredTop sz="94610"/>
  </p:normalViewPr>
  <p:slideViewPr>
    <p:cSldViewPr snapToGrid="0" snapToObjects="1">
      <p:cViewPr>
        <p:scale>
          <a:sx n="130" d="100"/>
          <a:sy n="130" d="100"/>
        </p:scale>
        <p:origin x="3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42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_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6D3A1BF-6F1C-B281-8ED0-F5681273C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3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B86AE03-3878-2139-4099-A4BE803FBB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834A7C44-3189-2592-E83C-B4D6B367BA93}"/>
              </a:ext>
            </a:extLst>
          </p:cNvPr>
          <p:cNvSpPr/>
          <p:nvPr userDrawn="1"/>
        </p:nvSpPr>
        <p:spPr>
          <a:xfrm>
            <a:off x="4143375" y="2982516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333900A-0A21-91D6-0BC6-72F9C3601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656EB34-8BEF-729F-C7A4-B3F1264C1A7B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2566EAF-8BB7-C913-B2B0-C1CA21CADFB2}"/>
              </a:ext>
            </a:extLst>
          </p:cNvPr>
          <p:cNvSpPr/>
          <p:nvPr userDrawn="1"/>
        </p:nvSpPr>
        <p:spPr>
          <a:xfrm>
            <a:off x="278977" y="496652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63DEA6DA-0035-52E8-C3CD-8F955E965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84A4C2B4-7358-EEA5-8321-7784F71C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88230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3402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BDB3EC4-127B-8DB8-0B65-11DFC2A243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52A0FAE-5DD7-9140-68BC-11C57A5E7F25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6FA9A19-3EE1-AE33-1451-7F5DFA685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4025" y="114300"/>
            <a:ext cx="584225" cy="285750"/>
          </a:xfrm>
          <a:prstGeom prst="rect">
            <a:avLst/>
          </a:prstGeom>
        </p:spPr>
      </p:pic>
      <p:sp>
        <p:nvSpPr>
          <p:cNvPr id="6" name="Shape 13">
            <a:extLst>
              <a:ext uri="{FF2B5EF4-FFF2-40B4-BE49-F238E27FC236}">
                <a16:creationId xmlns:a16="http://schemas.microsoft.com/office/drawing/2014/main" id="{9F487DB7-7893-6F35-257B-69A287402663}"/>
              </a:ext>
            </a:extLst>
          </p:cNvPr>
          <p:cNvSpPr/>
          <p:nvPr userDrawn="1"/>
        </p:nvSpPr>
        <p:spPr>
          <a:xfrm>
            <a:off x="0" y="4850606"/>
            <a:ext cx="9144000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4F95E02-841A-592C-6ED8-65F90CAC75EB}"/>
              </a:ext>
            </a:extLst>
          </p:cNvPr>
          <p:cNvSpPr/>
          <p:nvPr userDrawn="1"/>
        </p:nvSpPr>
        <p:spPr>
          <a:xfrm>
            <a:off x="278977" y="493549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4796D1D-577A-6319-1CA1-19E59E8A9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71F105-4880-47AF-28B3-B781B2D4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88230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6065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43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37D2A66-D3EB-75E4-B05B-CB20DB265198}"/>
              </a:ext>
            </a:extLst>
          </p:cNvPr>
          <p:cNvSpPr/>
          <p:nvPr/>
        </p:nvSpPr>
        <p:spPr>
          <a:xfrm>
            <a:off x="1983116" y="2314575"/>
            <a:ext cx="51777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Identification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2A2202-2830-5D69-0C87-70AD17AE61BB}"/>
              </a:ext>
            </a:extLst>
          </p:cNvPr>
          <p:cNvSpPr/>
          <p:nvPr/>
        </p:nvSpPr>
        <p:spPr>
          <a:xfrm>
            <a:off x="2807061" y="2906823"/>
            <a:ext cx="35298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Long-Read RNA-seq</a:t>
            </a:r>
            <a:endParaRPr lang="en-US" sz="202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DAA440-B861-0240-74B2-DB786C53F3BA}"/>
              </a:ext>
            </a:extLst>
          </p:cNvPr>
          <p:cNvSpPr/>
          <p:nvPr/>
        </p:nvSpPr>
        <p:spPr>
          <a:xfrm>
            <a:off x="4134380" y="3579357"/>
            <a:ext cx="875241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Conesa  ·  VALT Summer School 2026</a:t>
            </a:r>
            <a:endParaRPr lang="en-US" sz="1238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0F6266-A92D-55B2-9424-1F5C35A674D1}"/>
              </a:ext>
            </a:extLst>
          </p:cNvPr>
          <p:cNvGrpSpPr/>
          <p:nvPr/>
        </p:nvGrpSpPr>
        <p:grpSpPr>
          <a:xfrm>
            <a:off x="0" y="4700588"/>
            <a:ext cx="9144000" cy="300037"/>
            <a:chOff x="0" y="4700588"/>
            <a:chExt cx="9144000" cy="300037"/>
          </a:xfrm>
        </p:grpSpPr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2D1C78B-2DB3-ECFC-B08D-64B438E39FF8}"/>
                </a:ext>
              </a:extLst>
            </p:cNvPr>
            <p:cNvSpPr/>
            <p:nvPr/>
          </p:nvSpPr>
          <p:spPr>
            <a:xfrm>
              <a:off x="0" y="4700588"/>
              <a:ext cx="9144000" cy="150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88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Conesa Lab · Genomics of Gene Expression — I2SysBio (CSIC–University of Valencia)</a:t>
              </a:r>
              <a:endParaRPr lang="en-US" sz="788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4E444D1-75E5-06DC-132D-2916EED5A15C}"/>
                </a:ext>
              </a:extLst>
            </p:cNvPr>
            <p:cNvSpPr/>
            <p:nvPr/>
          </p:nvSpPr>
          <p:spPr>
            <a:xfrm>
              <a:off x="0" y="4850606"/>
              <a:ext cx="9144000" cy="1500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788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VALT Summer Course · Long-Read Transcriptomics</a:t>
              </a:r>
              <a:endParaRPr lang="en-US" sz="788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300135-E5CE-8230-C572-3A6A3176462E}"/>
              </a:ext>
            </a:extLst>
          </p:cNvPr>
          <p:cNvGrpSpPr/>
          <p:nvPr/>
        </p:nvGrpSpPr>
        <p:grpSpPr>
          <a:xfrm>
            <a:off x="3420726" y="3976178"/>
            <a:ext cx="2302548" cy="518091"/>
            <a:chOff x="3827195" y="4043366"/>
            <a:chExt cx="2302548" cy="518091"/>
          </a:xfrm>
        </p:grpSpPr>
        <p:sp>
          <p:nvSpPr>
            <p:cNvPr id="11" name="Snip Diagonal Corner Rectangle 10">
              <a:extLst>
                <a:ext uri="{FF2B5EF4-FFF2-40B4-BE49-F238E27FC236}">
                  <a16:creationId xmlns:a16="http://schemas.microsoft.com/office/drawing/2014/main" id="{D92FC9AA-F839-F6FB-F65D-70E0C0E0A36A}"/>
                </a:ext>
              </a:extLst>
            </p:cNvPr>
            <p:cNvSpPr/>
            <p:nvPr/>
          </p:nvSpPr>
          <p:spPr>
            <a:xfrm rot="10800000">
              <a:off x="3862915" y="4123817"/>
              <a:ext cx="2231109" cy="357188"/>
            </a:xfrm>
            <a:prstGeom prst="snip2Diag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DDBDE0B7-627D-613E-ED45-017301D63A48}"/>
                </a:ext>
              </a:extLst>
            </p:cNvPr>
            <p:cNvSpPr/>
            <p:nvPr/>
          </p:nvSpPr>
          <p:spPr>
            <a:xfrm>
              <a:off x="3827195" y="4043366"/>
              <a:ext cx="2302548" cy="518091"/>
            </a:xfrm>
            <a:prstGeom prst="rect">
              <a:avLst/>
            </a:prstGeom>
            <a:noFill/>
            <a:ln/>
          </p:spPr>
          <p:txBody>
            <a:bodyPr wrap="square" lIns="170053" tIns="85090" rIns="170053" bIns="8509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25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Spanish National Research Council, ES</a:t>
              </a:r>
              <a:endParaRPr lang="en-US" sz="1125" dirty="0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292608" y="274320"/>
            <a:ext cx="2103120" cy="9326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ones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8598"/>
            <a:ext cx="1920239" cy="72413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760720" y="310896"/>
            <a:ext cx="178308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2sysb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3" y="410291"/>
            <a:ext cx="1673352" cy="36813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635240" y="274320"/>
            <a:ext cx="1188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s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64441"/>
            <a:ext cx="1060704" cy="25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From error-prone long reads to a curated, quantified transcriptome — and the algorithms that get us there.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3504" y="1289304"/>
            <a:ext cx="384048" cy="384048"/>
          </a:xfrm>
          <a:prstGeom prst="ellipse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261872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Why long reads?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554480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Full-length isoforms vs. the short-read assembly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143000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09744" y="1289304"/>
            <a:ext cx="384048" cy="384048"/>
          </a:xfrm>
          <a:prstGeom prst="ellipse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1261872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The identification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1554480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What is hard, and why precision is the bottleneck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3504" y="2478024"/>
            <a:ext cx="384048" cy="384048"/>
          </a:xfrm>
          <a:prstGeom prst="ellipse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2450591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A map of the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2743199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Cluster · graph · class-based; reference-free; annotation-driven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331720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09744" y="2478024"/>
            <a:ext cx="384048" cy="384048"/>
          </a:xfrm>
          <a:prstGeom prst="ellipse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450591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Seven algorithms in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743199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Iso-Seq · FLAIR · Bambu · IsoQuant · isONclust · lr-kallisto · Oarfish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520439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03504" y="3666744"/>
            <a:ext cx="384048" cy="384048"/>
          </a:xfrm>
          <a:prstGeom prst="ellipse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639311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What benchmarks tell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3931920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LRGASP &amp; friends — accuracy, power, reproducibility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63440" y="3520439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9744" y="3666744"/>
            <a:ext cx="384048" cy="384048"/>
          </a:xfrm>
          <a:prstGeom prst="ellipse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0096" y="3639311"/>
            <a:ext cx="3328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Choosing &amp; evaluating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3931920"/>
            <a:ext cx="3328415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SQANTI3 categories and a practical decision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long reads for transcriptomics?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A transcript is a full chain of exons. Short reads see fragments; long reads see the molecule.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417320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3075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Short reads (50–150 bp)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Fragment every transcript, then must computationally RE-ASSEMBLE isoforms from overlapping pieces. Splice combinations are inferred, not observed → ambiguity, and reads shared between isoforms cannot be assigned uniquely.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54864" cy="141732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13075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Long reads (PacBio HiFi / ONT)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60020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Span the FULL transcript in a single read — the exact exon chain, TSS and TTS are observed directly. Isoform structure becomes a measurement rather than an inference; read-to-isoform assignment is far less ambiguous.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8321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Direct isoform resolution —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novel isoforms, alternative TSS/TTS, fusion &amp; chimeric transcripts seen end-to-end.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More power for differential transcript expression —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less read-sharing ambiguity than short reads at equal depth (LRGASP).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The trade-off: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higher per-base error (esp. ONT) and shorter library fragments bias → the analysis problem moves from assembly to error-tolerant model building.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Two platforms, two regimes: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PacBio HiFi = high accuracy, broad length range; ONT = longest reads + native RNA / modifications.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Arial"/>
              </a:rPr>
              <a:t>Source: Monzó, Liu &amp; Conesa, Nat Rev Genet 2025 — “Transcriptomics in the era of long-read sequencing”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Two goals: identification &amp;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Transcript identification and quantification are the primary goals of long-read RNA-seq.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" cy="18288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1 · Transcript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45920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Infer the set of transcript MODELS present — the exon/intron structures — from the reads, with or without a reference annotation.
→ Enables NOVEL isoform discovery.
→ Computationally intensive.
→ Output: an experiment-defined transcriptome.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34440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54864" cy="18288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13533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2 · Transcript QUANTIFICATION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645920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Estimate the abundance of each transcript by assigning reads to models.
→ On a NEW transcriptome (after identification), or
→ Directly on a reference transcriptome (pseudo-mapping).
→ Fast, but reference-only misses novel isoforms.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83210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28C2A"/>
                </a:solidFill>
                <a:latin typeface="Arial"/>
              </a:rPr>
              <a:t>The catch with long-read data: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Arial"/>
              </a:rPr>
              <a:t>lrRNA-seq characteristically detects a large number of NOVEL transcripts (albeit of low expression). Reference annotations are therefore expected to be incomplete — which biases pure annotation-based read assignment and makes identification, not just quantification, unavoidable for most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0ffb25775_1_166"/>
          <p:cNvSpPr txBox="1"/>
          <p:nvPr/>
        </p:nvSpPr>
        <p:spPr>
          <a:xfrm>
            <a:off x="127861" y="-130328"/>
            <a:ext cx="7461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4"/>
              </a:buClr>
              <a:buSzPts val="2400"/>
              <a:buFont typeface="Open Sans Light"/>
              <a:buNone/>
            </a:pPr>
            <a:r>
              <a:rPr lang="es-ES" sz="2400" b="0" i="0" u="none" strike="noStrike" cap="none" dirty="0" err="1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But</a:t>
            </a:r>
            <a:r>
              <a:rPr lang="es-ES" sz="2400" b="0" i="0" u="none" strike="noStrike" cap="none" dirty="0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…. Long </a:t>
            </a:r>
            <a:r>
              <a:rPr lang="es-ES" sz="2400" b="0" i="0" u="none" strike="noStrike" cap="none" dirty="0" err="1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reads</a:t>
            </a:r>
            <a:r>
              <a:rPr lang="es-ES" sz="2400" b="0" i="0" u="none" strike="noStrike" cap="none" dirty="0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are </a:t>
            </a:r>
            <a:r>
              <a:rPr lang="es-ES" sz="2400" b="0" i="0" u="none" strike="noStrike" cap="none" dirty="0" err="1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noisy</a:t>
            </a:r>
            <a:r>
              <a:rPr lang="es-ES" sz="2400" b="0" i="0" u="none" strike="noStrike" cap="none" dirty="0">
                <a:solidFill>
                  <a:srgbClr val="3B3B3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….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ounded Rectangle 11">
            <a:extLst>
              <a:ext uri="{FF2B5EF4-FFF2-40B4-BE49-F238E27FC236}">
                <a16:creationId xmlns:a16="http://schemas.microsoft.com/office/drawing/2014/main" id="{5E9C00FE-C495-DC97-08F1-5C251628AFEF}"/>
              </a:ext>
            </a:extLst>
          </p:cNvPr>
          <p:cNvSpPr/>
          <p:nvPr/>
        </p:nvSpPr>
        <p:spPr>
          <a:xfrm>
            <a:off x="565619" y="1052834"/>
            <a:ext cx="246239" cy="3342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EF67F04B-9F3A-C7EF-E4FB-68C7F682187E}"/>
              </a:ext>
            </a:extLst>
          </p:cNvPr>
          <p:cNvSpPr txBox="1"/>
          <p:nvPr/>
        </p:nvSpPr>
        <p:spPr>
          <a:xfrm>
            <a:off x="400878" y="1051792"/>
            <a:ext cx="1410964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 u="sng" dirty="0">
                <a:solidFill>
                  <a:schemeClr val="tx2">
                    <a:lumMod val="50000"/>
                  </a:schemeClr>
                </a:solidFill>
                <a:latin typeface="Avenir Book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Long-reads methods</a:t>
            </a:r>
          </a:p>
        </p:txBody>
      </p:sp>
      <p:sp>
        <p:nvSpPr>
          <p:cNvPr id="4" name="TextBox 25">
            <a:extLst>
              <a:ext uri="{FF2B5EF4-FFF2-40B4-BE49-F238E27FC236}">
                <a16:creationId xmlns:a16="http://schemas.microsoft.com/office/drawing/2014/main" id="{F4024EDB-B13A-3CFA-D40C-73DFBC98FD92}"/>
              </a:ext>
            </a:extLst>
          </p:cNvPr>
          <p:cNvSpPr txBox="1"/>
          <p:nvPr/>
        </p:nvSpPr>
        <p:spPr>
          <a:xfrm rot="16200000">
            <a:off x="-408123" y="2518324"/>
            <a:ext cx="1165704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 u="sng" dirty="0">
                <a:solidFill>
                  <a:schemeClr val="tx2">
                    <a:lumMod val="50000"/>
                  </a:schemeClr>
                </a:solidFill>
                <a:latin typeface="Avenir Book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Human cell-lines</a:t>
            </a:r>
          </a:p>
        </p:txBody>
      </p:sp>
      <p:pic>
        <p:nvPicPr>
          <p:cNvPr id="5" name="Imagen 8">
            <a:extLst>
              <a:ext uri="{FF2B5EF4-FFF2-40B4-BE49-F238E27FC236}">
                <a16:creationId xmlns:a16="http://schemas.microsoft.com/office/drawing/2014/main" id="{B80E04A9-E014-04D0-188E-789EBF907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1"/>
          <a:stretch/>
        </p:blipFill>
        <p:spPr>
          <a:xfrm>
            <a:off x="289343" y="1254380"/>
            <a:ext cx="8453779" cy="2765328"/>
          </a:xfrm>
          <a:prstGeom prst="rect">
            <a:avLst/>
          </a:prstGeom>
        </p:spPr>
      </p:pic>
      <p:grpSp>
        <p:nvGrpSpPr>
          <p:cNvPr id="6" name="Group 65">
            <a:extLst>
              <a:ext uri="{FF2B5EF4-FFF2-40B4-BE49-F238E27FC236}">
                <a16:creationId xmlns:a16="http://schemas.microsoft.com/office/drawing/2014/main" id="{5D62F345-818D-27FC-F75A-27058F52D840}"/>
              </a:ext>
            </a:extLst>
          </p:cNvPr>
          <p:cNvGrpSpPr/>
          <p:nvPr/>
        </p:nvGrpSpPr>
        <p:grpSpPr>
          <a:xfrm>
            <a:off x="1818063" y="1059177"/>
            <a:ext cx="7327103" cy="3492918"/>
            <a:chOff x="1818063" y="1059177"/>
            <a:chExt cx="7327103" cy="3492918"/>
          </a:xfrm>
        </p:grpSpPr>
        <p:sp>
          <p:nvSpPr>
            <p:cNvPr id="7" name="Flecha: hacia abajo 9">
              <a:extLst>
                <a:ext uri="{FF2B5EF4-FFF2-40B4-BE49-F238E27FC236}">
                  <a16:creationId xmlns:a16="http://schemas.microsoft.com/office/drawing/2014/main" id="{5E9A2E8D-F50B-77D8-AEC4-B26D6A6C6CDD}"/>
                </a:ext>
              </a:extLst>
            </p:cNvPr>
            <p:cNvSpPr/>
            <p:nvPr/>
          </p:nvSpPr>
          <p:spPr>
            <a:xfrm>
              <a:off x="8687753" y="1379578"/>
              <a:ext cx="397824" cy="2509542"/>
            </a:xfrm>
            <a:prstGeom prst="downArrow">
              <a:avLst/>
            </a:prstGeom>
            <a:solidFill>
              <a:srgbClr val="2C91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8" name="Flecha: hacia abajo 13">
              <a:extLst>
                <a:ext uri="{FF2B5EF4-FFF2-40B4-BE49-F238E27FC236}">
                  <a16:creationId xmlns:a16="http://schemas.microsoft.com/office/drawing/2014/main" id="{EAA1C8D6-B628-8ECB-B8BB-5D274AF5FD05}"/>
                </a:ext>
              </a:extLst>
            </p:cNvPr>
            <p:cNvSpPr/>
            <p:nvPr/>
          </p:nvSpPr>
          <p:spPr>
            <a:xfrm rot="16200000">
              <a:off x="5006505" y="788160"/>
              <a:ext cx="397824" cy="6774707"/>
            </a:xfrm>
            <a:prstGeom prst="downArrow">
              <a:avLst/>
            </a:prstGeom>
            <a:solidFill>
              <a:srgbClr val="2C91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9" name="TextBox 53">
              <a:extLst>
                <a:ext uri="{FF2B5EF4-FFF2-40B4-BE49-F238E27FC236}">
                  <a16:creationId xmlns:a16="http://schemas.microsoft.com/office/drawing/2014/main" id="{054884DE-8C99-AD8B-7174-C83F6072A35A}"/>
                </a:ext>
              </a:extLst>
            </p:cNvPr>
            <p:cNvSpPr txBox="1"/>
            <p:nvPr/>
          </p:nvSpPr>
          <p:spPr>
            <a:xfrm>
              <a:off x="8040376" y="1059177"/>
              <a:ext cx="110479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Global patterns</a:t>
              </a:r>
            </a:p>
          </p:txBody>
        </p:sp>
        <p:sp>
          <p:nvSpPr>
            <p:cNvPr id="10" name="TextBox 54">
              <a:extLst>
                <a:ext uri="{FF2B5EF4-FFF2-40B4-BE49-F238E27FC236}">
                  <a16:creationId xmlns:a16="http://schemas.microsoft.com/office/drawing/2014/main" id="{F32CDFA0-2009-AD9F-7898-8099B2EBD724}"/>
                </a:ext>
              </a:extLst>
            </p:cNvPr>
            <p:cNvSpPr txBox="1"/>
            <p:nvPr/>
          </p:nvSpPr>
          <p:spPr>
            <a:xfrm>
              <a:off x="4691495" y="4305874"/>
              <a:ext cx="110479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Global patterns</a:t>
              </a:r>
            </a:p>
          </p:txBody>
        </p:sp>
      </p:grpSp>
      <p:grpSp>
        <p:nvGrpSpPr>
          <p:cNvPr id="11" name="Group 66">
            <a:extLst>
              <a:ext uri="{FF2B5EF4-FFF2-40B4-BE49-F238E27FC236}">
                <a16:creationId xmlns:a16="http://schemas.microsoft.com/office/drawing/2014/main" id="{023C2E7D-DDAB-AD3B-CFCD-A82E124418AE}"/>
              </a:ext>
            </a:extLst>
          </p:cNvPr>
          <p:cNvGrpSpPr/>
          <p:nvPr/>
        </p:nvGrpSpPr>
        <p:grpSpPr>
          <a:xfrm>
            <a:off x="1983828" y="993897"/>
            <a:ext cx="1401284" cy="1631175"/>
            <a:chOff x="1983828" y="993897"/>
            <a:chExt cx="1401284" cy="1631175"/>
          </a:xfrm>
        </p:grpSpPr>
        <p:sp>
          <p:nvSpPr>
            <p:cNvPr id="12" name="Elipse 26">
              <a:extLst>
                <a:ext uri="{FF2B5EF4-FFF2-40B4-BE49-F238E27FC236}">
                  <a16:creationId xmlns:a16="http://schemas.microsoft.com/office/drawing/2014/main" id="{32BF0527-3F96-EF05-A6B5-6D01CAEE1DFE}"/>
                </a:ext>
              </a:extLst>
            </p:cNvPr>
            <p:cNvSpPr/>
            <p:nvPr/>
          </p:nvSpPr>
          <p:spPr>
            <a:xfrm>
              <a:off x="2628899" y="1244872"/>
              <a:ext cx="109063" cy="1380200"/>
            </a:xfrm>
            <a:prstGeom prst="ellipse">
              <a:avLst/>
            </a:prstGeom>
            <a:noFill/>
            <a:ln w="19050">
              <a:solidFill>
                <a:srgbClr val="2C9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2C918B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3" name="Elipse 25">
              <a:extLst>
                <a:ext uri="{FF2B5EF4-FFF2-40B4-BE49-F238E27FC236}">
                  <a16:creationId xmlns:a16="http://schemas.microsoft.com/office/drawing/2014/main" id="{24D841D1-4E0A-FED8-15D0-04BBE0D03121}"/>
                </a:ext>
              </a:extLst>
            </p:cNvPr>
            <p:cNvSpPr/>
            <p:nvPr/>
          </p:nvSpPr>
          <p:spPr>
            <a:xfrm>
              <a:off x="1983828" y="1611054"/>
              <a:ext cx="374899" cy="812265"/>
            </a:xfrm>
            <a:prstGeom prst="ellipse">
              <a:avLst/>
            </a:prstGeom>
            <a:noFill/>
            <a:ln w="19050">
              <a:solidFill>
                <a:srgbClr val="2C9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14" name="TextBox 55">
              <a:extLst>
                <a:ext uri="{FF2B5EF4-FFF2-40B4-BE49-F238E27FC236}">
                  <a16:creationId xmlns:a16="http://schemas.microsoft.com/office/drawing/2014/main" id="{9782A937-A51C-6E21-A09A-AB7C7545C1B4}"/>
                </a:ext>
              </a:extLst>
            </p:cNvPr>
            <p:cNvSpPr txBox="1"/>
            <p:nvPr/>
          </p:nvSpPr>
          <p:spPr>
            <a:xfrm>
              <a:off x="2063916" y="993897"/>
              <a:ext cx="1321196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Alternative isoforms</a:t>
              </a:r>
            </a:p>
          </p:txBody>
        </p:sp>
      </p:grpSp>
      <p:grpSp>
        <p:nvGrpSpPr>
          <p:cNvPr id="15" name="Group 67">
            <a:extLst>
              <a:ext uri="{FF2B5EF4-FFF2-40B4-BE49-F238E27FC236}">
                <a16:creationId xmlns:a16="http://schemas.microsoft.com/office/drawing/2014/main" id="{42AF8945-A181-9F82-EF1A-8DB8D285E17F}"/>
              </a:ext>
            </a:extLst>
          </p:cNvPr>
          <p:cNvGrpSpPr/>
          <p:nvPr/>
        </p:nvGrpSpPr>
        <p:grpSpPr>
          <a:xfrm>
            <a:off x="1812209" y="2776016"/>
            <a:ext cx="2197097" cy="358554"/>
            <a:chOff x="1812209" y="2776016"/>
            <a:chExt cx="2197097" cy="358554"/>
          </a:xfrm>
        </p:grpSpPr>
        <p:sp>
          <p:nvSpPr>
            <p:cNvPr id="16" name="Elipse 27">
              <a:extLst>
                <a:ext uri="{FF2B5EF4-FFF2-40B4-BE49-F238E27FC236}">
                  <a16:creationId xmlns:a16="http://schemas.microsoft.com/office/drawing/2014/main" id="{04B6A5D6-2263-3894-B15D-097AC1A6ABE1}"/>
                </a:ext>
              </a:extLst>
            </p:cNvPr>
            <p:cNvSpPr/>
            <p:nvPr/>
          </p:nvSpPr>
          <p:spPr>
            <a:xfrm>
              <a:off x="1812209" y="2826618"/>
              <a:ext cx="925753" cy="30795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F271334C-554F-E18B-0CA0-108C5D9EC83F}"/>
                </a:ext>
              </a:extLst>
            </p:cNvPr>
            <p:cNvSpPr txBox="1"/>
            <p:nvPr/>
          </p:nvSpPr>
          <p:spPr>
            <a:xfrm>
              <a:off x="2808336" y="2776016"/>
              <a:ext cx="120097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RNA degradation</a:t>
              </a:r>
            </a:p>
          </p:txBody>
        </p:sp>
      </p:grpSp>
      <p:grpSp>
        <p:nvGrpSpPr>
          <p:cNvPr id="18" name="Group 68">
            <a:extLst>
              <a:ext uri="{FF2B5EF4-FFF2-40B4-BE49-F238E27FC236}">
                <a16:creationId xmlns:a16="http://schemas.microsoft.com/office/drawing/2014/main" id="{E4581BEF-5CC0-844E-B408-3A837B705FD6}"/>
              </a:ext>
            </a:extLst>
          </p:cNvPr>
          <p:cNvGrpSpPr/>
          <p:nvPr/>
        </p:nvGrpSpPr>
        <p:grpSpPr>
          <a:xfrm>
            <a:off x="1741205" y="1457146"/>
            <a:ext cx="5680842" cy="2518312"/>
            <a:chOff x="1741205" y="1457146"/>
            <a:chExt cx="5680842" cy="2518312"/>
          </a:xfrm>
        </p:grpSpPr>
        <p:sp>
          <p:nvSpPr>
            <p:cNvPr id="19" name="Elipse 29">
              <a:extLst>
                <a:ext uri="{FF2B5EF4-FFF2-40B4-BE49-F238E27FC236}">
                  <a16:creationId xmlns:a16="http://schemas.microsoft.com/office/drawing/2014/main" id="{7E022DDE-CFB5-7461-10BB-7C03CE9A6F76}"/>
                </a:ext>
              </a:extLst>
            </p:cNvPr>
            <p:cNvSpPr/>
            <p:nvPr/>
          </p:nvSpPr>
          <p:spPr>
            <a:xfrm>
              <a:off x="3819971" y="3683458"/>
              <a:ext cx="1076175" cy="29200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20" name="Elipse 31">
              <a:extLst>
                <a:ext uri="{FF2B5EF4-FFF2-40B4-BE49-F238E27FC236}">
                  <a16:creationId xmlns:a16="http://schemas.microsoft.com/office/drawing/2014/main" id="{24BBABDD-874E-FFB0-BF2D-536564A1096A}"/>
                </a:ext>
              </a:extLst>
            </p:cNvPr>
            <p:cNvSpPr/>
            <p:nvPr/>
          </p:nvSpPr>
          <p:spPr>
            <a:xfrm>
              <a:off x="6330657" y="1457146"/>
              <a:ext cx="397824" cy="30736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21" name="Elipse 31">
              <a:extLst>
                <a:ext uri="{FF2B5EF4-FFF2-40B4-BE49-F238E27FC236}">
                  <a16:creationId xmlns:a16="http://schemas.microsoft.com/office/drawing/2014/main" id="{DB0C78EA-1692-DDB2-11C0-0874EA571392}"/>
                </a:ext>
              </a:extLst>
            </p:cNvPr>
            <p:cNvSpPr/>
            <p:nvPr/>
          </p:nvSpPr>
          <p:spPr>
            <a:xfrm>
              <a:off x="2714809" y="2168397"/>
              <a:ext cx="892785" cy="182931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22" name="Elipse 29">
              <a:extLst>
                <a:ext uri="{FF2B5EF4-FFF2-40B4-BE49-F238E27FC236}">
                  <a16:creationId xmlns:a16="http://schemas.microsoft.com/office/drawing/2014/main" id="{FA9B6B3D-CCCB-7D80-F287-3793F061FC1D}"/>
                </a:ext>
              </a:extLst>
            </p:cNvPr>
            <p:cNvSpPr/>
            <p:nvPr/>
          </p:nvSpPr>
          <p:spPr>
            <a:xfrm>
              <a:off x="1741205" y="3600053"/>
              <a:ext cx="649635" cy="18385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23" name="TextBox 59">
              <a:extLst>
                <a:ext uri="{FF2B5EF4-FFF2-40B4-BE49-F238E27FC236}">
                  <a16:creationId xmlns:a16="http://schemas.microsoft.com/office/drawing/2014/main" id="{7A414F83-802F-423C-0844-C2F3CEC84450}"/>
                </a:ext>
              </a:extLst>
            </p:cNvPr>
            <p:cNvSpPr txBox="1"/>
            <p:nvPr/>
          </p:nvSpPr>
          <p:spPr>
            <a:xfrm>
              <a:off x="2428931" y="3532438"/>
              <a:ext cx="89960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noisy signals</a:t>
              </a:r>
            </a:p>
          </p:txBody>
        </p:sp>
        <p:sp>
          <p:nvSpPr>
            <p:cNvPr id="24" name="TextBox 60">
              <a:extLst>
                <a:ext uri="{FF2B5EF4-FFF2-40B4-BE49-F238E27FC236}">
                  <a16:creationId xmlns:a16="http://schemas.microsoft.com/office/drawing/2014/main" id="{C370616F-9881-66C7-DFF9-2DDFBF0AE4F6}"/>
                </a:ext>
              </a:extLst>
            </p:cNvPr>
            <p:cNvSpPr txBox="1"/>
            <p:nvPr/>
          </p:nvSpPr>
          <p:spPr>
            <a:xfrm>
              <a:off x="4584476" y="3398432"/>
              <a:ext cx="89960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noisy signals</a:t>
              </a:r>
            </a:p>
          </p:txBody>
        </p:sp>
        <p:sp>
          <p:nvSpPr>
            <p:cNvPr id="25" name="TextBox 61">
              <a:extLst>
                <a:ext uri="{FF2B5EF4-FFF2-40B4-BE49-F238E27FC236}">
                  <a16:creationId xmlns:a16="http://schemas.microsoft.com/office/drawing/2014/main" id="{8EA8FBAE-608C-D25C-E8F0-DF816B7568C3}"/>
                </a:ext>
              </a:extLst>
            </p:cNvPr>
            <p:cNvSpPr txBox="1"/>
            <p:nvPr/>
          </p:nvSpPr>
          <p:spPr>
            <a:xfrm>
              <a:off x="5211198" y="1487715"/>
              <a:ext cx="89960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noisy signals</a:t>
              </a:r>
            </a:p>
          </p:txBody>
        </p:sp>
        <p:sp>
          <p:nvSpPr>
            <p:cNvPr id="26" name="Elipse 31">
              <a:extLst>
                <a:ext uri="{FF2B5EF4-FFF2-40B4-BE49-F238E27FC236}">
                  <a16:creationId xmlns:a16="http://schemas.microsoft.com/office/drawing/2014/main" id="{6D03E03D-1E3D-BC10-48D2-7D87A451F199}"/>
                </a:ext>
              </a:extLst>
            </p:cNvPr>
            <p:cNvSpPr/>
            <p:nvPr/>
          </p:nvSpPr>
          <p:spPr>
            <a:xfrm>
              <a:off x="7024223" y="3066218"/>
              <a:ext cx="397824" cy="307360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Avenir Book" panose="02000503020000020003" pitchFamily="2" charset="0"/>
              </a:endParaRPr>
            </a:p>
          </p:txBody>
        </p:sp>
        <p:sp>
          <p:nvSpPr>
            <p:cNvPr id="27" name="TextBox 63">
              <a:extLst>
                <a:ext uri="{FF2B5EF4-FFF2-40B4-BE49-F238E27FC236}">
                  <a16:creationId xmlns:a16="http://schemas.microsoft.com/office/drawing/2014/main" id="{DA673059-EBBF-7591-D07F-28F873545C9D}"/>
                </a:ext>
              </a:extLst>
            </p:cNvPr>
            <p:cNvSpPr txBox="1"/>
            <p:nvPr/>
          </p:nvSpPr>
          <p:spPr>
            <a:xfrm>
              <a:off x="5904764" y="3096787"/>
              <a:ext cx="9364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noisy signals</a:t>
              </a:r>
            </a:p>
          </p:txBody>
        </p:sp>
        <p:sp>
          <p:nvSpPr>
            <p:cNvPr id="28" name="TextBox 64">
              <a:extLst>
                <a:ext uri="{FF2B5EF4-FFF2-40B4-BE49-F238E27FC236}">
                  <a16:creationId xmlns:a16="http://schemas.microsoft.com/office/drawing/2014/main" id="{421C8B08-C0FF-6FB8-4AB6-DEFE46A8C06A}"/>
                </a:ext>
              </a:extLst>
            </p:cNvPr>
            <p:cNvSpPr txBox="1"/>
            <p:nvPr/>
          </p:nvSpPr>
          <p:spPr>
            <a:xfrm>
              <a:off x="3618528" y="1991684"/>
              <a:ext cx="89960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Avenir Book" panose="02000503020000020003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noisy signals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Even the best-performing tools still show low precision — orthogonal validation of novel transcripts is essential.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8C2A"/>
                </a:solidFill>
                <a:latin typeface="Arial"/>
              </a:rPr>
              <a:t>Errors at splice junctions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Mis-mapping of error-containing reads around splice sites produces wrong splice-junction predictions and spurious novel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143000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126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7AB"/>
                </a:solidFill>
                <a:latin typeface="Arial"/>
              </a:rPr>
              <a:t>RNA degradation &amp; 5′ truncation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5544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Degraded RNA yields 5′-incomplete models and unreliable TSS/TTS, hurting mapping accuracy and quantification.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45059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9E8C"/>
                </a:solidFill>
                <a:latin typeface="Arial"/>
              </a:rPr>
              <a:t>Low precision / false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43199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Distinguishing real low-abundance isoforms and splicing noise from sequencing noise is unsolved — high false-discovery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2331720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28031" y="245059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8C2A"/>
                </a:solidFill>
                <a:latin typeface="Arial"/>
              </a:rPr>
              <a:t>Poor replicability at low expression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2743199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Medium-to-low-expression transcripts replicate poorly across samples; depth boosts sensitivity but not model accuracy.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63931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7AB"/>
                </a:solidFill>
                <a:latin typeface="Arial"/>
              </a:rPr>
              <a:t>Platform &amp; library variability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9319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Read length distributions and error profiles differ by platform (PacBio vs ONT) and library type — no single optimal setting.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3520439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1" y="363931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9E8C"/>
                </a:solidFill>
                <a:latin typeface="Arial"/>
              </a:rPr>
              <a:t>Incomplete reference annotation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1" y="39319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Reference transcriptomes are incomplete for lrRNA-seq, so reads are mis-assigned when relying purely on annotation.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BF2A-34CC-FE4B-13DB-655C15E0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A12A-1843-DE55-EDFB-45627EBF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86925AB-7AA1-F3BA-DBC9-077954CFD4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2DA25214-5AFD-0860-05DC-947469D6CA88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699F4FA1-2A9D-7EE2-8558-77E3B549735E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AEBD4EB6-5604-F0FF-4334-18E20259A6E1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824AD340-A0A9-4E60-8D00-646D77F1EF3F}"/>
              </a:ext>
            </a:extLst>
          </p:cNvPr>
          <p:cNvSpPr/>
          <p:nvPr/>
        </p:nvSpPr>
        <p:spPr>
          <a:xfrm>
            <a:off x="3441693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A6A760CA-2098-ECD7-9B81-77994B5A4E6A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630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65E9-94FD-D293-EE0A-53267D4E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9E93-2FC4-447D-4689-8A2BC0EA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0E579618-50B0-5D5F-9B26-A49E9650ED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289C807A-1752-4F32-4549-60BE9FCFC627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F78B600F-BB3F-6FE7-A9FA-48A08274E80B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F16DCDDA-347C-8441-40F7-35F510E3D041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8229E1B6-B851-946C-DB84-9126EF6F5B8E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590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2332-33D5-074F-5FA8-C17295FC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87A5-D014-5072-AA79-CD513B6A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9D9623DB-58A2-B5B3-210B-29B7BE1114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8EBC7D56-8212-FAD4-B671-DC2CB65CADEE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B752608D-C289-FEEE-9F2E-F80AD78BD2BA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80E78EC5-175D-03AB-1D73-FA84F69168C2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304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Three strategies to get transcripts &amp;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The strategy you choose depends on the goal of the study — and on whether a reference exists.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07008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207008"/>
            <a:ext cx="2743200" cy="475488"/>
          </a:xfrm>
          <a:prstGeom prst="round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 · Reference-based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10512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Map reads to a reference GENOME → build an experiment-defined transcriptome → identify (cluster / graph / class) → quantify.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32644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7AB"/>
                </a:solidFill>
                <a:latin typeface="Arial"/>
              </a:rPr>
              <a:t>Novel discovery · most common · needs genome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3602736"/>
            <a:ext cx="2450592" cy="6035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6941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66666"/>
                </a:solidFill>
                <a:latin typeface="Arial"/>
              </a:rPr>
              <a:t>Tools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47AB"/>
                </a:solidFill>
                <a:latin typeface="Arial"/>
              </a:rPr>
              <a:t>FLAIR · IsoQuant · Bambu · StringTie2 · Iso-Seq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207008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73552" y="1207008"/>
            <a:ext cx="2743200" cy="475488"/>
          </a:xfrm>
          <a:prstGeom prst="round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 · Reference-free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810512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Reconstruct transcripts ENTIRELY from reads by clustering &amp; assembly. A genome, if available, only joins isoforms post-hoc.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32644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9E8C"/>
                </a:solidFill>
                <a:latin typeface="Arial"/>
              </a:rPr>
              <a:t>For species without a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3602736"/>
            <a:ext cx="2450592" cy="6035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36941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66666"/>
                </a:solidFill>
                <a:latin typeface="Arial"/>
              </a:rPr>
              <a:t>Tools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9E8C"/>
                </a:solidFill>
                <a:latin typeface="Arial"/>
              </a:rPr>
              <a:t>isONclust→isONform · RATTLE · RNA-Bloom2 · IsoSeq3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207008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35624" y="1207008"/>
            <a:ext cx="2743200" cy="475488"/>
          </a:xfrm>
          <a:prstGeom prst="round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73152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 · Annotation-driven quantification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810512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(Pseudo)map reads directly to a reference TRANSCRIPTOME and quantify with an EM algorithm. No identification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2644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A"/>
                </a:solidFill>
                <a:latin typeface="Arial"/>
              </a:rPr>
              <a:t>Fast &amp; light · misses novel isoforms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602736"/>
            <a:ext cx="2450592" cy="6035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69417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66666"/>
                </a:solidFill>
                <a:latin typeface="Arial"/>
              </a:rPr>
              <a:t>Tools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A"/>
                </a:solidFill>
                <a:latin typeface="Arial"/>
              </a:rPr>
              <a:t>lr-kallisto · Oarfish · NanoCount · LIQA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262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Arial"/>
              </a:rPr>
              <a:t>Adapted from Monzó, Liu &amp; Conesa, Nat Rev Genet 2025, Fig.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A map of identification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Reference-based identifiers fall into three algorithmic families — by how they group reads into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54864" cy="1874519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307592"/>
            <a:ext cx="2468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7AB"/>
                </a:solidFill>
                <a:latin typeface="Arial"/>
              </a:rPr>
              <a:t>CLUSTER-based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600200"/>
            <a:ext cx="246887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Align reads to the genome, then GROUP them by shared splice-junction chains. Each group → one isoform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7919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47AB"/>
                </a:solidFill>
                <a:latin typeface="Arial"/>
              </a:rPr>
              <a:t>FLAIR · Mandalorion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1887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73552" y="1188720"/>
            <a:ext cx="54864" cy="1874519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38144" y="1307592"/>
            <a:ext cx="2468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9E8C"/>
                </a:solidFill>
                <a:latin typeface="Arial"/>
              </a:rPr>
              <a:t>GRAPH-based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1600200"/>
            <a:ext cx="246887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Build a SPLICE / INTRON GRAPH of the locus (junctions = nodes). Transcripts = paths through the graph.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7919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9E8C"/>
                </a:solidFill>
                <a:latin typeface="Arial"/>
              </a:rPr>
              <a:t>IsoQuant · IsoTools · StringTie2 · Isosceles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18872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35624" y="1188720"/>
            <a:ext cx="54864" cy="1874519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13075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8C2A"/>
                </a:solidFill>
                <a:latin typeface="Arial"/>
              </a:rPr>
              <a:t>CLASS-based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600200"/>
            <a:ext cx="2468880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CLASSIFY each read by its splice-junction pattern as known / novel / uncertain; validate &amp; rank candidates.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67919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8C2A"/>
                </a:solidFill>
                <a:latin typeface="Arial"/>
              </a:rPr>
              <a:t>Bambu · ESPRESSO · TALON · FLAMES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46120"/>
            <a:ext cx="4133087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46704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49E8C"/>
                </a:solidFill>
                <a:latin typeface="Arial"/>
              </a:rPr>
              <a:t>REFERENCE-FREE (de novo)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Cluster reads with no annotation, then assemble. For non-model organisms.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49E8C"/>
                </a:solidFill>
                <a:latin typeface="Arial"/>
              </a:rPr>
              <a:t>isONclust → isONform · RATTLE · RNA-Bloom2 · IsoSeq3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90872" y="3246120"/>
            <a:ext cx="4133087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3752" y="3346704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28C2A"/>
                </a:solidFill>
                <a:latin typeface="Arial"/>
              </a:rPr>
              <a:t>ANNOTATION-DRIVEN (quant only)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Skip identification; (pseudo)map to a reference transcriptome + EM.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28C2A"/>
                </a:solidFill>
                <a:latin typeface="Arial"/>
              </a:rPr>
              <a:t>lr-kallisto · Oarfish · NanoCount · LIQA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5445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Arial"/>
              </a:rPr>
              <a:t>Highlighted tools detailed next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Iso-Seq  —  PacBio's de novo isoform discovery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Polish reads into high-fidelity, full-length isoform consensus before genome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/ reference-free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PacBio HiFi (cDNA · Kinnex)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Official PacBio pipeline (IsoSeq v4)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Polished, near-error-free full-length isoform sequences + a GFF transcriptome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HiFi CCS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lima + refine
(FLNC)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Cluster reads
per isoform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Polish
consensus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Map to genome
(pbmm2)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→
isoforms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PacificBiosciences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isoseq.how</a:t>
            </a:r>
            <a:endParaRPr sz="750" b="0" i="0" dirty="0">
              <a:solidFill>
                <a:srgbClr val="666666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1C6966D-AA18-F183-2901-8C8922FF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7" y="1070431"/>
            <a:ext cx="2872595" cy="2824903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0829C309-5939-57F2-7E34-CCFF68A57C76}"/>
              </a:ext>
            </a:extLst>
          </p:cNvPr>
          <p:cNvSpPr/>
          <p:nvPr/>
        </p:nvSpPr>
        <p:spPr>
          <a:xfrm>
            <a:off x="4517135" y="2020823"/>
            <a:ext cx="3174347" cy="19443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8634-C015-28DF-82C9-F438B899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2A29-F26E-F2C0-00EF-79316D9AA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Iso-Seq  —  PacBio's de novo isoform discovery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08C0E-D187-7909-9B09-B77C5F6D4704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Polish reads into high-fidelity, full-length isoform consensus before genome mapping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53949B-ED26-0303-8BB7-D2F2F200807E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2654B-88F1-7BE8-CC11-9E41BC30F467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89F61-DDA8-56F3-1C63-13FA05A71734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/ reference-free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56D78-8801-2147-64C1-3F1695AAC567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09F50-3769-7436-06BC-64177B6F6887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PacBio HiFi (cDNA · Kinnex)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0F4A1-499B-86A4-7E4B-B7D183053561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60A10-5D79-7B07-A64C-3B5C900A90B0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Official PacBio pipeline (IsoSeq v4)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CF92D-CBB9-9985-BDD1-5C98F9DB9F10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A3C74A-4D22-0FDF-2931-B21A4FCCE849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Polished, near-error-free full-length isoform sequences + a GFF transcriptome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D256D-EDAD-C3CE-0EDC-30C17C37074E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458C4A9-23C6-31E6-529C-61EFD2DBEACB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39F340-DFAF-1758-A291-4CFCFAA1FCB8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1C5F2D8-3109-76A5-3040-55B1F4175648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HiFi CCS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536C6-130B-67C3-0AB8-8A75034FF065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BDF2647-E116-D028-23D0-EFABD5DA66ED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lima + refine
(FLNC)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DCE64D-5BDC-92FE-1549-B6BADDBDAC31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A23812-A9DD-731D-8192-A015A2C81808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Cluster reads
per isoform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B5B576-D91D-6ADD-9577-81A1643E4E77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4FD8BA5-909E-DD84-8F85-3DF1FDE8DA3D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Polish
consensus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944B9E-E79F-1672-77C2-E3C9C019DEBA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33A40C2-6CF9-101C-8525-5AD2298998EF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Map to genome
(pbmm2)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5AF9D9-49A8-E3D1-202E-F2A945B3F363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DB9E97A-2765-9BE1-FBDF-F96594953762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→
isoforms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9B5E50-D560-42A7-BFEB-1FA344CB68E2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PacificBiosciences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isoseq.how</a:t>
            </a:r>
            <a:endParaRPr sz="750" b="0" i="0" dirty="0">
              <a:solidFill>
                <a:srgbClr val="666666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1486B4FD-44DB-68B6-9F5F-AB5BB457A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7" y="1070431"/>
            <a:ext cx="2872595" cy="2824903"/>
          </a:xfrm>
          <a:prstGeom prst="rect">
            <a:avLst/>
          </a:prstGeom>
        </p:spPr>
      </p:pic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37EAB00-F907-2D48-E53A-AFA00A630220}"/>
              </a:ext>
            </a:extLst>
          </p:cNvPr>
          <p:cNvSpPr/>
          <p:nvPr/>
        </p:nvSpPr>
        <p:spPr>
          <a:xfrm>
            <a:off x="4517135" y="2992513"/>
            <a:ext cx="3174347" cy="9726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138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B95D-6E23-ECA1-8E44-F664F266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4AB1-5A61-875A-E863-13041421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Iso-Seq  —  PacBio's de novo isoform discovery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53EF9-1769-1ED6-0B47-F1440993FE19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Polish reads into high-fidelity, full-length isoform consensus before genome mapping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649E23-863C-C023-90CA-1BD988205DD2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D4A73-D642-206C-676A-09829E38B641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4B97E-6272-7674-A4E8-EA559AF94F73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/ reference-free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68A8C-A12D-A14A-0D72-74AA48B0A668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D26AF-C74D-6912-8B40-612D03697CFB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PacBio HiFi (cDNA · Kinnex)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F12BF-9BCD-DBB9-8FEE-1203237522EC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803F0-1FD3-6F68-76C2-A5DD138598E6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Official PacBio pipeline (IsoSeq v4)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59F52-93C0-0EC4-F41D-D0F92231BE50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1D8F2-3F06-B51A-739B-F7078B0CBF47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Polished, near-error-free full-length isoform sequences + a GFF transcriptome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C9B4B-217A-E46B-3EF7-5EFB0D6EB7D9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C3D8F7-64B7-1BD3-C9F5-7A92B50F54EC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B77AE-DB73-CA5E-9D0A-D2E2D2A7E550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CE692D0-D7A7-B04D-3A00-3C37678F68A8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HiFi CCS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87834-7985-19D4-F4AD-D39B617C3EAB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0DAB18-5E80-EACD-3F4D-ED2707DC689F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lima + refine
(FLNC)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0805C-74B8-0E10-980C-BC45DB3E0739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C59A7BA-1D0E-46F1-6E87-230DA6AC9BCD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Cluster reads
per isoform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F9150-5245-996E-6E18-9CA9AB89955E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D1A98B3-0B50-E82E-A5F1-21345714ED51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Polish
consensus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95533-0A98-06D7-DCF3-796BDC2125AE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E45A745-B820-1F64-6AA9-145D475732DD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Map to genome
(pbmm2)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274F8-AA33-0611-409F-3750392FD4C2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AFD4FDE-140D-CFBF-AEAC-CFFABDB5701D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→
isoforms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217A27-1458-C63A-245D-0C684A27A2CF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PacificBiosciences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isoseq.how</a:t>
            </a:r>
            <a:endParaRPr sz="750" b="0" i="0" dirty="0">
              <a:solidFill>
                <a:srgbClr val="666666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599B615-7EB1-B8BC-196D-4F2E7DAB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7" y="1070431"/>
            <a:ext cx="2872595" cy="2824903"/>
          </a:xfrm>
          <a:prstGeom prst="rect">
            <a:avLst/>
          </a:prstGeom>
        </p:spPr>
      </p:pic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E1865E5F-9106-AE36-A39A-9A113DDE2DEB}"/>
              </a:ext>
            </a:extLst>
          </p:cNvPr>
          <p:cNvSpPr/>
          <p:nvPr/>
        </p:nvSpPr>
        <p:spPr>
          <a:xfrm>
            <a:off x="4517135" y="3511295"/>
            <a:ext cx="3174347" cy="4538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3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627B-2D03-F0AC-C442-31F5CCDF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15F1-1A3A-A841-CB33-FD78117E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Iso-Seq  —  PacBio's de novo isoform discovery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390F-DE29-42CF-92D1-9EC46B9C9A7D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Polish reads into high-fidelity, full-length isoform consensus before genome mapping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6DD36D-5F27-CF5A-5318-C1FF1098C08D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74DB9-8225-80DC-A643-944B881F8752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E64C6-0E38-1AFD-7725-EE88E2C98180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/ reference-free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9CA86-ECF2-65BD-9A69-21EFC08F8E12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EC4A8-D49F-2BBF-95C0-CDFF0895F7BC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PacBio HiFi (cDNA · Kinnex)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40C72-5E07-2F19-FE83-5F141AE05534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6EF89-A9F4-0CCC-DAF7-70945056C2AA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Official PacBio pipeline (IsoSeq v4)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2B784-22A4-4514-3F0F-867C91A7B028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D24C0-6BDC-C9C6-29AF-0D4B14922B1B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Polished, near-error-free full-length isoform sequences + a GFF transcriptome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75210-424E-CC84-BC4F-F2188AD9C55E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C13925-BBAF-4793-FED4-B76A70A6B32F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9E029-1901-C270-FE91-E1A0E9F4CC97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4E4A12-3A07-66CF-67F8-7FD6157AD132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HiFi CCS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DE48A9-030D-D16F-69E6-CCCD3A372A54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27F646-A106-5F36-BBD6-379255410C0A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lima + refine
(FLNC)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3B0720-EB25-EECD-6F9A-29719AF38891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290A4F-3F01-3452-05FF-9D4B36F50A32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Cluster reads
per isoform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D4146C-77BF-4877-1EFE-28A9A8EB9CBE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3D40FFD-3E06-4D66-F3FA-51D84D6AB94A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Polish
consensus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9E85F3-C289-8011-A80E-72CC3C1A46A1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1F3EF94-FB74-2BEC-4725-CD8045199E27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Map to genome
(pbmm2)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064E2A-9408-66C0-DF7E-36FE220A5CD2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6F2B13B-214D-23F4-A6BD-575EAD0D7AE7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→
isoforms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C744A9-3DBC-4F1F-B603-83572CBAB047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PacificBiosciences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isoseq.how</a:t>
            </a:r>
            <a:endParaRPr sz="750" b="0" i="0" dirty="0">
              <a:solidFill>
                <a:srgbClr val="666666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5149A0D-104D-CF92-8769-D89EC544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7" y="1070431"/>
            <a:ext cx="2872595" cy="28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7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B66E-AF07-4907-2C2E-33C920AF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0796-58E9-864C-2DDE-88EE8AE1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Iso-Seq  —  PacBio's de novo isoform discovery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07BAB-ED3C-D667-E1AB-FA60E2581635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Polish reads into high-fidelity, full-length isoform consensus before genome mapping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8ABEFF-997E-85FA-2261-0B20420BDA3C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B0048-3917-27E8-5367-65F1AA4DC8E3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6E75C-1390-87CE-183F-2BC5C7F16F04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/ reference-free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F5260-D494-B00D-783D-7760329D6771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2B237-4F74-67F9-BC87-604EC11F4730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PacBio HiFi (cDNA · Kinnex)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779F8-99AD-2B83-1C70-DE1CC1BECFE2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47E6D-5696-3D11-9EEC-3FE5F4F372A6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Official PacBio pipeline (IsoSeq v4)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A549C9-3618-88F5-A89D-7C8791499585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17F78-958B-D010-58BF-8EBEEB4954BB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Polished, near-error-free full-length isoform sequences + a GFF transcriptome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F8E96-B86F-1723-3EED-581FE04F8321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C01EE8-E034-E525-7410-37853B3A06F1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D419FD-A28C-457A-C45F-E3305AE12AF8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5348DA-1BDC-D2C7-0018-C06C3D5FFC08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HiFi CCS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654909-0EB7-045A-3C18-BFF940B773B6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3DE00B-5BA2-7DD2-8784-670C1756D631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lima + refine
(FLNC)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C048E-9279-BCC7-F088-4E32E2FC6F06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E1821BF-F708-3A6F-55B5-CFA9B5DF19C9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Cluster reads
per isoform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DAF6A5-9D3B-EDA9-0F67-8E54D26F2DFB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AB969FE-7C7E-0E0C-2E20-BC67E5BFA1EF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Polish
consensus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CF0170-537E-9EB3-3AB0-93E94ED81123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DB59BE3-CCE9-E76D-867F-BA2289A6CF6F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Map to genome
(pbmm2)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8F31E-7224-53E9-3585-8598CEA2C2C3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1295B7E-5C13-12A3-C6BB-9C481CB7C93C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Collapse →
isoforms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0500D8-AF5D-DABE-3A9C-CA434B41AC00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PacificBiosciences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isoseq.how</a:t>
            </a:r>
            <a:endParaRPr sz="750" b="0" i="0" dirty="0">
              <a:solidFill>
                <a:srgbClr val="666666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4A83E52-E3D1-5B19-5D75-819854B24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7" y="1070431"/>
            <a:ext cx="2872595" cy="28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3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FLAIR  —  Full-Length Alternative Isoform analysis of 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Correct noisy splice junctions against trusted evidence, then group reads by junction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(reference-guided)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(cDNA)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Tang et al., Nat Commun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High-confidence isoform models (BED/GTF) + isoform usage matrices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Long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Align
(minimap2)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Correct splice
junctions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Group by
junction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Collapse +
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Isoform
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flair.readthedocs.io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Tang et al. 2020; Nguyen et al. (FLAIR2), Genome Biol 2024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279EB16-7275-036E-98F8-037F5E56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" b="18730"/>
          <a:stretch>
            <a:fillRect/>
          </a:stretch>
        </p:blipFill>
        <p:spPr>
          <a:xfrm>
            <a:off x="4650778" y="1156581"/>
            <a:ext cx="3679048" cy="2816622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A17F2988-F64A-6B35-C317-D0D567FA163D}"/>
              </a:ext>
            </a:extLst>
          </p:cNvPr>
          <p:cNvSpPr/>
          <p:nvPr/>
        </p:nvSpPr>
        <p:spPr>
          <a:xfrm>
            <a:off x="4517135" y="1888236"/>
            <a:ext cx="3174347" cy="215341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86EB1E3B-8147-8A86-6D83-42E686531BEC}"/>
              </a:ext>
            </a:extLst>
          </p:cNvPr>
          <p:cNvSpPr/>
          <p:nvPr/>
        </p:nvSpPr>
        <p:spPr>
          <a:xfrm>
            <a:off x="4650778" y="1619703"/>
            <a:ext cx="1402549" cy="20769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F2443EBE-3C90-892D-9394-9FF36FC02761}"/>
              </a:ext>
            </a:extLst>
          </p:cNvPr>
          <p:cNvSpPr/>
          <p:nvPr/>
        </p:nvSpPr>
        <p:spPr>
          <a:xfrm>
            <a:off x="7237275" y="1552019"/>
            <a:ext cx="1402549" cy="2432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3251-CA30-7A0D-6A20-053E9DE7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85D7-19F2-F21F-4806-181E21AB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FLAIR  —  Full-Length Alternative Isoform analysis of 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FF560-E4BA-25A6-104D-53CBEF576701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Correct noisy splice junctions against trusted evidence, then group reads by junction chain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BE38A6-A63D-EC51-3AE5-7F19E4E99A3E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19EBE-68D3-731A-83E1-9E4DA83B0BFF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61DA8-60BE-CA9B-ED83-A281FEE8D13C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3CBFF-6C0B-57A4-4382-49424ED093FF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A4CE5-56C2-8FC6-0495-337D836D92F1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(cDNA)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EDC7F-0476-5D9B-944F-07CE5A0C14F3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D9E166-BC37-CE19-941A-A4415288ECC2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Tang et al., Nat Commun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9ABB6-0624-6223-3142-C7C212075914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F651-2AE2-21BD-84E3-524278BB8AB8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High-confidence isoform models (BED/GTF) + isoform usage matrices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A5B2A-3885-A71A-60FB-4558A7D8F485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71C1E0-DF60-8145-B03C-C992A85F483A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19253A-5412-23C2-713F-9FE1625AAD2E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AA2E22-0E6A-E125-E7F0-826AE16C2726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Long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C4642-8DA9-35D5-AE50-221012D51B08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F8C051-6FEE-8324-E0DD-EA56965FC371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Align
(minimap2)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DA0BF-A407-5129-E028-9C30AA10873D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85D2FA7-6029-699A-589E-D98B0DC52B3D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Correct splice
junctions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3BD2F8-2219-1AB9-4DF2-BC9928DF66D4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375D7AA-6F31-4F4F-93E0-CD732852F605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Group by
junction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F4EB2F-F69B-190C-3CFE-09901DA66710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89759C4-E901-EDE9-D420-4798950B3974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Collapse +
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B25CA6-1150-6AC6-77DD-78959E799049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C26073C-ADC9-AA72-C691-3AEB443594FD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Isoform
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B36CB-D65F-B048-4EE4-E96502B66B67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flair.readthedocs.io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Tang et al. 2020; Nguyen et al. (FLAIR2), Genome Biol 2024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AB6A5480-522D-A79E-3739-4B248C137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" b="18730"/>
          <a:stretch>
            <a:fillRect/>
          </a:stretch>
        </p:blipFill>
        <p:spPr>
          <a:xfrm>
            <a:off x="4650778" y="1156581"/>
            <a:ext cx="3679048" cy="2816622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78C495DA-6124-3235-CD95-A035D87BBC8B}"/>
              </a:ext>
            </a:extLst>
          </p:cNvPr>
          <p:cNvSpPr/>
          <p:nvPr/>
        </p:nvSpPr>
        <p:spPr>
          <a:xfrm>
            <a:off x="4903818" y="2490538"/>
            <a:ext cx="3174347" cy="156819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B71BB98B-1250-361E-E2DC-9BCD7FB9F29E}"/>
              </a:ext>
            </a:extLst>
          </p:cNvPr>
          <p:cNvSpPr/>
          <p:nvPr/>
        </p:nvSpPr>
        <p:spPr>
          <a:xfrm>
            <a:off x="4617720" y="2020823"/>
            <a:ext cx="1402549" cy="18940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CFA0D1D0-8214-98D8-6036-02FB17AF1A98}"/>
              </a:ext>
            </a:extLst>
          </p:cNvPr>
          <p:cNvSpPr/>
          <p:nvPr/>
        </p:nvSpPr>
        <p:spPr>
          <a:xfrm>
            <a:off x="7607808" y="3111772"/>
            <a:ext cx="1402549" cy="8751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47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2C761-60F8-EC80-830A-C9419449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BA4F-3244-7F7E-75BF-AB7CA798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FLAIR  —  Full-Length Alternative Isoform analysis of 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0A596-1348-A205-7ED9-637AAE7C6322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Correct noisy splice junctions against trusted evidence, then group reads by junction chain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90197D-4915-3FDD-9BAD-B7A832FA33AE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46E7D-AFFD-4987-DAF9-AA12FCA71C7B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EF8F2-4E87-A434-910A-6693EDC1CF04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4BDBE-5FD3-4FF9-CAAE-A420C5925213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78894-E68B-64B8-DB37-09016D0341C7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(cDNA)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77333-C017-D833-5237-D45AD98E6396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7DE2E-5A15-DB28-59A8-664E04531914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Tang et al., Nat Commun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028C1D-C2A6-3F6D-F40B-ACB9E4A0198A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26EC1-B8D6-08DB-701B-12003C935F63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High-confidence isoform models (BED/GTF) + isoform usage matrices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46BFF-2586-A9BB-381E-19B11ABE448B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A39F78F-3700-4C1D-D3BB-7D502A22D239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EE93CC-900F-21D5-CB8B-58DFD7B4E257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9059736-63E4-04A8-BACD-461B5375FC39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Long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8093AA-3FA4-D543-E81F-C8D726235555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58AE51-875C-BB1A-866D-F7F6EF2EEEBF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Align
(minimap2)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F2BAD2-D27A-6C8B-B576-9CED3FE2B011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12EFB4F-FF51-BB0C-0C35-8EB498AE72F7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Correct splice
junctions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C6DBB-73CA-380B-C59F-79F211D4F902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79B8686-3A56-15B1-F893-DFF5F4069572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Group by
junction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4ABCF-727B-A446-4D31-68B5B7B288D6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5C76F1E-2F21-E373-97FE-BD2A0820C035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Collapse +
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76B7E9-4375-9C8D-BED7-D1DB27DF60D0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53751F1-5B51-0579-7EA6-6ACD89BFE83B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Isoform
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A557DE-9741-A6F2-BFD6-B234D05A7E49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flair.readthedocs.io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Tang et al. 2020; Nguyen et al. (FLAIR2), Genome Biol 2024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D1923E0B-0460-3850-BD65-07E1BCB6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" b="18730"/>
          <a:stretch>
            <a:fillRect/>
          </a:stretch>
        </p:blipFill>
        <p:spPr>
          <a:xfrm>
            <a:off x="4650778" y="1156581"/>
            <a:ext cx="3679048" cy="2816622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1682DE55-C237-2322-3B10-470F016AC254}"/>
              </a:ext>
            </a:extLst>
          </p:cNvPr>
          <p:cNvSpPr/>
          <p:nvPr/>
        </p:nvSpPr>
        <p:spPr>
          <a:xfrm>
            <a:off x="4903818" y="3111772"/>
            <a:ext cx="3174347" cy="9469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D55D9A8B-0FC5-7F16-58E7-57C35C4E037A}"/>
              </a:ext>
            </a:extLst>
          </p:cNvPr>
          <p:cNvSpPr/>
          <p:nvPr/>
        </p:nvSpPr>
        <p:spPr>
          <a:xfrm>
            <a:off x="4645856" y="2738627"/>
            <a:ext cx="1402549" cy="1176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47CEB34F-C6C7-3A23-7151-42B21A71A40D}"/>
              </a:ext>
            </a:extLst>
          </p:cNvPr>
          <p:cNvSpPr/>
          <p:nvPr/>
        </p:nvSpPr>
        <p:spPr>
          <a:xfrm>
            <a:off x="7607808" y="3111772"/>
            <a:ext cx="1402549" cy="8751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692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FECA-90EF-A9C8-C5DA-8C90EEC8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504E-50A3-D73B-5847-35CA12C5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FLAIR  —  Full-Length Alternative Isoform analysis of 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507EC-8A93-DF3B-96CB-FFAFD767F246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Correct noisy splice junctions against trusted evidence, then group reads by junction chain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1A5C7E-646D-4B91-F8AF-F75BE240516E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001F3-43B9-0822-ECCF-192EF9AA0EEC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29999-C9C7-E2CB-95CB-A5D0CDD538A0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D772A-FE1D-E4E7-F2D3-4045E2F5E8B4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B9C98-9CAC-201D-D3E7-34DE4631917D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(cDNA)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64A2E-FCFB-DEE2-5173-B1C9517DD31A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26E853-B4C0-CAB2-2521-D33B0150FB9F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Tang et al., Nat Commun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C1088B-2397-9FFB-DA13-9161AFA13C69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4840C-725A-9249-DD46-9BB1F57ACF87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High-confidence isoform models (BED/GTF) + isoform usage matrices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A16ACB-E2BE-BEB7-6431-75C716EAF5C5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FEC5935-F698-B0E3-02BD-EC3997CE5370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C41ABB-5F6C-743C-617B-1F0AEC084301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01DCED-573E-2B5D-5F1B-1D34942086B0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Long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F432D-05B6-7883-4F80-A9EAD0D14FCE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E94753-77E5-F586-3D96-79AB5DAC058F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Align
(minimap2)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65BB5-6F84-156F-00A3-ADB9C7048AB6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3F5ED91-F413-0734-B2BF-21B2A4E0FE34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Correct splice
junctions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D14C71-7F1B-70DE-B295-57AC3F13844B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64C852-6D93-A166-1EA5-AB48C0281395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Group by
junction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E75CFB-0934-B5AB-6FAB-5D6B8EC5F465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AEA1782-5A21-A6C7-A0DD-9D6DE85DACA5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Collapse +
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9870F9-031A-DD64-D8DC-254873B41AB2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CD6B213-F64D-F873-CA52-AFBEFCAC734C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Isoform
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F4053-80D2-577D-D322-0A0A8DE83B9A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flair.readthedocs.io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Tang et al. 2020; Nguyen et al. (FLAIR2), Genome Biol 2024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6B98538-B9E9-4041-CE10-61AA1287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" b="18730"/>
          <a:stretch>
            <a:fillRect/>
          </a:stretch>
        </p:blipFill>
        <p:spPr>
          <a:xfrm>
            <a:off x="4650778" y="1156581"/>
            <a:ext cx="3679048" cy="2816622"/>
          </a:xfrm>
          <a:prstGeom prst="rect">
            <a:avLst/>
          </a:prstGeom>
        </p:spPr>
      </p:pic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1695604E-F884-A7AC-846E-43C7382084CB}"/>
              </a:ext>
            </a:extLst>
          </p:cNvPr>
          <p:cNvSpPr/>
          <p:nvPr/>
        </p:nvSpPr>
        <p:spPr>
          <a:xfrm>
            <a:off x="4645856" y="2738627"/>
            <a:ext cx="1402549" cy="11762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5D4C0AF1-88B4-2DC7-E96C-62F93E6BAC9D}"/>
              </a:ext>
            </a:extLst>
          </p:cNvPr>
          <p:cNvSpPr/>
          <p:nvPr/>
        </p:nvSpPr>
        <p:spPr>
          <a:xfrm>
            <a:off x="6048405" y="3602735"/>
            <a:ext cx="2483650" cy="3841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4706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22E1-421C-7EB1-9E25-4DFF5477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BEB-E41D-C3A1-6BCE-116E2ABC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FLAIR  —  Full-Length Alternative Isoform analysis of 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8381E-4F65-9272-17E5-2FE242D2C12F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Correct noisy splice junctions against trusted evidence, then group reads by junction chain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1BA2CF-0232-F5BA-9D8C-F4E839A24EA7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37A09-9E02-9809-D8F3-DA7D4FF95676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927F6-A3C2-9FF7-84D5-710AAA3F4615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Cluster-based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4C72E-7E16-4FC2-1C0C-83C066A56F17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F1CA2-9303-7AB8-873C-04A71B66B4A7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(cDNA)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BB4B6-4656-BB82-5972-108AC8697442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5BEBC-1243-CDA6-646B-F963F2D6518E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Tang et al., Nat Commun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728A6-5707-6FB3-424C-428CEB59359B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A10E5-D2A1-7F9C-A7EF-6EC68469C863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High-confidence isoform models (BED/GTF) + isoform usage matrices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319EB-C475-3BDC-6454-B9596DD611AA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923FAEC-2A9C-A128-F93B-514600327E69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99BE7-A4CB-8B98-CC61-CB8FA7C49BE1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ED5ABFA-CDA2-AEE6-51B4-E0C128CB63A0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Long reads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05B9D4-31E4-A860-E4BE-4ABD9CC4D502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08B100-8A0B-563B-E8F4-7D0ECC039B1E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Align
(minimap2)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451E1-C0FB-1ED5-8B28-F3AC4B33F447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7AAB0C0-CFD1-0D1F-3468-4A8AB1763A69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Correct splice
junctions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93E69-5658-CC7A-CEB9-DBB288A1770D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15AD7C-2692-85FD-4226-3CCE29EEE9C7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Group by
junction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85FA74-C3F1-73AE-C69C-962F43FC49CE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43ADDD5-0D05-38EC-D4FD-B6D745547931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Collapse +
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5DBA4E-41B0-08C9-CE66-6FB73268E04A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2C5C327-9CE0-E14D-18E6-6FC93227468E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139E8C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Isoform
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6EFC3D-CB5D-0358-70C0-4B37AB8B5AFB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flair.readthedocs.io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Tang et al. 2020; Nguyen et al. (FLAIR2), Genome Biol 2024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44BAF097-AF1C-9CC0-6094-CD9C89768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8" b="18730"/>
          <a:stretch>
            <a:fillRect/>
          </a:stretch>
        </p:blipFill>
        <p:spPr>
          <a:xfrm>
            <a:off x="4650778" y="1156581"/>
            <a:ext cx="3679048" cy="281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6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Bambu  —  Context-aware discovery + quantification, one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A single, interpretable precision knob — the Novel Discovery Rate (NDR)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Class-based (reference-guided)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Chen et al., Nat Methods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Extended annotation (GTF) + transcript &amp; gene count matrices (R/Bioconductor)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Aligned reads
+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Classify reads
(known/novel)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ML score novel
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Apply NDR
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>
                <a:solidFill>
                  <a:srgbClr val="FF8C00"/>
                </a:solidFill>
              </a:rPr>
              <a:t>Read </a:t>
            </a:r>
            <a:r>
              <a:rPr lang="es-ES" sz="830" b="1" dirty="0" err="1">
                <a:solidFill>
                  <a:srgbClr val="FF8C00"/>
                </a:solidFill>
              </a:rPr>
              <a:t>class-to-transcript</a:t>
            </a:r>
            <a:r>
              <a:rPr lang="es-ES" sz="830" b="1" dirty="0">
                <a:solidFill>
                  <a:srgbClr val="FF8C00"/>
                </a:solidFill>
              </a:rPr>
              <a:t> </a:t>
            </a:r>
            <a:r>
              <a:rPr lang="es-ES" sz="830" b="1" dirty="0" err="1">
                <a:solidFill>
                  <a:srgbClr val="FF8C00"/>
                </a:solidFill>
              </a:rPr>
              <a:t>assignment</a:t>
            </a:r>
            <a:endParaRPr lang="es-ES" sz="830" b="1" dirty="0">
              <a:solidFill>
                <a:srgbClr val="FF8C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 err="1">
                <a:solidFill>
                  <a:srgbClr val="F28C2A"/>
                </a:solidFill>
              </a:rPr>
              <a:t>Context-aware</a:t>
            </a:r>
            <a:r>
              <a:rPr lang="es-ES" sz="830" b="1" dirty="0">
                <a:solidFill>
                  <a:srgbClr val="F28C2A"/>
                </a:solidFill>
              </a:rPr>
              <a:t>
</a:t>
            </a:r>
            <a:r>
              <a:rPr lang="es-ES" sz="830" b="1" dirty="0" err="1">
                <a:solidFill>
                  <a:srgbClr val="F28C2A"/>
                </a:solidFill>
              </a:rPr>
              <a:t>quantification</a:t>
            </a:r>
            <a:endParaRPr lang="es-ES" sz="830" b="1" dirty="0">
              <a:solidFill>
                <a:srgbClr val="F28C2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github.com/GoekeLab/bambu · Chen et al., Nat Methods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18562BA-E592-9C90-027F-4B36A0D1265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82112" y="1380743"/>
            <a:ext cx="5841121" cy="2053484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E8103A52-8825-D9F5-C5E5-8B6E8E5580F2}"/>
              </a:ext>
            </a:extLst>
          </p:cNvPr>
          <p:cNvSpPr/>
          <p:nvPr/>
        </p:nvSpPr>
        <p:spPr>
          <a:xfrm>
            <a:off x="4969570" y="1655062"/>
            <a:ext cx="3990842" cy="1964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AA40-E883-D142-82AD-823534F9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C075-3ACD-0A73-9736-0B1DFD40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Bambu  —  Context-aware discovery + quantification, one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A0D76-1ECC-B969-18A3-9471C238D28D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A single, interpretable precision knob — the Novel Discovery Rate (NDR)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AFB4C3-961A-B6F3-4663-013AA53CEDD2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32655-DAB0-8872-8C0B-6359CC427A75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69DB8-23FE-6D49-6E12-28E09FDA2C59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Class-based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D9C8D-45FB-2F34-92D1-A7180C380680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08094-5309-DBE6-D116-489DB9CA0E40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194D6-5A9B-2F33-533A-ECD4DCB7E0B7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B3A0B-4EE7-1647-4B43-2782DE62F110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Chen et al., Nat Methods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51414-3E8F-2141-A254-51F4FD17F523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A44C3-1567-B25D-F305-433860C31E41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Extended annotation (GTF) + transcript &amp; gene count matrices (R/Bioconductor)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AAF1F4-6E1C-ECE9-0DE2-380396CDA7AF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D1450CE-3F51-705D-ACB0-AA3BA39F5406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5EEAD0-1AA4-CDDA-B9A2-374EFCED3555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88513D-019C-B733-5F79-53AA14E8F5FF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Aligned reads
+ annotation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0FE920-458E-1603-C3F1-929D9026FCA3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8F2242-91EC-9109-FF07-B08BED792FD9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Classify reads
(known/novel)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4B749-9DAA-EE95-68B3-045EAEE1532D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26BD6C-059B-F90E-3AB0-33354EC35623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ML score novel
candidates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DFAA1C-10E0-BB17-42BB-B41848BD8A49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1732AA2-C534-00A2-3C19-AA116E542D59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Apply NDR
threshold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A39B55-C204-3A01-D396-F3EC84BCCAB0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282B1C7-231D-10E7-C2E5-CC5F8FABF316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>
                <a:solidFill>
                  <a:srgbClr val="FF8C00"/>
                </a:solidFill>
              </a:rPr>
              <a:t>Read </a:t>
            </a:r>
            <a:r>
              <a:rPr lang="es-ES" sz="830" b="1" dirty="0" err="1">
                <a:solidFill>
                  <a:srgbClr val="FF8C00"/>
                </a:solidFill>
              </a:rPr>
              <a:t>class-to-transcript</a:t>
            </a:r>
            <a:r>
              <a:rPr lang="es-ES" sz="830" b="1" dirty="0">
                <a:solidFill>
                  <a:srgbClr val="FF8C00"/>
                </a:solidFill>
              </a:rPr>
              <a:t> </a:t>
            </a:r>
            <a:r>
              <a:rPr lang="es-ES" sz="830" b="1" dirty="0" err="1">
                <a:solidFill>
                  <a:srgbClr val="FF8C00"/>
                </a:solidFill>
              </a:rPr>
              <a:t>assignment</a:t>
            </a:r>
            <a:endParaRPr lang="es-ES" sz="830" b="1" dirty="0">
              <a:solidFill>
                <a:srgbClr val="FF8C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C77F6E-2989-6ACF-F27C-13D99683076B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F31A3D9-3D1D-9ABD-6ECD-84F043EBFF3E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 err="1">
                <a:solidFill>
                  <a:srgbClr val="F28C2A"/>
                </a:solidFill>
              </a:rPr>
              <a:t>Context-aware</a:t>
            </a:r>
            <a:r>
              <a:rPr lang="es-ES" sz="830" b="1" dirty="0">
                <a:solidFill>
                  <a:srgbClr val="F28C2A"/>
                </a:solidFill>
              </a:rPr>
              <a:t>
</a:t>
            </a:r>
            <a:r>
              <a:rPr lang="es-ES" sz="830" b="1" dirty="0" err="1">
                <a:solidFill>
                  <a:srgbClr val="F28C2A"/>
                </a:solidFill>
              </a:rPr>
              <a:t>quantification</a:t>
            </a:r>
            <a:endParaRPr lang="es-ES" sz="830" b="1" dirty="0">
              <a:solidFill>
                <a:srgbClr val="F28C2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3A3069-D73A-3E6D-B0AD-C8293ACFC769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github.com/GoekeLab/bambu · Chen et al., Nat Methods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7FB6A88-79AF-7DDC-093F-8C355E355F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82112" y="1380743"/>
            <a:ext cx="5841121" cy="2053484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F8F3A68A-7E5B-841A-AD9C-2B2E6ACE8E17}"/>
              </a:ext>
            </a:extLst>
          </p:cNvPr>
          <p:cNvSpPr/>
          <p:nvPr/>
        </p:nvSpPr>
        <p:spPr>
          <a:xfrm>
            <a:off x="6324018" y="1655062"/>
            <a:ext cx="2678274" cy="1964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2452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5702-B414-FA1F-18B1-0EBD70FC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4814-9AD1-4319-817D-B8026B5DD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Bambu  —  Context-aware discovery + quantification, one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CF782-15D1-25D2-06D2-284D7973C4A4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A single, interpretable precision knob — the Novel Discovery Rate (NDR)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143F04-866A-BF2B-C3AB-B0065C546D0E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4EEFB-B42E-2FC4-0FF7-D92E5A328358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5D4D2-FFD7-7BFF-28A2-B788C9EAB0AB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Class-based (reference-guided)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D2EF2-39B2-1306-F0C5-AD177ADE4BB1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0A55D-9C54-5BC3-33B9-21A58D8C6E1D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1EDA9-3669-9C93-163F-B103A48BD22F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214F0-9813-821F-FE3D-221CA2CBAA24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Chen et al., Nat Methods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81032-2ED0-C75B-DD50-663BC8850A28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1545C-A41F-89DD-52CF-B546EFD12E1A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Extended annotation (GTF) + transcript &amp; gene count matrices (R/Bioconductor)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C8CB2-9392-BE63-6CC0-B34C1AA8F24A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F3DD8B3-8A43-3CD4-0AA0-6ADC55CF7DD8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F8EA0-0CD1-2C1D-787A-EACF090AC1A3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4D7571-12E1-98D9-8D8F-7714158F65E2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Aligned reads
+ annotation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8E40D-3D25-C533-B9DC-FE852937D276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660E3A-F152-F840-B43E-E490B1F2B828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Classify reads
(known/novel)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BA2401-E4F4-BC1B-4DDE-E7AF79527C11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E2F688D-7231-0CFE-7F0D-FB1586E76A6C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ML score novel
candidates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495A3B-AFE4-BFEB-42B5-6F65C1B8D579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4D81534-4F82-1533-556A-64F366360F0E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Apply NDR
threshold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4FDF39-E3B6-FFE1-A0B5-7D9673695A0B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6D13F2C-2B0E-ECD3-54B6-7B46301BDB11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>
                <a:solidFill>
                  <a:schemeClr val="bg1"/>
                </a:solidFill>
                <a:latin typeface="Arial"/>
              </a:rPr>
              <a:t>Read 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class-to-transcript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assignment</a:t>
            </a:r>
            <a:endParaRPr sz="83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190486-C76E-663A-CD15-7FD988D1447F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EFA1509-77AB-7BB8-8226-3CD339E43031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es-ES" sz="830" b="1" dirty="0" err="1">
                <a:solidFill>
                  <a:schemeClr val="bg1"/>
                </a:solidFill>
              </a:rPr>
              <a:t>Context-aware</a:t>
            </a:r>
            <a:r>
              <a:rPr lang="es-ES" sz="830" b="1" dirty="0">
                <a:solidFill>
                  <a:schemeClr val="bg1"/>
                </a:solidFill>
              </a:rPr>
              <a:t>
</a:t>
            </a:r>
            <a:r>
              <a:rPr lang="es-ES" sz="830" b="1" dirty="0" err="1">
                <a:solidFill>
                  <a:schemeClr val="bg1"/>
                </a:solidFill>
              </a:rPr>
              <a:t>quantification</a:t>
            </a:r>
            <a:endParaRPr lang="es-ES" sz="83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35C8C9-D9F8-335A-01BF-E445576A4960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github.com/GoekeLab/bambu · Chen et al., Nat Methods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4BE9F24-3CEC-3EAA-1C7C-845FC3111A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82112" y="1380743"/>
            <a:ext cx="5841121" cy="20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1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IsoQuant  —  Accurate isoform discovery via intron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Intron graph + error-tolerant intron-chain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Graph-based (reference-based or -free)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Prjibelski et al., Nat Biotechnol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Reference-corrected &amp; novel transcript models (GTF) + quantification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Spliced
alignments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Build intron
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Inexact match
to annotation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Construct paths
= transcripts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novel
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Quantify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github.com/ablab/IsoQuant · Prjibelski et al., Nat Biotechnol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42852F4-FB2E-2CA3-37ED-A5840D205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395" y="596635"/>
            <a:ext cx="2617607" cy="3481589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850A087A-96EA-098A-13D5-06CEF3720C08}"/>
              </a:ext>
            </a:extLst>
          </p:cNvPr>
          <p:cNvSpPr/>
          <p:nvPr/>
        </p:nvSpPr>
        <p:spPr>
          <a:xfrm>
            <a:off x="4897989" y="2083718"/>
            <a:ext cx="2678274" cy="19640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CD8A-41AD-9FC0-D1F1-08659D9E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326C-2645-80B8-769C-658298B2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IsoQuant  —  Accurate isoform discovery via intron graphs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B73CD-6B3B-73C8-F11A-A41318D87810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Intron graph + error-tolerant intron-chain matching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15E5E01-5E0B-9D10-F539-5F38BE22511A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560CE-563F-C04D-CFE3-798D2C49974D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47DF6-8FB1-669E-10BA-830D70D6986E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Graph-based (reference-based or -free)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C8306-E3EF-9AA8-DD63-DE3DC79D9757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0EEDE-605D-D7C0-43FF-541A682F0A76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04DF7-DF19-5AFD-F37C-27A33D7FF60A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F76B5-900C-624D-B646-C0AF66409E6B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Prjibelski et al., Nat Biotechnol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CA4F2-963A-DDA6-5770-C5EEEFF5A565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F04C16-D807-EA62-9039-942338496495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Reference-corrected &amp; novel transcript models (GTF) + quantification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43905-4FBF-9EF3-2804-08AB28A1A607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2893D3-56E1-0D19-EE81-8B4976210423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BFD99-96F7-E2F3-1558-1C5E57D62506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09721C0-5F51-780D-A8CD-229B3282BBFB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Spliced
alignments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0D1EC-BE2B-8F99-7ED4-B3C2C6F1D1C1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DC91411-6F79-7FE1-1448-F0F3643BDBEE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Build intron
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009CF-0D23-52B3-1B8E-3F015BB5EE83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65527CE-DF4C-2EFA-81CF-039D5B228AE5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Inexact match
to annotation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CC118D-FE74-7C4A-C8D0-4458875A6188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E50EE9D-4D42-C4BB-8B8E-485A5FE75BA6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Construct paths
= transcripts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FFE3E0-96C1-1B5E-3B67-BE6D01DD6C6A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E9C621-DA1F-F56B-9856-33B422D00947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Collapse novel
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3DE2E3-36FC-AB92-1D74-DB2A573836DE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378EE3B-713C-A915-4D4B-7C5D7B0D4025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Quantify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08FD4-3394-80D2-B645-CCCBA3CBDA2B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github.com/ablab/IsoQuant · Prjibelski et al., Nat Biotechnol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9C0658C-3C07-B988-A99D-0EF153B68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395" y="596635"/>
            <a:ext cx="2617607" cy="3481589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1E7D7A38-0530-7430-63E7-138E4E868AA3}"/>
              </a:ext>
            </a:extLst>
          </p:cNvPr>
          <p:cNvSpPr/>
          <p:nvPr/>
        </p:nvSpPr>
        <p:spPr>
          <a:xfrm>
            <a:off x="4897989" y="2992513"/>
            <a:ext cx="2678274" cy="10552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623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48E2-9498-C176-1865-C7369376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423B-D31B-3B21-7E1C-83EB2547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IsoQuant  —  Accurate isoform discovery via intron graphs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9A904-730C-52CE-9FB0-30005E9CD33C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Intron graph + error-tolerant intron-chain matching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34C836-5853-AE1B-68CE-7DD5402E91BA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87D67-7043-D9F5-C00F-09E15E5B2D1C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10A4E-494D-F5B3-6D36-0BBA5390273E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Graph-based (reference-based or -free)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4B360-E49E-ED36-8395-A06BE97682F9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9212-4F29-F9DC-32EF-43D171F6CE87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3F8B9-A7B3-C721-DFA8-BCF56DBA39F2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04D8B-7DE4-045F-889C-B1ED5DC37D46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Prjibelski et al., Nat Biotechnol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35560-D79C-EB4D-D2B5-4E550C567DBC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281E0-5267-B2CD-80C5-B8D05AE04BF5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Reference-corrected &amp; novel transcript models (GTF) + quantification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4F7FC-E966-FC90-E328-64C9BD2D1A06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F9CC15-66C0-3B1F-AAE8-3E0F707EB607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D1E649-59BB-13E3-70B7-C06FB523E19E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498F45-82BD-0CFB-CA52-60A7EC930A2C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Spliced
alignments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9BACA-09FE-DE22-FF7B-CEB27871D2F7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529A049-AB33-6329-3CD1-41CE7B886B1D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Build intron
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952790-A0CE-07C8-F5C2-1C0AA48AE0B2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0CB0397-9D3C-17B4-7F72-9EE870D964A2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Inexact match
to annotation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94A80E-A5C5-6827-D5AF-084548B362A3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90E38A0-C104-5742-6662-1695D2904EE3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Construct paths
= transcripts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C2B49-5452-4D86-4B6E-548EA415CD78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0966413-D86A-F6FE-102C-7360939CCE5E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Collapse novel
models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7C04F1-87A8-0DDD-901A-2B1BA9B63903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D01BEA0-C812-22F0-387F-69B07E891077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0047AB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Quantify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7A1F50-1AFF-F182-F973-82F4957172F2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Arial"/>
              </a:rPr>
              <a:t>github.com/ablab/IsoQuant · Prjibelski et al., Nat Biotechnol 2023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AB8291FF-0DE3-B77E-2EB2-D4461D16E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395" y="596635"/>
            <a:ext cx="2617607" cy="348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71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isONclust  —  Reference-free clustering of long reads by gene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Key idea:  Greedy, quality-value-aware clustering with minimizers — no reference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Reference-free (de novo clustering)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(Iso-Seq)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Sahlin &amp; Medvedev, RECOMB/JCB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9E8C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Read clusters (one per gene family) → input to de novo isoform reconstruction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9E8C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426464"/>
            <a:ext cx="53949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Goal: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group reads that come from the same gene/transcript BEFORE any reference exists (step 1 of de novo reconstruction).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Sort: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order reads by a combination of quality value × length (best first).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Greedy assign: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each read is compared to existing cluster representatives via MINIMIZERS; high similarity → join, otherwise → seed a new cluster — avoiding costly all-vs-all.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Quality-aware: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uses per-base quality to tolerate variable ONT error rates.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isONclust3: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dynamically updates each cluster's minimizer set; scales to very large datasets.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149E8C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Then: 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isONcorrect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polishes each cluster; 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isONform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builds isoforms via a DAG that preserves real splicing variation.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9E8C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Raw long
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Sort by
quality × 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Greedy cluster
(minimizers)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isONcorrect
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isONform
DAG 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9E8C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14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149E8C"/>
                </a:solidFill>
                <a:latin typeface="Arial"/>
              </a:rPr>
              <a:t>De novo
isoforms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ksahlin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isONclust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· Sahlin et al. 2020; isONclust3 (2024)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lr-kallisto  —  Pseudoalignment quantification, adapted for long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kallisto's pseudoalignment + EM, retuned for long, error-prone reads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Annotation-driven (quantification)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· bulk &amp; single-cell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Loving et al., 2024 (Pachter lab)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Transcript &amp; gene count matrices (+ pseudobam) — fast, low-memory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426464"/>
            <a:ext cx="3257986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Pseudoalignment: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matches reads to a transcript-compatibility class via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— no base-level alignment, so it is extremely fast and light.</a:t>
            </a:r>
          </a:p>
          <a:p>
            <a:pPr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lang="es-ES" sz="1000" b="1" dirty="0">
                <a:solidFill>
                  <a:srgbClr val="222222"/>
                </a:solidFill>
              </a:rPr>
              <a:t>Longer k-</a:t>
            </a:r>
            <a:r>
              <a:rPr lang="es-ES" sz="1000" b="1" dirty="0" err="1">
                <a:solidFill>
                  <a:srgbClr val="222222"/>
                </a:solidFill>
              </a:rPr>
              <a:t>mers</a:t>
            </a:r>
            <a:r>
              <a:rPr lang="es-ES" sz="1000" b="1" dirty="0">
                <a:solidFill>
                  <a:srgbClr val="222222"/>
                </a:solidFill>
              </a:rPr>
              <a:t>: </a:t>
            </a:r>
            <a:r>
              <a:rPr lang="es-ES" sz="1000" dirty="0" err="1">
                <a:solidFill>
                  <a:srgbClr val="222222"/>
                </a:solidFill>
              </a:rPr>
              <a:t>An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index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is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constructed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by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creating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the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transcriptome</a:t>
            </a:r>
            <a:r>
              <a:rPr lang="es-ES" sz="1000" dirty="0">
                <a:solidFill>
                  <a:srgbClr val="222222"/>
                </a:solidFill>
              </a:rPr>
              <a:t> de </a:t>
            </a:r>
            <a:r>
              <a:rPr lang="es-ES" sz="1000" dirty="0" err="1">
                <a:solidFill>
                  <a:srgbClr val="222222"/>
                </a:solidFill>
              </a:rPr>
              <a:t>Bruijn</a:t>
            </a:r>
            <a:r>
              <a:rPr lang="es-ES" sz="1000" dirty="0">
                <a:solidFill>
                  <a:srgbClr val="222222"/>
                </a:solidFill>
              </a:rPr>
              <a:t> Graph (T-DBG) </a:t>
            </a:r>
            <a:r>
              <a:rPr lang="es-ES" sz="1000" dirty="0" err="1">
                <a:solidFill>
                  <a:srgbClr val="222222"/>
                </a:solidFill>
              </a:rPr>
              <a:t>where</a:t>
            </a:r>
            <a:r>
              <a:rPr lang="es-ES" sz="1000" dirty="0">
                <a:solidFill>
                  <a:srgbClr val="222222"/>
                </a:solidFill>
              </a:rPr>
              <a:t> </a:t>
            </a:r>
            <a:r>
              <a:rPr lang="es-ES" sz="1000" dirty="0" err="1">
                <a:solidFill>
                  <a:srgbClr val="222222"/>
                </a:solidFill>
              </a:rPr>
              <a:t>nodes</a:t>
            </a:r>
            <a:r>
              <a:rPr lang="es-ES" sz="1000" dirty="0">
                <a:solidFill>
                  <a:srgbClr val="222222"/>
                </a:solidFill>
              </a:rPr>
              <a:t> (v1, v2, v3, ... ) are k-</a:t>
            </a:r>
            <a:r>
              <a:rPr lang="es-ES" sz="1000" dirty="0" err="1">
                <a:solidFill>
                  <a:srgbClr val="222222"/>
                </a:solidFill>
              </a:rPr>
              <a:t>mers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Chaining: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chains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matches along long reads and reduces transcript-compatibility-graph complexity for speed.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EM: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expectation-maximization resolves multi-mapping reads into transcript abundances.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Scope: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quantifies a GIVEN reference transcriptome (bulk, single-cell, single-nuclei) — no novel-isoform discovery.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Reads + ref.
transcriptome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 dirty="0">
                <a:solidFill>
                  <a:srgbClr val="F28C2A"/>
                </a:solidFill>
                <a:latin typeface="Arial"/>
              </a:rPr>
              <a:t>Build index
</a:t>
            </a:r>
            <a:r>
              <a:rPr lang="es-ES" sz="830" b="1" dirty="0" err="1">
                <a:solidFill>
                  <a:srgbClr val="F28C2A"/>
                </a:solidFill>
                <a:latin typeface="Arial"/>
              </a:rPr>
              <a:t>c</a:t>
            </a:r>
            <a:r>
              <a:rPr lang="es-ES" sz="830" b="1" i="0" dirty="0" err="1">
                <a:solidFill>
                  <a:srgbClr val="F28C2A"/>
                </a:solidFill>
                <a:latin typeface="Arial"/>
              </a:rPr>
              <a:t>reate</a:t>
            </a:r>
            <a:r>
              <a:rPr lang="es-ES" sz="830" b="1" i="0" dirty="0">
                <a:solidFill>
                  <a:srgbClr val="F28C2A"/>
                </a:solidFill>
                <a:latin typeface="Arial"/>
              </a:rPr>
              <a:t> De-</a:t>
            </a:r>
            <a:r>
              <a:rPr lang="es-ES" sz="830" b="1" i="0" dirty="0" err="1">
                <a:solidFill>
                  <a:srgbClr val="F28C2A"/>
                </a:solidFill>
                <a:latin typeface="Arial"/>
              </a:rPr>
              <a:t>bruijn</a:t>
            </a:r>
            <a:r>
              <a:rPr lang="es-ES" sz="830" b="1" i="0" dirty="0">
                <a:solidFill>
                  <a:srgbClr val="F28C2A"/>
                </a:solidFill>
                <a:latin typeface="Arial"/>
              </a:rPr>
              <a:t> </a:t>
            </a:r>
            <a:r>
              <a:rPr lang="es-ES" sz="830" b="1" i="0" dirty="0" err="1">
                <a:solidFill>
                  <a:srgbClr val="F28C2A"/>
                </a:solidFill>
                <a:latin typeface="Arial"/>
              </a:rPr>
              <a:t>graph</a:t>
            </a:r>
            <a:endParaRPr sz="830" b="1" i="0" dirty="0">
              <a:solidFill>
                <a:srgbClr val="F28C2A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Pseudoalign
+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Compatibility
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EM
abundance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pachterlab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kallisto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(≥ v0.51) · Loving et al., PLOS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Comput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Biol 2025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E40D1CB-DA0B-A964-0BBD-7E494C58C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1" y="1381546"/>
            <a:ext cx="2125346" cy="2330918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A1045D73-997A-DAA1-6818-85EEA4C7EB19}"/>
              </a:ext>
            </a:extLst>
          </p:cNvPr>
          <p:cNvSpPr/>
          <p:nvPr/>
        </p:nvSpPr>
        <p:spPr>
          <a:xfrm>
            <a:off x="6679743" y="1705356"/>
            <a:ext cx="2216733" cy="21762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8F4C-07A1-3E3C-AC21-5E72059D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826D-4EBC-ABA4-E6BF-876AAAC3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lr-kallisto  —  Pseudoalignment quantification, adapted for long 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4A682-E2A9-D829-A408-8CA73132D46D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kallisto's pseudoalignment + EM, retuned for long, error-prone reads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B96BD2-0E60-01F1-BBFA-79FAE85DE834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77A77-B082-A905-F6F7-C5D374A5D633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915CA-5D88-88C8-8297-7EDC83C0E4E3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Annotation-driven (quantification)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F1F23-899E-CD66-D349-BAE079F030E3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CBF94-EB40-42CE-78F9-C18008A92D28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· bulk &amp; single-cell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FDD7F-9594-FC43-F0C3-167AE5945CCD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F57E6-618E-AADA-F323-90EDD5B37A5A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Loving et al., 2024 (Pachter lab)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CDB06-F1B6-75E3-DD2E-B82A2BC4F0D8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8B726-5CE5-D5F9-E8E7-337B1DF6DF0B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Transcript &amp; gene count matrices (+ pseudobam) — fast, low-memory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CAB14-ECAD-B331-E73E-EEF4E4C87A19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CA2A3-5C64-8562-2E01-3D54C30E8412}"/>
              </a:ext>
            </a:extLst>
          </p:cNvPr>
          <p:cNvSpPr txBox="1"/>
          <p:nvPr/>
        </p:nvSpPr>
        <p:spPr>
          <a:xfrm>
            <a:off x="3429000" y="1426464"/>
            <a:ext cx="3257986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Pseudoalignment: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matches reads to a transcript-compatibility class via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— no base-level alignment, so it is extremely fast and light.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Longer k-</a:t>
            </a:r>
            <a:r>
              <a:rPr sz="1000" b="1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: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An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index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constructed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by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creating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the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transcriptome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de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Bruijn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Graph (T-DBG)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where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nodes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(v1, v2, v3, ... ) are k-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Chaining: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chains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matches along long reads and reduces transcript-compatibility-graph complexity for speed.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EM: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expectation-maximization resolves multi-mapping reads into transcript abundances.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Scope: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quantifies a GIVEN reference transcriptome (bulk, single-cell, single-nuclei) — no novel-isoform discovery.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FBFF2E-41DB-E5E5-62C6-14058579C41D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DF0F16-0FD8-036E-6A4E-20F3DE97CF54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FDE755-AE80-FB61-E201-0B8A4877402A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Reads + ref.
transcriptome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8F4B4-5967-D261-2CD9-BB405AF08E68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BFCC76A-7580-1BA6-AC35-5BAD8E76801D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Build index
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create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De-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bruijn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graph</a:t>
            </a:r>
            <a:endParaRPr sz="83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CB72C5-1CBA-541D-8A06-3CCD76A66B4D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81F4536-293A-B33C-CC45-815766A94180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Pseudoalign
+ chain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5FBB36-745C-BD28-BEB1-3EF17856B424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06278ED-5D68-C485-D02E-78FE00BE298E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Compatibility
classes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8B7B4-3A1C-0913-3C23-100A648E8B85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BE419FE-EF65-A108-C7D5-8A26D269625C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EM
abundance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A59BD3-9790-203F-CFF8-95D4C7A11F1F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814AE6-13BF-C59F-B645-AC3FED7AEB96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Counts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931C08-5989-D33B-DD7A-B842BC9D89F4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pachterlab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kallisto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(≥ v0.51) · Loving et al., PLOS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Comput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Biol 2025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C3EF5CD-8171-57D9-5106-17134FB8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1" y="1381546"/>
            <a:ext cx="2125346" cy="2330918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5B12F8C0-B6D0-A5BC-5DF1-66339366C945}"/>
              </a:ext>
            </a:extLst>
          </p:cNvPr>
          <p:cNvSpPr/>
          <p:nvPr/>
        </p:nvSpPr>
        <p:spPr>
          <a:xfrm>
            <a:off x="6679743" y="2286000"/>
            <a:ext cx="2216733" cy="159562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907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ECD2-3CD2-DC0E-31DF-3B1BF529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5D20-5ADB-768C-D969-F7D23A0F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lr-kallisto  —  Pseudoalignment quantification, adapted for long 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402E5-A0BE-91C6-28DC-8BDAC61FAEBE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kallisto's pseudoalignment + EM, retuned for long, error-prone reads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AEE07B-FBA6-DCED-E70B-BB8CC8AB9731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38D88-7235-15DE-20CB-791321D6ECF0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27070-5CBB-5917-D1D0-DB3938D01EDA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Annotation-driven (quantification)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24CEC-4343-7730-D32E-98EFDCFDF127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ED3B6-EB88-0851-7A55-24764F962E2C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· bulk &amp; single-cell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7B837-5BAD-3EF9-16D5-C6053DDB8AAA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E6BBB-3B30-F1F5-AEF9-48422F8EB40E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Loving et al., 2024 (Pachter lab)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50A94-7122-CD88-880D-C6DFAA5B6E9A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DBBBB-0E2D-EFFF-555F-8FC354199242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Transcript &amp; gene count matrices (+ pseudobam) — fast, low-memory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58EB31-596A-E839-07EC-CCAAC13A8EA1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1EC95-5002-6DB9-A59B-20CF57C699AF}"/>
              </a:ext>
            </a:extLst>
          </p:cNvPr>
          <p:cNvSpPr txBox="1"/>
          <p:nvPr/>
        </p:nvSpPr>
        <p:spPr>
          <a:xfrm>
            <a:off x="3429000" y="1426464"/>
            <a:ext cx="3257986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Pseudoalignment: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matches reads to a transcript-compatibility class via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— no base-level alignment, so it is extremely fast and light.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Longer k-</a:t>
            </a:r>
            <a:r>
              <a:rPr sz="1000" b="1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: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An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index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constructed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by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creating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the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transcriptome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de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Bruijn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Graph (T-DBG)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where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nodes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(v1, v2, v3, ... ) are k-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Chaining: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chains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matches along long reads and reduces transcript-compatibility-graph complexity for speed.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EM: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expectation-maximization resolves multi-mapping reads into transcript abundances.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Scope: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quantifies a GIVEN reference transcriptome (bulk, single-cell, single-nuclei) — no novel-isoform discovery.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1CC358C-A8AD-35B7-BF9D-DA18EC1E915D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106E04-487F-ED5D-48DA-41816CC091DF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29D996E-7E12-25CA-D0CA-07AF776D2265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Reads + ref.
transcriptome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3CEA3F-E44B-EFBE-376B-5A2A8C22F676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62BBDA-3A9D-700B-CA06-84D36A557861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Build index
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create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De-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bruijn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graph</a:t>
            </a:r>
            <a:endParaRPr sz="83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C87546-F578-C551-79C7-662CDB08C1C0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1F2C3A6-2964-3206-05E8-855871B52350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Pseudoalign
+ chain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77536-83A6-437B-EF1F-33D08CBB3CE7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A13218B-7AC3-CAD9-B8B9-A136663206D6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Compatibility
classes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887F89-4E29-8D96-354C-9D8D127413F9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0120FCA-B57D-84CC-CDF2-1CC436136181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EM
abundance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C20B67-9B09-475D-2D64-8A9998888281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2F4FA35-36BD-ACD3-7ED6-57B6D50A8C46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F28C2A"/>
                </a:solidFill>
                <a:latin typeface="Arial"/>
              </a:rPr>
              <a:t>Counts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04A8B2-2B18-C767-8DBF-35C6C7B5D8FE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pachterlab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kallisto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(≥ v0.51) · Loving et al., PLOS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Comput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Biol 2025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02DD777-6DFB-D015-D403-96454048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1" y="1381546"/>
            <a:ext cx="2125346" cy="2330918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43B8537F-A445-7EA6-27A6-5336732C018C}"/>
              </a:ext>
            </a:extLst>
          </p:cNvPr>
          <p:cNvSpPr/>
          <p:nvPr/>
        </p:nvSpPr>
        <p:spPr>
          <a:xfrm>
            <a:off x="6679743" y="2854882"/>
            <a:ext cx="2216733" cy="10267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784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8F3D-EDB6-F102-2AEE-010AE25C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5652-AEE5-C9AE-803B-2A4C3A16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lr-kallisto  —  Pseudoalignment quantification, adapted for long 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4426C-56BF-12EE-4F0B-BF46AA59BC22}"/>
              </a:ext>
            </a:extLst>
          </p:cNvPr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Key idea:  kallisto's pseudoalignment + EM, retuned for long, error-prone reads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863188-5389-2EFA-0698-D0AD05D127B3}"/>
              </a:ext>
            </a:extLst>
          </p:cNvPr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C09FF-9FF7-7E7E-F270-26E3A2FD8981}"/>
              </a:ext>
            </a:extLst>
          </p:cNvPr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FAMILY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09A4A-CAF7-F655-29B0-86FF3A0C254A}"/>
              </a:ext>
            </a:extLst>
          </p:cNvPr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Annotation-driven (quantification)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DF791-4316-590D-2043-CA9D4A20F20A}"/>
              </a:ext>
            </a:extLst>
          </p:cNvPr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DA5DE-0A05-8FE4-A5B4-54F4EF758EBB}"/>
              </a:ext>
            </a:extLst>
          </p:cNvPr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&amp; PacBio · bulk &amp; single-cell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2BBA7-F69B-30C1-A8B2-28DC38DC431C}"/>
              </a:ext>
            </a:extLst>
          </p:cNvPr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79BC5F-6A22-5D7C-510E-FE93E85F7548}"/>
              </a:ext>
            </a:extLst>
          </p:cNvPr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Loving et al., 2024 (Pachter lab)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255C6F-93A3-EAAE-DA51-D38132D72645}"/>
              </a:ext>
            </a:extLst>
          </p:cNvPr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8C2A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1913E-3469-193A-7B9D-83455735A26A}"/>
              </a:ext>
            </a:extLst>
          </p:cNvPr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Transcript &amp; gene count matrices (+ pseudobam) — fast, low-memory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7131C-F157-A563-66EB-D2C3AB46CCC9}"/>
              </a:ext>
            </a:extLst>
          </p:cNvPr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1D67F-7FA9-3B60-695C-F37C37D09C5B}"/>
              </a:ext>
            </a:extLst>
          </p:cNvPr>
          <p:cNvSpPr txBox="1"/>
          <p:nvPr/>
        </p:nvSpPr>
        <p:spPr>
          <a:xfrm>
            <a:off x="3429000" y="1426464"/>
            <a:ext cx="3257986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Pseudoalignment: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matches reads to a transcript-compatibility class via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— no base-level alignment, so it is extremely fast and light.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Longer k-</a:t>
            </a:r>
            <a:r>
              <a:rPr sz="1000" b="1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: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An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index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is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constructed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by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creating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the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transcriptome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de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Bruijn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Graph (T-DBG)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where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nodes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 (v1, v2, v3, ... ) are k-</a:t>
            </a:r>
            <a:r>
              <a:rPr lang="es-ES" sz="1000" b="0" i="0" dirty="0" err="1">
                <a:solidFill>
                  <a:srgbClr val="222222"/>
                </a:solidFill>
                <a:latin typeface="Arial"/>
              </a:rPr>
              <a:t>mers</a:t>
            </a:r>
            <a:r>
              <a:rPr lang="es-ES" sz="1000" b="0" i="0" dirty="0">
                <a:solidFill>
                  <a:srgbClr val="222222"/>
                </a:solidFill>
                <a:latin typeface="Arial"/>
              </a:rPr>
              <a:t>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Chaining: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chains k-</a:t>
            </a:r>
            <a:r>
              <a:rPr sz="1000" b="0" i="0" dirty="0" err="1">
                <a:solidFill>
                  <a:srgbClr val="222222"/>
                </a:solidFill>
                <a:latin typeface="Arial"/>
              </a:rPr>
              <a:t>mer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 matches along long reads and reduces transcript-compatibility-graph complexity for speed.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EM: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expectation-maximization resolves multi-mapping reads into transcript abundances.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 dirty="0">
                <a:solidFill>
                  <a:srgbClr val="F28C2A"/>
                </a:solidFill>
                <a:latin typeface="Arial"/>
              </a:rPr>
              <a:t>▸  </a:t>
            </a:r>
            <a:r>
              <a:rPr sz="1000" b="1" i="0" dirty="0">
                <a:solidFill>
                  <a:srgbClr val="222222"/>
                </a:solidFill>
                <a:latin typeface="Arial"/>
              </a:rPr>
              <a:t>Scope: </a:t>
            </a:r>
            <a:r>
              <a:rPr sz="1000" b="0" i="0" dirty="0">
                <a:solidFill>
                  <a:srgbClr val="222222"/>
                </a:solidFill>
                <a:latin typeface="Arial"/>
              </a:rPr>
              <a:t>quantifies a GIVEN reference transcriptome (bulk, single-cell, single-nuclei) — no novel-isoform discovery.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57DE648-7D46-08B7-B36B-1B177792A3EF}"/>
              </a:ext>
            </a:extLst>
          </p:cNvPr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9806E4-5AB6-EDBC-2F00-4C7A51C4D95D}"/>
              </a:ext>
            </a:extLst>
          </p:cNvPr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8C2A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67686E-96D1-FEA5-2B47-378AA9671C6F}"/>
              </a:ext>
            </a:extLst>
          </p:cNvPr>
          <p:cNvSpPr/>
          <p:nvPr/>
        </p:nvSpPr>
        <p:spPr>
          <a:xfrm>
            <a:off x="411480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chemeClr val="bg1"/>
                </a:solidFill>
                <a:latin typeface="Arial"/>
              </a:rPr>
              <a:t>Reads + ref.
transcriptome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26BAD-F298-25DF-FB48-97A08C38E4D8}"/>
              </a:ext>
            </a:extLst>
          </p:cNvPr>
          <p:cNvSpPr txBox="1"/>
          <p:nvPr/>
        </p:nvSpPr>
        <p:spPr>
          <a:xfrm>
            <a:off x="1627631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338971-A5D0-4C47-B2A2-BFCF47804868}"/>
              </a:ext>
            </a:extLst>
          </p:cNvPr>
          <p:cNvSpPr/>
          <p:nvPr/>
        </p:nvSpPr>
        <p:spPr>
          <a:xfrm>
            <a:off x="1847088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dirty="0">
                <a:solidFill>
                  <a:schemeClr val="bg1"/>
                </a:solidFill>
                <a:latin typeface="Arial"/>
              </a:rPr>
              <a:t>Build index
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create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De-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bruijn</a:t>
            </a:r>
            <a:r>
              <a:rPr lang="es-ES" sz="830" b="1" dirty="0">
                <a:solidFill>
                  <a:schemeClr val="bg1"/>
                </a:solidFill>
                <a:latin typeface="Arial"/>
              </a:rPr>
              <a:t> </a:t>
            </a:r>
            <a:r>
              <a:rPr lang="es-ES" sz="830" b="1" dirty="0" err="1">
                <a:solidFill>
                  <a:schemeClr val="bg1"/>
                </a:solidFill>
                <a:latin typeface="Arial"/>
              </a:rPr>
              <a:t>graph</a:t>
            </a:r>
            <a:endParaRPr sz="83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F9A9B-800D-88DC-32D5-10DE05BC3C36}"/>
              </a:ext>
            </a:extLst>
          </p:cNvPr>
          <p:cNvSpPr txBox="1"/>
          <p:nvPr/>
        </p:nvSpPr>
        <p:spPr>
          <a:xfrm>
            <a:off x="3063240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98D21DA-A2F4-05E2-81EA-3F8C6AB76492}"/>
              </a:ext>
            </a:extLst>
          </p:cNvPr>
          <p:cNvSpPr/>
          <p:nvPr/>
        </p:nvSpPr>
        <p:spPr>
          <a:xfrm>
            <a:off x="3282696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Pseudoalign
+ chain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B83855-34B2-2C80-1CCC-3FAD0C10085A}"/>
              </a:ext>
            </a:extLst>
          </p:cNvPr>
          <p:cNvSpPr txBox="1"/>
          <p:nvPr/>
        </p:nvSpPr>
        <p:spPr>
          <a:xfrm>
            <a:off x="4498848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D6F1621-61BC-6B8C-571B-96118765141E}"/>
              </a:ext>
            </a:extLst>
          </p:cNvPr>
          <p:cNvSpPr/>
          <p:nvPr/>
        </p:nvSpPr>
        <p:spPr>
          <a:xfrm>
            <a:off x="4718303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Compatibility
classes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EBA552-37DE-AC11-E817-87F71C8A2D46}"/>
              </a:ext>
            </a:extLst>
          </p:cNvPr>
          <p:cNvSpPr txBox="1"/>
          <p:nvPr/>
        </p:nvSpPr>
        <p:spPr>
          <a:xfrm>
            <a:off x="5934455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45EA324-F39B-2E5B-8A8E-D26DF1743D1D}"/>
              </a:ext>
            </a:extLst>
          </p:cNvPr>
          <p:cNvSpPr/>
          <p:nvPr/>
        </p:nvSpPr>
        <p:spPr>
          <a:xfrm>
            <a:off x="6153912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EM
abundance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D4394-B6D1-63AF-A554-E5A74BB7D9CE}"/>
              </a:ext>
            </a:extLst>
          </p:cNvPr>
          <p:cNvSpPr txBox="1"/>
          <p:nvPr/>
        </p:nvSpPr>
        <p:spPr>
          <a:xfrm>
            <a:off x="7370064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8C2A"/>
                </a:solidFill>
                <a:latin typeface="Arial"/>
              </a:rPr>
              <a:t>▸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927A8DF-5B43-054D-5303-B4FB5F89F54F}"/>
              </a:ext>
            </a:extLst>
          </p:cNvPr>
          <p:cNvSpPr/>
          <p:nvPr/>
        </p:nvSpPr>
        <p:spPr>
          <a:xfrm>
            <a:off x="7589519" y="4114800"/>
            <a:ext cx="1234439" cy="566928"/>
          </a:xfrm>
          <a:prstGeom prst="roundRect">
            <a:avLst>
              <a:gd name="adj" fmla="val 12000"/>
            </a:avLst>
          </a:prstGeom>
          <a:solidFill>
            <a:srgbClr val="F28C29"/>
          </a:solidFill>
          <a:ln w="12700">
            <a:solidFill>
              <a:srgbClr val="F2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>
                <a:solidFill>
                  <a:schemeClr val="bg1"/>
                </a:solidFill>
                <a:latin typeface="Arial"/>
              </a:rPr>
              <a:t>Counts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FF2338-DB66-037B-946F-E7A6C14081C0}"/>
              </a:ext>
            </a:extLst>
          </p:cNvPr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pachterlab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kallisto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(≥ v0.51) · Loving et al., PLOS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Comput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Biol 2025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7945EC47-5083-6B5A-BB86-CBEE388E6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1" y="1381546"/>
            <a:ext cx="2125346" cy="233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01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Oarfish  —  Coverage-aware probabilistic long-read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Key idea:  An EM model enriched with a transcript-coverage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78992"/>
            <a:ext cx="2788920" cy="26517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07007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0743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Annotation-driven (quantification)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9636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333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ONT cDNA &amp; direct-RNA · PacBio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1226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Jousheghani &amp; Patro, ISMB/Bioinformatics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4892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47AB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8628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22222"/>
                </a:solidFill>
                <a:latin typeface="Arial"/>
              </a:rPr>
              <a:t>Transcript-level abundance estimates (counts / TPM)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0789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426464"/>
            <a:ext cx="2664673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000" b="1" i="0">
                <a:solidFill>
                  <a:srgbClr val="222222"/>
                </a:solidFill>
                <a:latin typeface="Arial"/>
              </a:rPr>
              <a:t>Input: </a:t>
            </a:r>
            <a:r>
              <a:rPr sz="1000" b="0" i="0">
                <a:solidFill>
                  <a:srgbClr val="222222"/>
                </a:solidFill>
                <a:latin typeface="Arial"/>
              </a:rPr>
              <a:t>reads aligned to a reference transcriptome (e.g. with minimap2).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000" b="1" i="0">
                <a:solidFill>
                  <a:srgbClr val="222222"/>
                </a:solidFill>
                <a:latin typeface="Arial"/>
              </a:rPr>
              <a:t>EM allocation: </a:t>
            </a:r>
            <a:r>
              <a:rPr sz="1000" b="0" i="0">
                <a:solidFill>
                  <a:srgbClr val="222222"/>
                </a:solidFill>
                <a:latin typeface="Arial"/>
              </a:rPr>
              <a:t>resolves multi-mapping reads by maximum-likelihood estimation of relative isoform abundances.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000" b="1" i="0">
                <a:solidFill>
                  <a:srgbClr val="222222"/>
                </a:solidFill>
                <a:latin typeface="Arial"/>
              </a:rPr>
              <a:t>Coverage model (--model-coverage): </a:t>
            </a:r>
            <a:r>
              <a:rPr sz="1000" b="0" i="0">
                <a:solidFill>
                  <a:srgbClr val="222222"/>
                </a:solidFill>
                <a:latin typeface="Arial"/>
              </a:rPr>
              <a:t>a novel coverage SCORE enters the per-fragment assignment probability, correcting for uneven / 3′-biased long-read coverage.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000" b="1" i="0">
                <a:solidFill>
                  <a:srgbClr val="222222"/>
                </a:solidFill>
                <a:latin typeface="Arial"/>
              </a:rPr>
              <a:t>Effect: </a:t>
            </a:r>
            <a:r>
              <a:rPr sz="1000" b="0" i="0">
                <a:solidFill>
                  <a:srgbClr val="222222"/>
                </a:solidFill>
                <a:latin typeface="Arial"/>
              </a:rPr>
              <a:t>more accurate estimates than prior long-read quantifiers, especially for the primary isoforms of a cell type.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000" b="1" i="0">
                <a:solidFill>
                  <a:srgbClr val="222222"/>
                </a:solidFill>
                <a:latin typeface="Arial"/>
              </a:rPr>
              <a:t>Engineering: </a:t>
            </a:r>
            <a:r>
              <a:rPr sz="1000" b="0" i="0">
                <a:solidFill>
                  <a:srgbClr val="222222"/>
                </a:solidFill>
                <a:latin typeface="Arial"/>
              </a:rPr>
              <a:t>written in Rust — fast, parallel, open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2788920" cy="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89534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47AB"/>
                </a:solidFill>
                <a:latin typeface="Arial"/>
              </a:rPr>
              <a:t>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152156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Align to ref.
transcriptome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4753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4209" y="4114800"/>
            <a:ext cx="152156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Per-fragment
probabilities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7483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6939" y="4114800"/>
            <a:ext cx="152156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Add coverage
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0212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9668" y="4114800"/>
            <a:ext cx="152156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EM
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2942" y="4114800"/>
            <a:ext cx="23774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7AB"/>
                </a:solidFill>
                <a:latin typeface="Arial"/>
              </a:rPr>
              <a:t>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2398" y="4114800"/>
            <a:ext cx="1521561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0047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30" b="1" i="0">
                <a:solidFill>
                  <a:srgbClr val="0047AB"/>
                </a:solidFill>
                <a:latin typeface="Arial"/>
              </a:rPr>
              <a:t>Abundances
(TPM)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754880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 dirty="0" err="1">
                <a:solidFill>
                  <a:srgbClr val="666666"/>
                </a:solidFill>
                <a:latin typeface="Arial"/>
              </a:rPr>
              <a:t>github.com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/COMBINE-lab/oarfish · </a:t>
            </a:r>
            <a:r>
              <a:rPr sz="750" b="0" i="0" dirty="0" err="1">
                <a:solidFill>
                  <a:srgbClr val="666666"/>
                </a:solidFill>
                <a:latin typeface="Arial"/>
              </a:rPr>
              <a:t>Jousheghani</a:t>
            </a:r>
            <a:r>
              <a:rPr sz="750" b="0" i="0" dirty="0">
                <a:solidFill>
                  <a:srgbClr val="666666"/>
                </a:solidFill>
                <a:latin typeface="Arial"/>
              </a:rPr>
              <a:t> &amp; Patro, Bioinformatics 2025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95DAE32-8939-EFBE-4178-F8B9187F3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275" y="1241770"/>
            <a:ext cx="2864181" cy="22726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F329-ECCB-B3B4-75E1-4EA2D191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C1B1-9C91-79D0-FBC1-ABE5908C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The seven algorithms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EE10-8022-18F8-F930-43906D5F6B08}"/>
              </a:ext>
            </a:extLst>
          </p:cNvPr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Discovery tools build models; quantification tools assume a transcriptome. Match the tool to the question.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316A66-CB8D-57F6-991A-1052172EB856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143000"/>
          <a:ext cx="8412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Reference need</a:t>
                      </a:r>
                    </a:p>
                  </a:txBody>
                  <a:tcPr marL="54864" marR="54864" marT="27432" marB="27432" anchor="ctr">
                    <a:solidFill>
                      <a:srgbClr val="0047A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54864" marR="54864" marT="27432" marB="27432" anchor="ctr">
                    <a:solidFill>
                      <a:srgbClr val="004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Iso-Seq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Discovery+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Cluster→collapse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Genome (post)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PacBio HiFi, polished full-length isoforms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FLAIR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Discovery+quant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Cluster (junction chains)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Genome + annot/SR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ONT correction, isoform usage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Bambu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900" b="0" dirty="0">
                          <a:solidFill>
                            <a:srgbClr val="222222"/>
                          </a:solidFill>
                          <a:latin typeface="Arial"/>
                        </a:rPr>
                        <a:t>Reference </a:t>
                      </a:r>
                      <a:r>
                        <a:rPr lang="es-ES" sz="900" b="0" dirty="0" err="1">
                          <a:solidFill>
                            <a:srgbClr val="222222"/>
                          </a:solidFill>
                          <a:latin typeface="Arial"/>
                        </a:rPr>
                        <a:t>transcripts</a:t>
                      </a:r>
                      <a:endParaRPr sz="900" b="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Class + ML (NDR)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Genome + annotation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Controlled novel discovery, many samples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IsoQuant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Discovery+quant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Intron graph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Genome (±annot)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Low false positives, ONT &amp; PacBio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isONclust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Clustering (de novo)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Greedy minimizers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No reference / non-model organisms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lr-kallisto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Quantification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Pseudoalign + EM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Transcriptome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Fast bulk/single-cell counts</a:t>
                      </a:r>
                    </a:p>
                  </a:txBody>
                  <a:tcPr marL="54864"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47AB"/>
                          </a:solidFill>
                          <a:latin typeface="Arial"/>
                        </a:rPr>
                        <a:t>Oarfish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Quantification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Coverage 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Transcriptome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222222"/>
                          </a:solidFill>
                          <a:latin typeface="Arial"/>
                        </a:rPr>
                        <a:t>Accurate abundance, 3′-bias correction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927C53-D1E8-51E3-9276-8A3E79E11A3A}"/>
              </a:ext>
            </a:extLst>
          </p:cNvPr>
          <p:cNvSpPr txBox="1"/>
          <p:nvPr/>
        </p:nvSpPr>
        <p:spPr>
          <a:xfrm>
            <a:off x="365760" y="4590288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Arial"/>
              </a:rPr>
              <a:t>“Discovery+” = identifies novel transcripts and quantifies them.</a:t>
            </a:r>
          </a:p>
        </p:txBody>
      </p:sp>
    </p:spTree>
    <p:extLst>
      <p:ext uri="{BB962C8B-B14F-4D97-AF65-F5344CB8AC3E}">
        <p14:creationId xmlns:p14="http://schemas.microsoft.com/office/powerpoint/2010/main" val="1682208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4F9D-ED60-2F3C-2BBE-3C0D8FC5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AE59-CD27-2F5D-5745-40529DE2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sz="1575" b="1" i="0" dirty="0">
                <a:solidFill>
                  <a:srgbClr val="FFFFFF"/>
                </a:solidFill>
                <a:latin typeface="Arial"/>
              </a:rPr>
              <a:t>Time </a:t>
            </a:r>
            <a:r>
              <a:rPr lang="es-ES" sz="1575" b="1" i="0" dirty="0" err="1">
                <a:solidFill>
                  <a:srgbClr val="FFFFFF"/>
                </a:solidFill>
                <a:latin typeface="Arial"/>
              </a:rPr>
              <a:t>to</a:t>
            </a:r>
            <a:r>
              <a:rPr lang="es-ES" sz="1575" b="1" i="0" dirty="0">
                <a:solidFill>
                  <a:srgbClr val="FFFFFF"/>
                </a:solidFill>
                <a:latin typeface="Arial"/>
              </a:rPr>
              <a:t> test </a:t>
            </a:r>
            <a:r>
              <a:rPr lang="es-ES" sz="1575" b="1" i="0" dirty="0" err="1">
                <a:solidFill>
                  <a:srgbClr val="FFFFFF"/>
                </a:solidFill>
                <a:latin typeface="Arial"/>
              </a:rPr>
              <a:t>your</a:t>
            </a:r>
            <a:r>
              <a:rPr lang="es-ES" sz="1575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s-ES" sz="1575" b="1" i="0" dirty="0" err="1">
                <a:solidFill>
                  <a:srgbClr val="FFFFFF"/>
                </a:solidFill>
                <a:latin typeface="Arial"/>
              </a:rPr>
              <a:t>knowledge</a:t>
            </a:r>
            <a:endParaRPr sz="1575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65B69E8-5258-B123-4831-9EFAD22D5D21}"/>
              </a:ext>
            </a:extLst>
          </p:cNvPr>
          <p:cNvSpPr/>
          <p:nvPr/>
        </p:nvSpPr>
        <p:spPr>
          <a:xfrm>
            <a:off x="1435594" y="1543791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</a:t>
            </a:r>
            <a:r>
              <a:rPr lang="es-ES" sz="1200" b="1" dirty="0" err="1">
                <a:solidFill>
                  <a:schemeClr val="tx2"/>
                </a:solidFill>
              </a:rPr>
              <a:t>have</a:t>
            </a:r>
            <a:r>
              <a:rPr lang="es-ES" sz="1200" b="1" dirty="0">
                <a:solidFill>
                  <a:schemeClr val="tx2"/>
                </a:solidFill>
              </a:rPr>
              <a:t> a </a:t>
            </a:r>
            <a:r>
              <a:rPr lang="es-ES" sz="1200" b="1" dirty="0" err="1">
                <a:solidFill>
                  <a:schemeClr val="tx2"/>
                </a:solidFill>
              </a:rPr>
              <a:t>reference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annotation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but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want</a:t>
            </a:r>
            <a:r>
              <a:rPr lang="es-ES" sz="1200" b="1" dirty="0">
                <a:solidFill>
                  <a:schemeClr val="tx2"/>
                </a:solidFill>
              </a:rPr>
              <a:t> no </a:t>
            </a:r>
            <a:r>
              <a:rPr lang="es-ES" sz="1200" b="1" dirty="0" err="1">
                <a:solidFill>
                  <a:schemeClr val="tx2"/>
                </a:solidFill>
              </a:rPr>
              <a:t>find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808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A49D-F716-0942-AAA7-A40262C7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1BC2-4BD5-A092-5E48-A05EDB04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0118066-0281-66F6-F30D-AC133EBF3DD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00D729C0-D635-B060-A714-374911920B7E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91F6E974-2EB9-BD37-BE40-7F67C6E18DF8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B6395008-816E-B08B-7A19-714248068189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67E3AF3A-B459-BBAD-35A0-27ABD639086F}"/>
              </a:ext>
            </a:extLst>
          </p:cNvPr>
          <p:cNvSpPr/>
          <p:nvPr/>
        </p:nvSpPr>
        <p:spPr>
          <a:xfrm>
            <a:off x="3441693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03658AE6-1FBC-1D41-0BE7-E07A9D9975A7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946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30D4-8F31-DE51-49BF-633FAF50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CC94-D60D-6E3E-4BDE-9F719D3E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B7367D7-5E13-39E5-0934-60379C56DE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31430E2E-3A47-4979-F43E-AE6D6BBD1CD1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40B5EB9A-B56C-AC70-AD0F-5728A7614011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4C996F07-C9AA-DC40-A1BD-8CE5746FF53A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E0DB93B3-6F9B-387C-D102-3A9834251A0E}"/>
              </a:ext>
            </a:extLst>
          </p:cNvPr>
          <p:cNvSpPr/>
          <p:nvPr/>
        </p:nvSpPr>
        <p:spPr>
          <a:xfrm>
            <a:off x="3441693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4E7E6B29-05B9-EF92-88F5-A3327839649D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78A2DF8-AC22-AD5E-EE60-F9414A8494AA}"/>
              </a:ext>
            </a:extLst>
          </p:cNvPr>
          <p:cNvSpPr/>
          <p:nvPr/>
        </p:nvSpPr>
        <p:spPr>
          <a:xfrm>
            <a:off x="1435594" y="1543791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You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but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want</a:t>
            </a:r>
            <a:r>
              <a:rPr lang="es-ES" sz="1200" b="1" dirty="0">
                <a:solidFill>
                  <a:schemeClr val="tx1"/>
                </a:solidFill>
              </a:rPr>
              <a:t> no </a:t>
            </a:r>
            <a:r>
              <a:rPr lang="es-ES" sz="1200" b="1" dirty="0" err="1">
                <a:solidFill>
                  <a:schemeClr val="tx1"/>
                </a:solidFill>
              </a:rPr>
              <a:t>find</a:t>
            </a:r>
            <a:r>
              <a:rPr lang="es-ES" sz="1200" b="1" dirty="0">
                <a:solidFill>
                  <a:schemeClr val="tx1"/>
                </a:solidFill>
              </a:rPr>
              <a:t> novel </a:t>
            </a:r>
            <a:r>
              <a:rPr lang="es-ES" sz="1200" b="1" dirty="0" err="1">
                <a:solidFill>
                  <a:schemeClr val="tx1"/>
                </a:solidFill>
              </a:rPr>
              <a:t>transcripts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1746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12A9-7994-8286-E0F5-9BBAC457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0D18-D167-8735-0345-AFE33495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49B171C-5C2A-F4B2-469B-7482E005E2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F9A18B06-7DB9-3D4D-7098-4112CF4B715F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734CF4B3-DF3E-3D86-3C50-C1DCCC95BB03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7823C2C6-08D9-0770-41EC-5B48A21C350E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11BD3823-9263-A5CB-17A9-5284BB861196}"/>
              </a:ext>
            </a:extLst>
          </p:cNvPr>
          <p:cNvSpPr/>
          <p:nvPr/>
        </p:nvSpPr>
        <p:spPr>
          <a:xfrm>
            <a:off x="3441693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8A4BF976-EFF6-AF5B-CF8B-16DAA8FC6C56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E4C6D5A-C7DD-B388-813A-5D55EDC3FDAC}"/>
              </a:ext>
            </a:extLst>
          </p:cNvPr>
          <p:cNvSpPr/>
          <p:nvPr/>
        </p:nvSpPr>
        <p:spPr>
          <a:xfrm>
            <a:off x="1435594" y="1543791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You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but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want</a:t>
            </a:r>
            <a:r>
              <a:rPr lang="es-ES" sz="1200" b="1" dirty="0">
                <a:solidFill>
                  <a:schemeClr val="tx1"/>
                </a:solidFill>
              </a:rPr>
              <a:t> no </a:t>
            </a:r>
            <a:r>
              <a:rPr lang="es-ES" sz="1200" b="1" dirty="0" err="1">
                <a:solidFill>
                  <a:schemeClr val="tx1"/>
                </a:solidFill>
              </a:rPr>
              <a:t>find</a:t>
            </a:r>
            <a:r>
              <a:rPr lang="es-ES" sz="1200" b="1" dirty="0">
                <a:solidFill>
                  <a:schemeClr val="tx1"/>
                </a:solidFill>
              </a:rPr>
              <a:t> novel </a:t>
            </a:r>
            <a:r>
              <a:rPr lang="es-ES" sz="1200" b="1" dirty="0" err="1">
                <a:solidFill>
                  <a:schemeClr val="tx1"/>
                </a:solidFill>
              </a:rPr>
              <a:t>transcripts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CF9BCDE4-B2D6-CE4C-F7C2-78FA45EF324D}"/>
              </a:ext>
            </a:extLst>
          </p:cNvPr>
          <p:cNvSpPr/>
          <p:nvPr/>
        </p:nvSpPr>
        <p:spPr>
          <a:xfrm>
            <a:off x="1435594" y="3229202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Lenient</a:t>
            </a:r>
            <a:r>
              <a:rPr lang="es-ES" sz="12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Isoseq2, FLAIR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Conservative:</a:t>
            </a:r>
          </a:p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IsoQuant</a:t>
            </a:r>
            <a:r>
              <a:rPr lang="es-ES" sz="1200" b="1" dirty="0">
                <a:solidFill>
                  <a:schemeClr val="tx1"/>
                </a:solidFill>
              </a:rPr>
              <a:t>, </a:t>
            </a:r>
            <a:r>
              <a:rPr lang="es-ES" sz="1200" b="1" dirty="0" err="1">
                <a:solidFill>
                  <a:schemeClr val="tx1"/>
                </a:solidFill>
              </a:rPr>
              <a:t>Bambu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849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E317-394B-CE66-E0C8-24217FC5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F634-938C-A8E0-729A-C52766C7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9D8E9AF1-38E0-CD54-17EE-63D889C7FE88}"/>
              </a:ext>
            </a:extLst>
          </p:cNvPr>
          <p:cNvSpPr/>
          <p:nvPr/>
        </p:nvSpPr>
        <p:spPr>
          <a:xfrm>
            <a:off x="3692471" y="1543790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have</a:t>
            </a:r>
            <a:r>
              <a:rPr lang="es-ES" sz="1200" b="1" dirty="0">
                <a:solidFill>
                  <a:schemeClr val="tx2"/>
                </a:solidFill>
              </a:rPr>
              <a:t> a </a:t>
            </a:r>
            <a:r>
              <a:rPr lang="es-ES" sz="1200" b="1" dirty="0" err="1">
                <a:solidFill>
                  <a:schemeClr val="tx2"/>
                </a:solidFill>
              </a:rPr>
              <a:t>reference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annotation</a:t>
            </a:r>
            <a:endParaRPr lang="es-E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148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39B4-4716-8107-21BA-2075EC7D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BF59-9198-2923-FE17-F586C956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A4FB2CD-0DD0-B508-BD08-8A5AB7D7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1" t="4607"/>
          <a:stretch>
            <a:fillRect/>
          </a:stretch>
        </p:blipFill>
        <p:spPr>
          <a:xfrm>
            <a:off x="3586821" y="1545144"/>
            <a:ext cx="3967863" cy="3344193"/>
          </a:xfrm>
          <a:prstGeom prst="rect">
            <a:avLst/>
          </a:prstGeom>
        </p:spPr>
      </p:pic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E91DC00A-5C34-E9D1-795E-B86B3E9AC8F1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9FD2D05-1A24-4AFD-094E-F64990B94948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3D0CA950-80E5-E0A5-88EA-EB20AE73B437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725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93EC-1094-E811-9901-CCB9C141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8329-2D34-B3B7-1A9C-9741DF10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7E833D4-23B0-5F2A-0071-3C05EAE3F6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1" t="4607"/>
          <a:stretch>
            <a:fillRect/>
          </a:stretch>
        </p:blipFill>
        <p:spPr>
          <a:xfrm>
            <a:off x="3586821" y="1545144"/>
            <a:ext cx="3967863" cy="3344193"/>
          </a:xfrm>
          <a:prstGeom prst="rect">
            <a:avLst/>
          </a:prstGeom>
        </p:spPr>
      </p:pic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B358A45B-5593-FD52-E87C-F8241A376F21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6C20F3D8-48C8-7662-9C1F-66677C31FAD9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C6DF15F0-F352-5071-2F18-07B7F375E447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42011AEC-540A-A60E-C6D3-7F8E854D92CD}"/>
              </a:ext>
            </a:extLst>
          </p:cNvPr>
          <p:cNvSpPr/>
          <p:nvPr/>
        </p:nvSpPr>
        <p:spPr>
          <a:xfrm>
            <a:off x="3692471" y="1543790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 do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646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977-1C04-36AD-48F4-6BF895D7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7A27-EC09-3B20-A862-CF1BA16B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4C7D8EE-6D7D-630C-1E4E-D343271C72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91" t="4607"/>
          <a:stretch>
            <a:fillRect/>
          </a:stretch>
        </p:blipFill>
        <p:spPr>
          <a:xfrm>
            <a:off x="3586821" y="1545144"/>
            <a:ext cx="3967863" cy="3344193"/>
          </a:xfrm>
          <a:prstGeom prst="rect">
            <a:avLst/>
          </a:prstGeom>
        </p:spPr>
      </p:pic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A9DD95B6-2398-C887-C18E-F03BBEC0853B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36F7F9E9-A465-4249-5790-CC705C47AA25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5BF7485E-8F28-8357-F49F-78BE3328BE47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3739C976-07D8-EA57-DEF0-D244AA52974A}"/>
              </a:ext>
            </a:extLst>
          </p:cNvPr>
          <p:cNvSpPr/>
          <p:nvPr/>
        </p:nvSpPr>
        <p:spPr>
          <a:xfrm>
            <a:off x="3692471" y="1543790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 do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91AF0CD-FA2B-4098-9D43-D2E94E9A94FD}"/>
              </a:ext>
            </a:extLst>
          </p:cNvPr>
          <p:cNvSpPr/>
          <p:nvPr/>
        </p:nvSpPr>
        <p:spPr>
          <a:xfrm>
            <a:off x="3667920" y="3216563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Still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working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very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well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558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72E16-D205-8A4A-9500-425A4937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2CE5-118D-1464-21A8-4207C535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BFE8D1A-72AF-FABF-7066-FB3A21BFC3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837CC59D-D86F-023D-2666-D48EBFB11262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392AF9AD-F1DE-7816-5D7D-A029E83A34C1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1EDFD607-5763-EDAE-A6AB-DD304CF94D2E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6EE71F51-959D-9EAB-D95A-8366FCE7F347}"/>
              </a:ext>
            </a:extLst>
          </p:cNvPr>
          <p:cNvSpPr/>
          <p:nvPr/>
        </p:nvSpPr>
        <p:spPr>
          <a:xfrm>
            <a:off x="5557179" y="845575"/>
            <a:ext cx="2055593" cy="3628454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E4A5B206-5DAD-3912-68E1-1945BAAB500A}"/>
              </a:ext>
            </a:extLst>
          </p:cNvPr>
          <p:cNvSpPr/>
          <p:nvPr/>
        </p:nvSpPr>
        <p:spPr>
          <a:xfrm>
            <a:off x="3692471" y="1543790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 do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7CD83F53-6A9D-A12D-7D45-750FE4BB7C52}"/>
              </a:ext>
            </a:extLst>
          </p:cNvPr>
          <p:cNvSpPr/>
          <p:nvPr/>
        </p:nvSpPr>
        <p:spPr>
          <a:xfrm>
            <a:off x="3667920" y="3216563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Still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working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very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well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8D2CABDE-6117-CC08-5637-F50773CA1D2E}"/>
              </a:ext>
            </a:extLst>
          </p:cNvPr>
          <p:cNvSpPr/>
          <p:nvPr/>
        </p:nvSpPr>
        <p:spPr>
          <a:xfrm>
            <a:off x="1435594" y="1543791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You </a:t>
            </a:r>
            <a:r>
              <a:rPr lang="es-ES" sz="1200" b="1" dirty="0" err="1">
                <a:solidFill>
                  <a:schemeClr val="tx1"/>
                </a:solidFill>
              </a:rPr>
              <a:t>have</a:t>
            </a:r>
            <a:r>
              <a:rPr lang="es-ES" sz="1200" b="1" dirty="0">
                <a:solidFill>
                  <a:schemeClr val="tx1"/>
                </a:solidFill>
              </a:rPr>
              <a:t> a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annotation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but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want</a:t>
            </a:r>
            <a:r>
              <a:rPr lang="es-ES" sz="1200" b="1" dirty="0">
                <a:solidFill>
                  <a:schemeClr val="tx1"/>
                </a:solidFill>
              </a:rPr>
              <a:t> no </a:t>
            </a:r>
            <a:r>
              <a:rPr lang="es-ES" sz="1200" b="1" dirty="0" err="1">
                <a:solidFill>
                  <a:schemeClr val="tx1"/>
                </a:solidFill>
              </a:rPr>
              <a:t>find</a:t>
            </a:r>
            <a:r>
              <a:rPr lang="es-ES" sz="1200" b="1" dirty="0">
                <a:solidFill>
                  <a:schemeClr val="tx1"/>
                </a:solidFill>
              </a:rPr>
              <a:t> novel </a:t>
            </a:r>
            <a:r>
              <a:rPr lang="es-ES" sz="1200" b="1" dirty="0" err="1">
                <a:solidFill>
                  <a:schemeClr val="tx1"/>
                </a:solidFill>
              </a:rPr>
              <a:t>transcripts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479DFCB1-9837-3989-BA68-00087F1F4C10}"/>
              </a:ext>
            </a:extLst>
          </p:cNvPr>
          <p:cNvSpPr/>
          <p:nvPr/>
        </p:nvSpPr>
        <p:spPr>
          <a:xfrm>
            <a:off x="1435594" y="3229202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Lenient</a:t>
            </a:r>
            <a:r>
              <a:rPr lang="es-ES" sz="12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Isoseq2, FLAIR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Conservative:</a:t>
            </a:r>
          </a:p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IsoQuant</a:t>
            </a:r>
            <a:r>
              <a:rPr lang="es-ES" sz="1200" b="1" dirty="0">
                <a:solidFill>
                  <a:schemeClr val="tx1"/>
                </a:solidFill>
              </a:rPr>
              <a:t>, </a:t>
            </a:r>
            <a:r>
              <a:rPr lang="es-ES" sz="1200" b="1" dirty="0" err="1">
                <a:solidFill>
                  <a:schemeClr val="tx1"/>
                </a:solidFill>
              </a:rPr>
              <a:t>Bambu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1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10AC-1290-09CC-DEEE-52F0CC4D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AAD4-DB0B-EF94-FFBF-6B230B16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FB8A037E-5220-F57D-B665-722B39F660B4}"/>
              </a:ext>
            </a:extLst>
          </p:cNvPr>
          <p:cNvSpPr/>
          <p:nvPr/>
        </p:nvSpPr>
        <p:spPr>
          <a:xfrm>
            <a:off x="5699260" y="1529179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care </a:t>
            </a:r>
            <a:r>
              <a:rPr lang="es-ES" sz="1200" b="1" dirty="0" err="1">
                <a:solidFill>
                  <a:schemeClr val="tx2"/>
                </a:solidFill>
              </a:rPr>
              <a:t>about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endParaRPr lang="es-E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9816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4F399-07AD-398E-BAF5-80FCC93E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53C3-57EC-AED5-5211-C500D105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3AA2BD4-E03F-B1E0-5A04-01988AEF868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5" t="4607"/>
          <a:stretch>
            <a:fillRect/>
          </a:stretch>
        </p:blipFill>
        <p:spPr>
          <a:xfrm>
            <a:off x="5535561" y="1545144"/>
            <a:ext cx="2019124" cy="3344193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11D0ED9F-4630-60BA-96A5-E1A34F9F270E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709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93AC-A81C-0D36-D568-67FD6E5D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1B03-20C3-C25A-8839-2BF6BEC0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D5AA4D7-4667-543D-AE55-D76C5BC93E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5" t="4607"/>
          <a:stretch>
            <a:fillRect/>
          </a:stretch>
        </p:blipFill>
        <p:spPr>
          <a:xfrm>
            <a:off x="5535561" y="1545144"/>
            <a:ext cx="2019124" cy="3344193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B0ABE433-84D5-BD6B-FB52-63D8F59E480C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6B9A036D-DCB8-848E-173A-4C510493A183}"/>
              </a:ext>
            </a:extLst>
          </p:cNvPr>
          <p:cNvSpPr/>
          <p:nvPr/>
        </p:nvSpPr>
        <p:spPr>
          <a:xfrm>
            <a:off x="5699260" y="1529179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care </a:t>
            </a:r>
            <a:r>
              <a:rPr lang="es-ES" sz="1200" b="1" dirty="0" err="1">
                <a:solidFill>
                  <a:schemeClr val="tx2"/>
                </a:solidFill>
              </a:rPr>
              <a:t>about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endParaRPr lang="es-ES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769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47F1-2060-C411-D0D8-4CEA9393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D32A-3A45-910B-1229-1E79E8EA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Why is identification hard? The core challenges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78D8D6D-4E5E-F152-B7CF-A4B6EB3503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5" t="4607"/>
          <a:stretch>
            <a:fillRect/>
          </a:stretch>
        </p:blipFill>
        <p:spPr>
          <a:xfrm>
            <a:off x="5535561" y="1545144"/>
            <a:ext cx="2019124" cy="3344193"/>
          </a:xfrm>
          <a:prstGeom prst="rect">
            <a:avLst/>
          </a:prstGeom>
        </p:spPr>
      </p:pic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1CD07EF0-7084-E520-FA1C-E07B5BA8AC0E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778DD97-61FF-8F5A-5703-FF8F964FEA5C}"/>
              </a:ext>
            </a:extLst>
          </p:cNvPr>
          <p:cNvSpPr/>
          <p:nvPr/>
        </p:nvSpPr>
        <p:spPr>
          <a:xfrm>
            <a:off x="5699260" y="1529179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care </a:t>
            </a:r>
            <a:r>
              <a:rPr lang="es-ES" sz="1200" b="1" dirty="0" err="1">
                <a:solidFill>
                  <a:schemeClr val="tx2"/>
                </a:solidFill>
              </a:rPr>
              <a:t>about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8A902A98-7C75-9855-C5E9-94499A198370}"/>
              </a:ext>
            </a:extLst>
          </p:cNvPr>
          <p:cNvSpPr/>
          <p:nvPr/>
        </p:nvSpPr>
        <p:spPr>
          <a:xfrm>
            <a:off x="5748967" y="3229202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If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the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is</a:t>
            </a:r>
            <a:r>
              <a:rPr lang="es-ES" sz="1200" b="1" dirty="0">
                <a:solidFill>
                  <a:schemeClr val="tx1"/>
                </a:solidFill>
              </a:rPr>
              <a:t> incomplete, </a:t>
            </a:r>
            <a:r>
              <a:rPr lang="es-ES" sz="1200" b="1" dirty="0" err="1">
                <a:solidFill>
                  <a:schemeClr val="tx1"/>
                </a:solidFill>
              </a:rPr>
              <a:t>you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may</a:t>
            </a:r>
            <a:r>
              <a:rPr lang="es-ES" sz="1200" b="1" dirty="0">
                <a:solidFill>
                  <a:schemeClr val="tx1"/>
                </a:solidFill>
              </a:rPr>
              <a:t> introduces </a:t>
            </a:r>
            <a:r>
              <a:rPr lang="es-ES" sz="1200" b="1" dirty="0" err="1">
                <a:solidFill>
                  <a:schemeClr val="tx1"/>
                </a:solidFill>
              </a:rPr>
              <a:t>biases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692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sz="1575" b="1" i="0" dirty="0" err="1">
                <a:solidFill>
                  <a:srgbClr val="FFFFFF"/>
                </a:solidFill>
                <a:latin typeface="Arial"/>
              </a:rPr>
              <a:t>Summary</a:t>
            </a:r>
            <a:endParaRPr sz="1575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B10392-115F-2547-A8F4-84E2EDA8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7"/>
          <a:stretch>
            <a:fillRect/>
          </a:stretch>
        </p:blipFill>
        <p:spPr>
          <a:xfrm>
            <a:off x="1384661" y="1545144"/>
            <a:ext cx="6170024" cy="3344193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64EA78FE-94AF-FECE-EA85-E8BCD267F3F4}"/>
              </a:ext>
            </a:extLst>
          </p:cNvPr>
          <p:cNvSpPr/>
          <p:nvPr/>
        </p:nvSpPr>
        <p:spPr>
          <a:xfrm>
            <a:off x="1435594" y="919083"/>
            <a:ext cx="1759057" cy="4494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 -</a:t>
            </a:r>
            <a:r>
              <a:rPr lang="es-ES" sz="1200" b="1" dirty="0" err="1">
                <a:solidFill>
                  <a:schemeClr val="tx2"/>
                </a:solidFill>
              </a:rPr>
              <a:t>based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1E392DA9-EBF4-B8A5-0C0C-8EAA5CD8157F}"/>
              </a:ext>
            </a:extLst>
          </p:cNvPr>
          <p:cNvSpPr/>
          <p:nvPr/>
        </p:nvSpPr>
        <p:spPr>
          <a:xfrm>
            <a:off x="3667920" y="919083"/>
            <a:ext cx="1663032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Reference-free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670D37E9-150E-616A-4C8A-D47857FE788B}"/>
              </a:ext>
            </a:extLst>
          </p:cNvPr>
          <p:cNvSpPr/>
          <p:nvPr/>
        </p:nvSpPr>
        <p:spPr>
          <a:xfrm>
            <a:off x="5702308" y="919083"/>
            <a:ext cx="1852377" cy="4494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2"/>
                </a:solidFill>
              </a:rPr>
              <a:t>Pseudomappers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C059DCFC-2FDD-DA13-9352-1389A58733BB}"/>
              </a:ext>
            </a:extLst>
          </p:cNvPr>
          <p:cNvSpPr/>
          <p:nvPr/>
        </p:nvSpPr>
        <p:spPr>
          <a:xfrm>
            <a:off x="1435594" y="1543791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</a:t>
            </a:r>
            <a:r>
              <a:rPr lang="es-ES" sz="1200" b="1" dirty="0" err="1">
                <a:solidFill>
                  <a:schemeClr val="tx2"/>
                </a:solidFill>
              </a:rPr>
              <a:t>have</a:t>
            </a:r>
            <a:r>
              <a:rPr lang="es-ES" sz="1200" b="1" dirty="0">
                <a:solidFill>
                  <a:schemeClr val="tx2"/>
                </a:solidFill>
              </a:rPr>
              <a:t> a </a:t>
            </a:r>
            <a:r>
              <a:rPr lang="es-ES" sz="1200" b="1" dirty="0" err="1">
                <a:solidFill>
                  <a:schemeClr val="tx2"/>
                </a:solidFill>
              </a:rPr>
              <a:t>reference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annotation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but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want</a:t>
            </a:r>
            <a:r>
              <a:rPr lang="es-ES" sz="1200" b="1" dirty="0">
                <a:solidFill>
                  <a:schemeClr val="tx2"/>
                </a:solidFill>
              </a:rPr>
              <a:t> no </a:t>
            </a:r>
            <a:r>
              <a:rPr lang="es-ES" sz="1200" b="1" dirty="0" err="1">
                <a:solidFill>
                  <a:schemeClr val="tx2"/>
                </a:solidFill>
              </a:rPr>
              <a:t>find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62B0291A-B9AB-5E5F-E355-DF45C8B5F2BC}"/>
              </a:ext>
            </a:extLst>
          </p:cNvPr>
          <p:cNvSpPr/>
          <p:nvPr/>
        </p:nvSpPr>
        <p:spPr>
          <a:xfrm>
            <a:off x="3692471" y="1543790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have</a:t>
            </a:r>
            <a:r>
              <a:rPr lang="es-ES" sz="1200" b="1" dirty="0">
                <a:solidFill>
                  <a:schemeClr val="tx2"/>
                </a:solidFill>
              </a:rPr>
              <a:t> a </a:t>
            </a:r>
            <a:r>
              <a:rPr lang="es-ES" sz="1200" b="1" dirty="0" err="1">
                <a:solidFill>
                  <a:schemeClr val="tx2"/>
                </a:solidFill>
              </a:rPr>
              <a:t>reference</a:t>
            </a:r>
            <a:r>
              <a:rPr lang="es-ES" sz="1200" b="1" dirty="0">
                <a:solidFill>
                  <a:schemeClr val="tx2"/>
                </a:solidFill>
              </a:rPr>
              <a:t> </a:t>
            </a:r>
            <a:r>
              <a:rPr lang="es-ES" sz="1200" b="1" dirty="0" err="1">
                <a:solidFill>
                  <a:schemeClr val="tx2"/>
                </a:solidFill>
              </a:rPr>
              <a:t>annotation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AC79B256-D64E-3877-A0BD-77EB32947415}"/>
              </a:ext>
            </a:extLst>
          </p:cNvPr>
          <p:cNvSpPr/>
          <p:nvPr/>
        </p:nvSpPr>
        <p:spPr>
          <a:xfrm>
            <a:off x="5699260" y="1529179"/>
            <a:ext cx="1759057" cy="1613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2"/>
                </a:solidFill>
              </a:rPr>
              <a:t>You do </a:t>
            </a:r>
            <a:r>
              <a:rPr lang="es-ES" sz="1200" b="1" dirty="0" err="1">
                <a:solidFill>
                  <a:schemeClr val="tx2"/>
                </a:solidFill>
              </a:rPr>
              <a:t>not</a:t>
            </a:r>
            <a:r>
              <a:rPr lang="es-ES" sz="1200" b="1" dirty="0">
                <a:solidFill>
                  <a:schemeClr val="tx2"/>
                </a:solidFill>
              </a:rPr>
              <a:t> care </a:t>
            </a:r>
            <a:r>
              <a:rPr lang="es-ES" sz="1200" b="1" dirty="0" err="1">
                <a:solidFill>
                  <a:schemeClr val="tx2"/>
                </a:solidFill>
              </a:rPr>
              <a:t>about</a:t>
            </a:r>
            <a:r>
              <a:rPr lang="es-ES" sz="1200" b="1" dirty="0">
                <a:solidFill>
                  <a:schemeClr val="tx2"/>
                </a:solidFill>
              </a:rPr>
              <a:t> novel </a:t>
            </a:r>
            <a:r>
              <a:rPr lang="es-ES" sz="1200" b="1" dirty="0" err="1">
                <a:solidFill>
                  <a:schemeClr val="tx2"/>
                </a:solidFill>
              </a:rPr>
              <a:t>transcripts</a:t>
            </a:r>
            <a:endParaRPr lang="es-ES" sz="1200" b="1" dirty="0">
              <a:solidFill>
                <a:schemeClr val="tx2"/>
              </a:solidFill>
            </a:endParaRP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2C06889E-CAFC-2761-2E48-5BBC22D976DB}"/>
              </a:ext>
            </a:extLst>
          </p:cNvPr>
          <p:cNvSpPr/>
          <p:nvPr/>
        </p:nvSpPr>
        <p:spPr>
          <a:xfrm>
            <a:off x="3667920" y="3216563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Still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not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working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very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well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FB178A25-5D10-CF48-C05B-EA4E902AC22D}"/>
              </a:ext>
            </a:extLst>
          </p:cNvPr>
          <p:cNvSpPr/>
          <p:nvPr/>
        </p:nvSpPr>
        <p:spPr>
          <a:xfrm>
            <a:off x="1435594" y="3229202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Lenient</a:t>
            </a:r>
            <a:r>
              <a:rPr lang="es-ES" sz="12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Isoseq2, FLAIR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Conservative:</a:t>
            </a:r>
          </a:p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IsoQuant</a:t>
            </a:r>
            <a:r>
              <a:rPr lang="es-ES" sz="1200" b="1" dirty="0">
                <a:solidFill>
                  <a:schemeClr val="tx1"/>
                </a:solidFill>
              </a:rPr>
              <a:t>, </a:t>
            </a:r>
            <a:r>
              <a:rPr lang="es-ES" sz="1200" b="1" dirty="0" err="1">
                <a:solidFill>
                  <a:schemeClr val="tx1"/>
                </a:solidFill>
              </a:rPr>
              <a:t>Bambu</a:t>
            </a:r>
            <a:endParaRPr lang="es-ES" sz="1200" b="1" dirty="0">
              <a:solidFill>
                <a:schemeClr val="tx1"/>
              </a:solidFill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69D206B-0EDD-C20D-6748-6142A487EACB}"/>
              </a:ext>
            </a:extLst>
          </p:cNvPr>
          <p:cNvSpPr/>
          <p:nvPr/>
        </p:nvSpPr>
        <p:spPr>
          <a:xfrm>
            <a:off x="5748967" y="3229201"/>
            <a:ext cx="1759057" cy="1613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b="1" dirty="0" err="1">
                <a:solidFill>
                  <a:schemeClr val="tx1"/>
                </a:solidFill>
              </a:rPr>
              <a:t>If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the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reference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is</a:t>
            </a:r>
            <a:r>
              <a:rPr lang="es-ES" sz="1200" b="1" dirty="0">
                <a:solidFill>
                  <a:schemeClr val="tx1"/>
                </a:solidFill>
              </a:rPr>
              <a:t> incomplete, </a:t>
            </a:r>
            <a:r>
              <a:rPr lang="es-ES" sz="1200" b="1" dirty="0" err="1">
                <a:solidFill>
                  <a:schemeClr val="tx1"/>
                </a:solidFill>
              </a:rPr>
              <a:t>you</a:t>
            </a:r>
            <a:r>
              <a:rPr lang="es-ES" sz="1200" b="1" dirty="0">
                <a:solidFill>
                  <a:schemeClr val="tx1"/>
                </a:solidFill>
              </a:rPr>
              <a:t> </a:t>
            </a:r>
            <a:r>
              <a:rPr lang="es-ES" sz="1200" b="1" dirty="0" err="1">
                <a:solidFill>
                  <a:schemeClr val="tx1"/>
                </a:solidFill>
              </a:rPr>
              <a:t>may</a:t>
            </a:r>
            <a:r>
              <a:rPr lang="es-ES" sz="1200" b="1" dirty="0">
                <a:solidFill>
                  <a:schemeClr val="tx1"/>
                </a:solidFill>
              </a:rPr>
              <a:t> introduces </a:t>
            </a:r>
            <a:r>
              <a:rPr lang="es-ES" sz="1200" b="1" dirty="0" err="1">
                <a:solidFill>
                  <a:schemeClr val="tx1"/>
                </a:solidFill>
              </a:rPr>
              <a:t>biases</a:t>
            </a:r>
            <a:endParaRPr lang="es-E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 dirty="0">
                <a:solidFill>
                  <a:srgbClr val="FFFFFF"/>
                </a:solidFill>
                <a:latin typeface="Arial"/>
              </a:rPr>
              <a:t>Evaluating </a:t>
            </a:r>
            <a:r>
              <a:rPr lang="es-ES" sz="1575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s-ES" sz="1575" b="1" i="0" dirty="0" err="1">
                <a:solidFill>
                  <a:srgbClr val="FFFFFF"/>
                </a:solidFill>
                <a:latin typeface="Arial"/>
              </a:rPr>
              <a:t>concordance</a:t>
            </a:r>
            <a:r>
              <a:rPr sz="1575" b="1" i="0" dirty="0">
                <a:solidFill>
                  <a:srgbClr val="FFFFFF"/>
                </a:solidFill>
                <a:latin typeface="Arial"/>
              </a:rPr>
              <a:t>: </a:t>
            </a:r>
            <a:r>
              <a:rPr lang="es-ES" sz="1575" b="1" i="0" dirty="0">
                <a:solidFill>
                  <a:srgbClr val="FFFFFF"/>
                </a:solidFill>
                <a:latin typeface="Arial"/>
              </a:rPr>
              <a:t>LRGASP</a:t>
            </a:r>
            <a:endParaRPr sz="1575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Arial"/>
              </a:rPr>
              <a:t>SQANTI3 — Pardo-Palacios et al., Nat Methods 2024; widely adopted standard for lrRNA-seq transcriptome QC.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B456F780-AD02-A29B-DC03-6B9E81AA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4916"/>
            <a:ext cx="7772400" cy="365900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What the benchmarks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LRGASP (Pardo-Palacios et al.) and independent benchmarks — distilled.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7AB"/>
                </a:solidFill>
                <a:latin typeface="Arial"/>
              </a:rPr>
              <a:t>PacBio HiFi → more accurate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544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High-precision PacBio data yields more accurate transcript models than ONT; ONT wins on length &amp; native 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4300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143000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126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9E8C"/>
                </a:solidFill>
                <a:latin typeface="Arial"/>
              </a:rPr>
              <a:t>No single best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5544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IsoQuant, StringTie2, Bambu and FLAIR are all effective; StringTie2 often most accurate, Bambu highest power for novel isoforms.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45059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8C2A"/>
                </a:solidFill>
                <a:latin typeface="Arial"/>
              </a:rPr>
              <a:t>Precision is the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43199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Even top tools show low precision for novel transcripts → always validate with orthogonal data (CAGE, short reads, poly(A)).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331720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2331720"/>
            <a:ext cx="54864" cy="1078992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28031" y="245059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7AB"/>
                </a:solidFill>
                <a:latin typeface="Arial"/>
              </a:rPr>
              <a:t>Depth ↑ sensitivity, not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2743199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More reads detect more low-expression isoforms but do not make individual models more accurate.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54864" cy="1078992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63931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9E8C"/>
                </a:solidFill>
                <a:latin typeface="Arial"/>
              </a:rPr>
              <a:t>Annotation helps — when 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9319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Using a high-quality reference annotation increases true-positive detection; incomplete annotations mislead.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52043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3520439"/>
            <a:ext cx="54864" cy="1078992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1" y="3639311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8C2A"/>
                </a:solidFill>
                <a:latin typeface="Arial"/>
              </a:rPr>
              <a:t>Tunable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1" y="393192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Tools expose parameters to trade error tolerance vs. biological assumptions — tune to your platform &amp; question.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Which tool? A practical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Start from your biological question and the resources available for your organism.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7008"/>
            <a:ext cx="8321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" cy="658368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52044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Do you have a genome + annotation?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8016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YES → reference-based identification. NO → reference-free (isONclust → isONcorrect → isONform).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9384"/>
            <a:ext cx="8321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929384"/>
            <a:ext cx="54864" cy="6583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352044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Do you need NOVEL isoforms, or just counts?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02536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Novel discovery → IsoQuant / Bambu / FLAIR / Iso-Seq.   Counts on known transcripts only → lr-kallisto / Oarfish.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8321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4864" cy="658368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352044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PacBio HiFi or ONT?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24912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PacBio → Iso-Seq, IsoQuant (high precision).   ONT → FLAIR / IsoQuant (error correction), Oarfish for dRNA.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74136"/>
            <a:ext cx="8321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374136"/>
            <a:ext cx="54864" cy="658368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65576"/>
            <a:ext cx="352044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Worried about false positives across many samples?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8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Bambu's NDR gives one calibrated, reproducible precision knob; IsoQuant minimizes false positives by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96512"/>
            <a:ext cx="8321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96512"/>
            <a:ext cx="54864" cy="6583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352044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Whatever you pick: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69664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22222"/>
                </a:solidFill>
                <a:latin typeface="Arial"/>
              </a:rPr>
              <a:t>Run SQANTI3, validate novel models with orthogonal data, and report structural categories.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Summary &amp;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173736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47AB"/>
                </a:solidFill>
                <a:latin typeface="Arial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Long reads turn isoform structure into a measurement. A mature toolkit — Iso-Seq, FLAIR, Bambu, IsoQuant — reconstructs transcripts via cluster, graph and class-based logic; lr-kallisto &amp; Oarfish quantify fast; isONclust opens non-model organisms.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114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54864" cy="1737360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31" y="13075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8C2A"/>
                </a:solidFill>
                <a:latin typeface="Arial"/>
              </a:rPr>
              <a:t>What's still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1" y="160020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i="0">
                <a:solidFill>
                  <a:srgbClr val="222222"/>
                </a:solidFill>
                <a:latin typeface="Arial"/>
              </a:rPr>
              <a:t>Precision for novel, low-expression isoforms; reproducibility across replicates; separating biological splicing noise from technical noise; complete &amp; accurate TSS/TTS; fair, standardized benchmarking.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83210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Take-home: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there is no single best tool — choose by question, platform and reference, and always curate with SQANTI3 + orthogonal evidence.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0047AB"/>
                </a:solidFill>
                <a:latin typeface="Arial"/>
              </a:rPr>
              <a:t>▸ 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Direction of travel: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single-cell &amp; spatial long reads, native-RNA modifications, and ML-based confidence scoring (à la Bambu) for trustworthy novel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Arial"/>
              </a:rPr>
              <a:t>Full review: Monzó, Liu &amp; Conesa, Nature Reviews Genetics 2025, doi:10.1038/s41576-025-00828-z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1575" b="1" i="0">
                <a:solidFill>
                  <a:srgbClr val="FFFFFF"/>
                </a:solidFill>
                <a:latin typeface="Arial"/>
              </a:rPr>
              <a:t>Method papers — fetch the original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Arial"/>
              </a:rPr>
              <a:t>Procedure diagrams above are schematic. Original workflow figures are in these papers (open access where noted).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4572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79576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Iso-Seq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179576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PacBio official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179576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isoseq.how  ·  github.com/PacificBiosciences/IsoSeq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6776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4864" cy="4572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673352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FLAIR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673352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Tang et al., Nat Commun 2020 (OA) — Fig.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73352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nature.com/articles/s41467-020-15171-6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0552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130552"/>
            <a:ext cx="54864" cy="457200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167128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Bambu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16712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Chen et al., Nat Methods 2023 — Fig.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1671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nature.com/articles/s41592-023-01908-w  ·  PMC10448944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24328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624328"/>
            <a:ext cx="54864" cy="4572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660904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IsoQuant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2660904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Prjibelski et al., Nat Biotechnol 2023 — Fig.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660904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nature.com/articles/s41587-022-01565-y  ·  PMC10344776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18104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118104"/>
            <a:ext cx="54864" cy="45720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80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9E8C"/>
                </a:solidFill>
                <a:latin typeface="Arial"/>
              </a:rPr>
              <a:t>isONclust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15468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Sahlin &amp; Medvedev, J Comput Biol 2020; isONclust3 (OA)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154680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doi.org/10.1089/cmb.2019.0299  ·  biorxiv 2024.10.29.620862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1188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54864" cy="457200"/>
          </a:xfrm>
          <a:prstGeom prst="rect">
            <a:avLst/>
          </a:prstGeom>
          <a:solidFill>
            <a:srgbClr val="F2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3648456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8C2A"/>
                </a:solidFill>
                <a:latin typeface="Arial"/>
              </a:rPr>
              <a:t>lr-kallisto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3648456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Loving et al., PLOS Comput Biol 2025 (OA) — Fig.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648456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biorxiv 2024.07.19.604364  ·  PMC11275803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05656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105656"/>
            <a:ext cx="54864" cy="457200"/>
          </a:xfrm>
          <a:prstGeom prst="rect">
            <a:avLst/>
          </a:prstGeom>
          <a:solidFill>
            <a:srgbClr val="004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4142232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7AB"/>
                </a:solidFill>
                <a:latin typeface="Arial"/>
              </a:rPr>
              <a:t>Oarfish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142232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</a:rPr>
              <a:t>Jousheghani &amp; Patro, Bioinformatics 2025 (OA)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142232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047AB"/>
                </a:solidFill>
                <a:latin typeface="Arial"/>
              </a:rPr>
              <a:t>biorxiv 2024.02.28.582591  ·  PMC12261437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7903" y="1207936"/>
            <a:ext cx="205960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925" dirty="0"/>
          </a:p>
        </p:txBody>
      </p:sp>
      <p:sp>
        <p:nvSpPr>
          <p:cNvPr id="4" name="Shape 1"/>
          <p:cNvSpPr/>
          <p:nvPr/>
        </p:nvSpPr>
        <p:spPr>
          <a:xfrm>
            <a:off x="4143375" y="1908023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289739" y="3135464"/>
            <a:ext cx="46359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 about the Conesa Lab: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824278" y="3535514"/>
            <a:ext cx="15668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https://conesalab.org</a:t>
            </a:r>
            <a:endParaRPr lang="en-US" sz="1350" dirty="0"/>
          </a:p>
        </p:txBody>
      </p:sp>
      <p:sp>
        <p:nvSpPr>
          <p:cNvPr id="8" name="Rounded Rectangle 7"/>
          <p:cNvSpPr/>
          <p:nvPr/>
        </p:nvSpPr>
        <p:spPr>
          <a:xfrm>
            <a:off x="3537585" y="2112619"/>
            <a:ext cx="2068830" cy="9182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nes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25" y="2216149"/>
            <a:ext cx="1885950" cy="71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ngTREC_PowerPoint_Template" id="{CC4E40BC-BE01-B34D-9C90-CC136DB86376}" vid="{B3F24151-5428-BE4A-9FF9-141C8CA6E3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</TotalTime>
  <Words>5195</Words>
  <Application>Microsoft Macintosh PowerPoint</Application>
  <PresentationFormat>Presentación en pantalla (16:9)</PresentationFormat>
  <Paragraphs>851</Paragraphs>
  <Slides>54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8" baseType="lpstr">
      <vt:lpstr>Arial</vt:lpstr>
      <vt:lpstr>Avenir Book</vt:lpstr>
      <vt:lpstr>Open Sans Light</vt:lpstr>
      <vt:lpstr>Office Theme</vt:lpstr>
      <vt:lpstr>Presentación de PowerPoint</vt:lpstr>
      <vt:lpstr>Outline</vt:lpstr>
      <vt:lpstr>Why long reads for transcriptomics?</vt:lpstr>
      <vt:lpstr>Two goals: identification &amp; quantification</vt:lpstr>
      <vt:lpstr>Presentación de PowerPoint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Three strategies to get transcripts &amp; counts</vt:lpstr>
      <vt:lpstr>A map of identification algorithms</vt:lpstr>
      <vt:lpstr>Iso-Seq  —  PacBio's de novo isoform discovery pipeline</vt:lpstr>
      <vt:lpstr>Iso-Seq  —  PacBio's de novo isoform discovery pipeline</vt:lpstr>
      <vt:lpstr>Iso-Seq  —  PacBio's de novo isoform discovery pipeline</vt:lpstr>
      <vt:lpstr>Iso-Seq  —  PacBio's de novo isoform discovery pipeline</vt:lpstr>
      <vt:lpstr>Iso-Seq  —  PacBio's de novo isoform discovery pipeline</vt:lpstr>
      <vt:lpstr>FLAIR  —  Full-Length Alternative Isoform analysis of RNA</vt:lpstr>
      <vt:lpstr>FLAIR  —  Full-Length Alternative Isoform analysis of RNA</vt:lpstr>
      <vt:lpstr>FLAIR  —  Full-Length Alternative Isoform analysis of RNA</vt:lpstr>
      <vt:lpstr>FLAIR  —  Full-Length Alternative Isoform analysis of RNA</vt:lpstr>
      <vt:lpstr>FLAIR  —  Full-Length Alternative Isoform analysis of RNA</vt:lpstr>
      <vt:lpstr>Bambu  —  Context-aware discovery + quantification, one model</vt:lpstr>
      <vt:lpstr>Bambu  —  Context-aware discovery + quantification, one model</vt:lpstr>
      <vt:lpstr>Bambu  —  Context-aware discovery + quantification, one model</vt:lpstr>
      <vt:lpstr>IsoQuant  —  Accurate isoform discovery via intron graphs</vt:lpstr>
      <vt:lpstr>IsoQuant  —  Accurate isoform discovery via intron graphs</vt:lpstr>
      <vt:lpstr>IsoQuant  —  Accurate isoform discovery via intron graphs</vt:lpstr>
      <vt:lpstr>isONclust  —  Reference-free clustering of long reads by gene origin</vt:lpstr>
      <vt:lpstr>lr-kallisto  —  Pseudoalignment quantification, adapted for long reads</vt:lpstr>
      <vt:lpstr>lr-kallisto  —  Pseudoalignment quantification, adapted for long reads</vt:lpstr>
      <vt:lpstr>lr-kallisto  —  Pseudoalignment quantification, adapted for long reads</vt:lpstr>
      <vt:lpstr>lr-kallisto  —  Pseudoalignment quantification, adapted for long reads</vt:lpstr>
      <vt:lpstr>Oarfish  —  Coverage-aware probabilistic long-read quantification</vt:lpstr>
      <vt:lpstr>The seven algorithms at a glance</vt:lpstr>
      <vt:lpstr>Time to test your knowledge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Why is identification hard? The core challenges</vt:lpstr>
      <vt:lpstr>Summary</vt:lpstr>
      <vt:lpstr>Evaluating  concordance: LRGASP</vt:lpstr>
      <vt:lpstr>What the benchmarks tell us</vt:lpstr>
      <vt:lpstr>Which tool? A practical decision guide</vt:lpstr>
      <vt:lpstr>Summary &amp; outlook</vt:lpstr>
      <vt:lpstr>Method papers — fetch the original figures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 Conesa</cp:lastModifiedBy>
  <cp:revision>21</cp:revision>
  <dcterms:created xsi:type="dcterms:W3CDTF">2025-06-02T15:22:23Z</dcterms:created>
  <dcterms:modified xsi:type="dcterms:W3CDTF">2026-06-26T06:19:22Z</dcterms:modified>
</cp:coreProperties>
</file>