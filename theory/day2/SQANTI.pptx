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67" r:id="rId2"/>
    <p:sldId id="263" r:id="rId3"/>
    <p:sldId id="264" r:id="rId4"/>
    <p:sldId id="265" r:id="rId5"/>
    <p:sldId id="328" r:id="rId6"/>
    <p:sldId id="329" r:id="rId7"/>
    <p:sldId id="332" r:id="rId8"/>
    <p:sldId id="330" r:id="rId9"/>
    <p:sldId id="331" r:id="rId10"/>
    <p:sldId id="275" r:id="rId11"/>
    <p:sldId id="277" r:id="rId12"/>
    <p:sldId id="278" r:id="rId13"/>
    <p:sldId id="287" r:id="rId14"/>
    <p:sldId id="274" r:id="rId15"/>
    <p:sldId id="279" r:id="rId16"/>
    <p:sldId id="303" r:id="rId17"/>
    <p:sldId id="307" r:id="rId18"/>
    <p:sldId id="309" r:id="rId19"/>
    <p:sldId id="308" r:id="rId20"/>
    <p:sldId id="323" r:id="rId21"/>
    <p:sldId id="310" r:id="rId22"/>
    <p:sldId id="311" r:id="rId23"/>
    <p:sldId id="312" r:id="rId24"/>
    <p:sldId id="314" r:id="rId25"/>
    <p:sldId id="315" r:id="rId26"/>
    <p:sldId id="316" r:id="rId27"/>
    <p:sldId id="313" r:id="rId28"/>
    <p:sldId id="317" r:id="rId29"/>
    <p:sldId id="318" r:id="rId30"/>
    <p:sldId id="319" r:id="rId31"/>
    <p:sldId id="320" r:id="rId32"/>
    <p:sldId id="321" r:id="rId33"/>
    <p:sldId id="322" r:id="rId34"/>
    <p:sldId id="327" r:id="rId35"/>
    <p:sldId id="266" r:id="rId36"/>
    <p:sldId id="26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819" autoAdjust="0"/>
    <p:restoredTop sz="96331" autoAdjust="0"/>
  </p:normalViewPr>
  <p:slideViewPr>
    <p:cSldViewPr snapToGrid="0" snapToObjects="1">
      <p:cViewPr>
        <p:scale>
          <a:sx n="100" d="100"/>
          <a:sy n="100" d="100"/>
        </p:scale>
        <p:origin x="72" y="8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41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60CDE8-68A4-D466-2870-B365690BBA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A44A2-CAC7-FA7F-9D27-685C062727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B9064-293E-4E2C-81A6-5826235924E4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1ED25-336C-3A72-84BF-A5D74266C5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C01CA5-1221-1F95-56B0-B4B7FC539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D13AE-2F84-4360-AB6A-DD19FC0BFD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079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42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24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778086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8A83-DBCD-5152-95D3-2F197A47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69458-FC7B-835F-5B33-C5B77ACB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5FC01-5B01-6CD0-84AC-3A23766AA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4608D-2B97-10BA-7BB8-BA9BAC7C1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25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0250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D9C25-91F6-1DB4-AE15-001C03C0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DBB51-45A3-9B50-AF41-173FDDF49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2B562-2C42-78F3-4D14-B878E43E3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A8542-D701-23F8-005D-FEEEFEECB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E9E93-8B4A-9848-888E-615C56CD4B42}" type="slidenum">
              <a:rPr lang="en-ES" smtClean="0"/>
              <a:t>26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2978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_last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6D3A1BF-6F1C-B281-8ED0-F5681273C6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3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B86AE03-3878-2139-4099-A4BE803FBB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834A7C44-3189-2592-E83C-B4D6B367BA93}"/>
              </a:ext>
            </a:extLst>
          </p:cNvPr>
          <p:cNvSpPr/>
          <p:nvPr userDrawn="1"/>
        </p:nvSpPr>
        <p:spPr>
          <a:xfrm>
            <a:off x="4143375" y="2982516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333900A-0A21-91D6-0BC6-72F9C3601B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Shape 0">
            <a:extLst>
              <a:ext uri="{FF2B5EF4-FFF2-40B4-BE49-F238E27FC236}">
                <a16:creationId xmlns:a16="http://schemas.microsoft.com/office/drawing/2014/main" id="{0656EB34-8BEF-729F-C7A4-B3F1264C1A7B}"/>
              </a:ext>
            </a:extLst>
          </p:cNvPr>
          <p:cNvSpPr/>
          <p:nvPr userDrawn="1"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2566EAF-8BB7-C913-B2B0-C1CA21CADFB2}"/>
              </a:ext>
            </a:extLst>
          </p:cNvPr>
          <p:cNvSpPr/>
          <p:nvPr userDrawn="1"/>
        </p:nvSpPr>
        <p:spPr>
          <a:xfrm>
            <a:off x="278977" y="496652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15" name="Slide Number Placeholder 8">
            <a:extLst>
              <a:ext uri="{FF2B5EF4-FFF2-40B4-BE49-F238E27FC236}">
                <a16:creationId xmlns:a16="http://schemas.microsoft.com/office/drawing/2014/main" id="{63DEA6DA-0035-52E8-C3CD-8F955E965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itle 9">
            <a:extLst>
              <a:ext uri="{FF2B5EF4-FFF2-40B4-BE49-F238E27FC236}">
                <a16:creationId xmlns:a16="http://schemas.microsoft.com/office/drawing/2014/main" id="{84A4C2B4-7358-EEA5-8321-7784F71C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700364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10C08A-E6BC-A722-FBF3-B52E8703FE02}"/>
              </a:ext>
            </a:extLst>
          </p:cNvPr>
          <p:cNvGrpSpPr/>
          <p:nvPr userDrawn="1"/>
        </p:nvGrpSpPr>
        <p:grpSpPr>
          <a:xfrm>
            <a:off x="8040089" y="88760"/>
            <a:ext cx="1021557" cy="320814"/>
            <a:chOff x="7196137" y="110192"/>
            <a:chExt cx="1021557" cy="32081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F1035B-D32D-6596-5264-71C0A0811BE2}"/>
                </a:ext>
              </a:extLst>
            </p:cNvPr>
            <p:cNvSpPr/>
            <p:nvPr userDrawn="1"/>
          </p:nvSpPr>
          <p:spPr>
            <a:xfrm>
              <a:off x="7196137" y="110192"/>
              <a:ext cx="1021557" cy="32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2F8541-EC97-A601-3A51-84E5D7226E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215185" y="121443"/>
              <a:ext cx="974457" cy="298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3402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BDB3EC4-127B-8DB8-0B65-11DFC2A243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9050"/>
            <a:ext cx="9144000" cy="5143500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52A0FAE-5DD7-9140-68BC-11C57A5E7F25}"/>
              </a:ext>
            </a:extLst>
          </p:cNvPr>
          <p:cNvSpPr/>
          <p:nvPr userDrawn="1"/>
        </p:nvSpPr>
        <p:spPr>
          <a:xfrm>
            <a:off x="0" y="-38100"/>
            <a:ext cx="9144000" cy="558800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9F487DB7-7893-6F35-257B-69A287402663}"/>
              </a:ext>
            </a:extLst>
          </p:cNvPr>
          <p:cNvSpPr/>
          <p:nvPr userDrawn="1"/>
        </p:nvSpPr>
        <p:spPr>
          <a:xfrm>
            <a:off x="0" y="4850606"/>
            <a:ext cx="9144000" cy="29289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44F95E02-841A-592C-6ED8-65F90CAC75EB}"/>
              </a:ext>
            </a:extLst>
          </p:cNvPr>
          <p:cNvSpPr/>
          <p:nvPr userDrawn="1"/>
        </p:nvSpPr>
        <p:spPr>
          <a:xfrm>
            <a:off x="278977" y="4935497"/>
            <a:ext cx="130543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Long-reads Transcriptomics</a:t>
            </a:r>
            <a:endParaRPr lang="en-US" sz="80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4796D1D-577A-6319-1CA1-19E59E8A9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B3DE5-0BF2-9949-8E8E-62041A1EAFC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971F105-4880-47AF-28B3-B781B2D4E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61" y="110192"/>
            <a:ext cx="7585660" cy="340289"/>
          </a:xfrm>
          <a:prstGeom prst="rect">
            <a:avLst/>
          </a:prstGeom>
        </p:spPr>
        <p:txBody>
          <a:bodyPr/>
          <a:lstStyle>
            <a:lvl1pPr algn="l"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339892-B791-D066-9350-A03321DF52AE}"/>
              </a:ext>
            </a:extLst>
          </p:cNvPr>
          <p:cNvGrpSpPr/>
          <p:nvPr userDrawn="1"/>
        </p:nvGrpSpPr>
        <p:grpSpPr>
          <a:xfrm>
            <a:off x="8040089" y="76060"/>
            <a:ext cx="1021557" cy="320814"/>
            <a:chOff x="7196137" y="110192"/>
            <a:chExt cx="1021557" cy="3208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4A2F80-CA63-7783-37A7-DC707427E03D}"/>
                </a:ext>
              </a:extLst>
            </p:cNvPr>
            <p:cNvSpPr/>
            <p:nvPr userDrawn="1"/>
          </p:nvSpPr>
          <p:spPr>
            <a:xfrm>
              <a:off x="7196137" y="110192"/>
              <a:ext cx="1021557" cy="3208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BA3CA9B-B80D-3B4C-4476-10CFEC57F3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215185" y="121443"/>
              <a:ext cx="974457" cy="298125"/>
            </a:xfrm>
            <a:prstGeom prst="rect">
              <a:avLst/>
            </a:prstGeom>
          </p:spPr>
        </p:pic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649F5D-37E4-10F0-7C80-BF823A4738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263" y="762000"/>
            <a:ext cx="8669337" cy="3952875"/>
          </a:xfrm>
          <a:prstGeom prst="rect">
            <a:avLst/>
          </a:prstGeom>
        </p:spPr>
        <p:txBody>
          <a:bodyPr/>
          <a:lstStyle>
            <a:lvl1pPr>
              <a:buClr>
                <a:srgbClr val="FF8C00"/>
              </a:buClr>
              <a:buSzPct val="150000"/>
              <a:defRPr sz="1800"/>
            </a:lvl1pPr>
            <a:lvl2pPr>
              <a:buClr>
                <a:srgbClr val="FF8C00"/>
              </a:buClr>
              <a:buSzPct val="100000"/>
              <a:defRPr sz="1600"/>
            </a:lvl2pPr>
            <a:lvl3pPr>
              <a:buClr>
                <a:srgbClr val="FF8C00"/>
              </a:buClr>
              <a:defRPr sz="1400"/>
            </a:lvl3pPr>
            <a:lvl4pPr>
              <a:buClr>
                <a:srgbClr val="FF8C00"/>
              </a:buClr>
              <a:defRPr sz="1200"/>
            </a:lvl4pPr>
            <a:lvl5pPr>
              <a:buClr>
                <a:srgbClr val="FF8C00"/>
              </a:buCl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065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9355-80E0-E8A2-0643-D64EE918C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E7AB8-82E3-FA98-D238-DC6AFCCD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8C85-B6F8-3097-20C9-A578CCFA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71E39-0EDF-BF42-931C-AF617959138A}" type="datetime1">
              <a:rPr lang="es-ES_tradnl" smtClean="0"/>
              <a:t>29/05/2026</a:t>
            </a:fld>
            <a:endParaRPr lang="en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73887-385D-1193-5A43-7CD3E9C9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540F6-B38A-05F2-0CB8-4DDEF908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53819-CDAE-4B49-8708-AAC5C83D7CFB}" type="slidenum">
              <a:rPr lang="en-ES" smtClean="0"/>
              <a:t>‹#›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852776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4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2.pdf"/><Relationship Id="rId18" Type="http://schemas.openxmlformats.org/officeDocument/2006/relationships/image" Target="../media/image26.png"/><Relationship Id="rId26" Type="http://schemas.openxmlformats.org/officeDocument/2006/relationships/image" Target="../media/image30.png"/><Relationship Id="rId3" Type="http://schemas.openxmlformats.org/officeDocument/2006/relationships/image" Target="../media/image22.pdf"/><Relationship Id="rId21" Type="http://schemas.openxmlformats.org/officeDocument/2006/relationships/image" Target="../media/image40.pdf"/><Relationship Id="rId7" Type="http://schemas.openxmlformats.org/officeDocument/2006/relationships/image" Target="../media/image26.pdf"/><Relationship Id="rId12" Type="http://schemas.openxmlformats.org/officeDocument/2006/relationships/image" Target="../media/image23.png"/><Relationship Id="rId17" Type="http://schemas.openxmlformats.org/officeDocument/2006/relationships/image" Target="../media/image36.pdf"/><Relationship Id="rId25" Type="http://schemas.openxmlformats.org/officeDocument/2006/relationships/image" Target="../media/image44.pdf"/><Relationship Id="rId16" Type="http://schemas.openxmlformats.org/officeDocument/2006/relationships/image" Target="../media/image25.png"/><Relationship Id="rId20" Type="http://schemas.openxmlformats.org/officeDocument/2006/relationships/image" Target="../media/image27.png"/><Relationship Id="rId29" Type="http://schemas.openxmlformats.org/officeDocument/2006/relationships/image" Target="../media/image48.pd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11" Type="http://schemas.openxmlformats.org/officeDocument/2006/relationships/image" Target="../media/image30.pdf"/><Relationship Id="rId24" Type="http://schemas.openxmlformats.org/officeDocument/2006/relationships/image" Target="../media/image29.png"/><Relationship Id="rId5" Type="http://schemas.openxmlformats.org/officeDocument/2006/relationships/image" Target="../media/image24.pdf"/><Relationship Id="rId15" Type="http://schemas.openxmlformats.org/officeDocument/2006/relationships/image" Target="../media/image34.pdf"/><Relationship Id="rId23" Type="http://schemas.openxmlformats.org/officeDocument/2006/relationships/image" Target="../media/image42.pdf"/><Relationship Id="rId28" Type="http://schemas.openxmlformats.org/officeDocument/2006/relationships/image" Target="../media/image31.png"/><Relationship Id="rId10" Type="http://schemas.openxmlformats.org/officeDocument/2006/relationships/image" Target="../media/image22.png"/><Relationship Id="rId19" Type="http://schemas.openxmlformats.org/officeDocument/2006/relationships/image" Target="../media/image38.pdf"/><Relationship Id="rId31" Type="http://schemas.openxmlformats.org/officeDocument/2006/relationships/image" Target="../media/image33.emf"/><Relationship Id="rId4" Type="http://schemas.openxmlformats.org/officeDocument/2006/relationships/image" Target="../media/image19.png"/><Relationship Id="rId9" Type="http://schemas.openxmlformats.org/officeDocument/2006/relationships/image" Target="../media/image28.pdf"/><Relationship Id="rId14" Type="http://schemas.openxmlformats.org/officeDocument/2006/relationships/image" Target="../media/image24.png"/><Relationship Id="rId22" Type="http://schemas.openxmlformats.org/officeDocument/2006/relationships/image" Target="../media/image28.png"/><Relationship Id="rId27" Type="http://schemas.openxmlformats.org/officeDocument/2006/relationships/image" Target="../media/image46.pdf"/><Relationship Id="rId30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7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17.emf"/><Relationship Id="rId4" Type="http://schemas.openxmlformats.org/officeDocument/2006/relationships/image" Target="../media/image1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0A463E-50DA-07B4-EEF6-762EB1B8E847}"/>
              </a:ext>
            </a:extLst>
          </p:cNvPr>
          <p:cNvSpPr/>
          <p:nvPr/>
        </p:nvSpPr>
        <p:spPr>
          <a:xfrm>
            <a:off x="252934" y="374455"/>
            <a:ext cx="2253890" cy="674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FE02196B-C3EF-E373-12A8-ABBD288A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6538" y="366256"/>
            <a:ext cx="3157461" cy="66613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37D2A66-D3EB-75E4-B05B-CB20DB265198}"/>
              </a:ext>
            </a:extLst>
          </p:cNvPr>
          <p:cNvSpPr/>
          <p:nvPr/>
        </p:nvSpPr>
        <p:spPr>
          <a:xfrm>
            <a:off x="1983116" y="2314575"/>
            <a:ext cx="51777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 Summer School</a:t>
            </a:r>
            <a:endParaRPr lang="en-US" sz="27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A2A2202-2830-5D69-0C87-70AD17AE61BB}"/>
              </a:ext>
            </a:extLst>
          </p:cNvPr>
          <p:cNvSpPr/>
          <p:nvPr/>
        </p:nvSpPr>
        <p:spPr>
          <a:xfrm>
            <a:off x="2807061" y="2788080"/>
            <a:ext cx="3529878" cy="62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SQANTI3: Transcriptomics Quality Control</a:t>
            </a:r>
            <a:endParaRPr lang="en-US" sz="2025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6DAA440-B861-0240-74B2-DB786C53F3BA}"/>
              </a:ext>
            </a:extLst>
          </p:cNvPr>
          <p:cNvSpPr/>
          <p:nvPr/>
        </p:nvSpPr>
        <p:spPr>
          <a:xfrm>
            <a:off x="3845587" y="3579357"/>
            <a:ext cx="1452835" cy="19050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38" i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Pablo Atienza López</a:t>
            </a:r>
            <a:endParaRPr lang="en-US" sz="1238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300135-E5CE-8230-C572-3A6A3176462E}"/>
              </a:ext>
            </a:extLst>
          </p:cNvPr>
          <p:cNvGrpSpPr/>
          <p:nvPr/>
        </p:nvGrpSpPr>
        <p:grpSpPr>
          <a:xfrm>
            <a:off x="3420726" y="4056629"/>
            <a:ext cx="2302548" cy="357188"/>
            <a:chOff x="3827195" y="4123817"/>
            <a:chExt cx="2302548" cy="357188"/>
          </a:xfrm>
        </p:grpSpPr>
        <p:sp>
          <p:nvSpPr>
            <p:cNvPr id="11" name="Snip Diagonal Corner Rectangle 10">
              <a:extLst>
                <a:ext uri="{FF2B5EF4-FFF2-40B4-BE49-F238E27FC236}">
                  <a16:creationId xmlns:a16="http://schemas.microsoft.com/office/drawing/2014/main" id="{D92FC9AA-F839-F6FB-F65D-70E0C0E0A36A}"/>
                </a:ext>
              </a:extLst>
            </p:cNvPr>
            <p:cNvSpPr/>
            <p:nvPr/>
          </p:nvSpPr>
          <p:spPr>
            <a:xfrm rot="10800000">
              <a:off x="3862915" y="4123817"/>
              <a:ext cx="2231109" cy="357188"/>
            </a:xfrm>
            <a:prstGeom prst="snip2DiagRect">
              <a:avLst/>
            </a:prstGeom>
            <a:solidFill>
              <a:srgbClr val="FF8C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DDBDE0B7-627D-613E-ED45-017301D63A48}"/>
                </a:ext>
              </a:extLst>
            </p:cNvPr>
            <p:cNvSpPr/>
            <p:nvPr/>
          </p:nvSpPr>
          <p:spPr>
            <a:xfrm>
              <a:off x="3827195" y="4123817"/>
              <a:ext cx="2302548" cy="357188"/>
            </a:xfrm>
            <a:prstGeom prst="rect">
              <a:avLst/>
            </a:prstGeom>
            <a:noFill/>
            <a:ln/>
          </p:spPr>
          <p:txBody>
            <a:bodyPr wrap="square" lIns="170053" tIns="85090" rIns="170053" bIns="85090" rtlCol="0" anchor="ctr">
              <a:spAutoFit/>
            </a:bodyPr>
            <a:lstStyle/>
            <a:p>
              <a:pPr marL="0" indent="0" algn="ctr">
                <a:buNone/>
              </a:pPr>
              <a:r>
                <a:rPr lang="en-US" sz="1125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Earlham Institute, Norwich, UK</a:t>
              </a:r>
              <a:endParaRPr lang="en-US" sz="1125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FE207EF-2788-19AE-09A3-6D385D79E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34" y="366256"/>
            <a:ext cx="2204127" cy="67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5BBE26-FE4E-9074-9135-2834C8C6E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F3C652C-ECEC-4D72-9C20-EB87298BBA1D}"/>
              </a:ext>
            </a:extLst>
          </p:cNvPr>
          <p:cNvSpPr/>
          <p:nvPr/>
        </p:nvSpPr>
        <p:spPr>
          <a:xfrm>
            <a:off x="285750" y="107156"/>
            <a:ext cx="168288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Contents</a:t>
            </a:r>
            <a:endParaRPr lang="en-US" sz="1575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DA13D17-C9FD-49D7-61FF-45B2F5B4EB38}"/>
              </a:ext>
            </a:extLst>
          </p:cNvPr>
          <p:cNvSpPr/>
          <p:nvPr/>
        </p:nvSpPr>
        <p:spPr>
          <a:xfrm>
            <a:off x="298133" y="964406"/>
            <a:ext cx="214313" cy="214313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0F311A4-F21A-03AC-88CD-72107C371893}"/>
              </a:ext>
            </a:extLst>
          </p:cNvPr>
          <p:cNvSpPr/>
          <p:nvPr/>
        </p:nvSpPr>
        <p:spPr>
          <a:xfrm>
            <a:off x="382430" y="1002313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C74380B-6F3D-618B-D5B3-6637AB37E928}"/>
              </a:ext>
            </a:extLst>
          </p:cNvPr>
          <p:cNvSpPr/>
          <p:nvPr/>
        </p:nvSpPr>
        <p:spPr>
          <a:xfrm>
            <a:off x="655320" y="942975"/>
            <a:ext cx="30326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Long-read Technologies</a:t>
            </a:r>
            <a:endParaRPr lang="en-US" sz="13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C4E0CACD-1525-CD18-52E5-4CACC79BC2BB}"/>
              </a:ext>
            </a:extLst>
          </p:cNvPr>
          <p:cNvSpPr/>
          <p:nvPr/>
        </p:nvSpPr>
        <p:spPr>
          <a:xfrm>
            <a:off x="298133" y="1400175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4CBDA38-60E3-7993-B43C-ADA2E262864E}"/>
              </a:ext>
            </a:extLst>
          </p:cNvPr>
          <p:cNvSpPr/>
          <p:nvPr/>
        </p:nvSpPr>
        <p:spPr>
          <a:xfrm>
            <a:off x="382430" y="1438082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CB17708-D4B1-BFF9-B514-847F31DEBA18}"/>
              </a:ext>
            </a:extLst>
          </p:cNvPr>
          <p:cNvSpPr/>
          <p:nvPr/>
        </p:nvSpPr>
        <p:spPr>
          <a:xfrm>
            <a:off x="655320" y="1378744"/>
            <a:ext cx="25780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Sequencing Platforms</a:t>
            </a:r>
            <a:endParaRPr lang="en-US" sz="13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404E52A-81C6-CC40-F88D-FD766212FCD7}"/>
              </a:ext>
            </a:extLst>
          </p:cNvPr>
          <p:cNvSpPr/>
          <p:nvPr/>
        </p:nvSpPr>
        <p:spPr>
          <a:xfrm>
            <a:off x="298133" y="1835944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ABDA643-98C3-5EE2-970A-271F72F46B28}"/>
              </a:ext>
            </a:extLst>
          </p:cNvPr>
          <p:cNvSpPr/>
          <p:nvPr/>
        </p:nvSpPr>
        <p:spPr>
          <a:xfrm>
            <a:off x="382430" y="1873851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5D42882-55CD-FE59-01DE-C2BB479D8EFC}"/>
              </a:ext>
            </a:extLst>
          </p:cNvPr>
          <p:cNvSpPr/>
          <p:nvPr/>
        </p:nvSpPr>
        <p:spPr>
          <a:xfrm>
            <a:off x="655320" y="1814513"/>
            <a:ext cx="18246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Bioinformatics Analysis</a:t>
            </a:r>
            <a:endParaRPr lang="en-US" sz="13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1C882B5-BBF8-E3A9-AE7D-E68C863F81AC}"/>
              </a:ext>
            </a:extLst>
          </p:cNvPr>
          <p:cNvSpPr/>
          <p:nvPr/>
        </p:nvSpPr>
        <p:spPr>
          <a:xfrm>
            <a:off x="298133" y="2271713"/>
            <a:ext cx="214313" cy="214313"/>
          </a:xfrm>
          <a:prstGeom prst="ellipse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5022E63-FB09-CE0B-0015-4EF8CD03D746}"/>
              </a:ext>
            </a:extLst>
          </p:cNvPr>
          <p:cNvSpPr/>
          <p:nvPr/>
        </p:nvSpPr>
        <p:spPr>
          <a:xfrm>
            <a:off x="382430" y="2309620"/>
            <a:ext cx="45719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8C48D6C-31B9-5C8F-26E2-707649E93E7C}"/>
              </a:ext>
            </a:extLst>
          </p:cNvPr>
          <p:cNvSpPr/>
          <p:nvPr/>
        </p:nvSpPr>
        <p:spPr>
          <a:xfrm>
            <a:off x="655320" y="2250281"/>
            <a:ext cx="9959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652292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4053A27-D344-1F0B-2A47-F0C0ABA1310F}"/>
              </a:ext>
            </a:extLst>
          </p:cNvPr>
          <p:cNvSpPr/>
          <p:nvPr/>
        </p:nvSpPr>
        <p:spPr>
          <a:xfrm>
            <a:off x="3905036" y="1618059"/>
            <a:ext cx="140536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363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</a:t>
            </a:r>
            <a:endParaRPr lang="en-US" sz="2363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AA74CB-B0BF-204E-FD1A-688FEC67A981}"/>
              </a:ext>
            </a:extLst>
          </p:cNvPr>
          <p:cNvSpPr/>
          <p:nvPr/>
        </p:nvSpPr>
        <p:spPr>
          <a:xfrm>
            <a:off x="1067293" y="2264536"/>
            <a:ext cx="7080852" cy="450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92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Reminer of </a:t>
            </a: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Technologies</a:t>
            </a:r>
            <a:endParaRPr lang="en-US" sz="2925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2F088C1-AB94-D31E-46C6-F08A2BC165D8}"/>
              </a:ext>
            </a:extLst>
          </p:cNvPr>
          <p:cNvSpPr/>
          <p:nvPr/>
        </p:nvSpPr>
        <p:spPr>
          <a:xfrm>
            <a:off x="1747512" y="3254235"/>
            <a:ext cx="5720386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575" strike="sngStrike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r>
              <a:rPr lang="en-US" sz="157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fundamentals of third-generation sequencing</a:t>
            </a:r>
            <a:endParaRPr lang="en-US" sz="1575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6FA1A-D3D3-3437-50D0-FA08BDB9CA05}"/>
              </a:ext>
            </a:extLst>
          </p:cNvPr>
          <p:cNvSpPr txBox="1"/>
          <p:nvPr/>
        </p:nvSpPr>
        <p:spPr>
          <a:xfrm>
            <a:off x="1722632" y="3418471"/>
            <a:ext cx="1471425" cy="33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Remembering</a:t>
            </a:r>
            <a:endParaRPr lang="en-GB" sz="1580"/>
          </a:p>
        </p:txBody>
      </p:sp>
    </p:spTree>
    <p:extLst>
      <p:ext uri="{BB962C8B-B14F-4D97-AF65-F5344CB8AC3E}">
        <p14:creationId xmlns:p14="http://schemas.microsoft.com/office/powerpoint/2010/main" val="151344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4FF1A2C6-CF2B-DA26-D483-FB22198B828C}"/>
              </a:ext>
            </a:extLst>
          </p:cNvPr>
          <p:cNvSpPr/>
          <p:nvPr/>
        </p:nvSpPr>
        <p:spPr>
          <a:xfrm>
            <a:off x="285749" y="135988"/>
            <a:ext cx="5561435" cy="24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should you control the quality?</a:t>
            </a:r>
            <a:endParaRPr lang="en-US" sz="1575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7EE2A1E-B69F-0440-A958-D7898F48D786}"/>
              </a:ext>
            </a:extLst>
          </p:cNvPr>
          <p:cNvSpPr/>
          <p:nvPr/>
        </p:nvSpPr>
        <p:spPr>
          <a:xfrm>
            <a:off x="285750" y="826840"/>
            <a:ext cx="8643938" cy="22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63" b="1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reads are noisy</a:t>
            </a:r>
            <a:endParaRPr lang="en-US" sz="1463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C084A2F-8B26-278A-7CDD-99B76E689E4A}"/>
              </a:ext>
            </a:extLst>
          </p:cNvPr>
          <p:cNvSpPr/>
          <p:nvPr/>
        </p:nvSpPr>
        <p:spPr>
          <a:xfrm>
            <a:off x="285750" y="12787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29D4B5-7C16-BE66-83D0-3AC4BD255B4D}"/>
              </a:ext>
            </a:extLst>
          </p:cNvPr>
          <p:cNvSpPr/>
          <p:nvPr/>
        </p:nvSpPr>
        <p:spPr>
          <a:xfrm>
            <a:off x="478631" y="1244202"/>
            <a:ext cx="5488493" cy="19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</a:t>
            </a:r>
            <a:endParaRPr lang="en-US" sz="1238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506F5F9-7039-40D7-5052-599F26AC1F2C}"/>
              </a:ext>
            </a:extLst>
          </p:cNvPr>
          <p:cNvSpPr/>
          <p:nvPr/>
        </p:nvSpPr>
        <p:spPr>
          <a:xfrm>
            <a:off x="285750" y="16216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DA7ACCD-6C8C-AC96-2761-D2D2008CB8E1}"/>
              </a:ext>
            </a:extLst>
          </p:cNvPr>
          <p:cNvSpPr/>
          <p:nvPr/>
        </p:nvSpPr>
        <p:spPr>
          <a:xfrm>
            <a:off x="478631" y="1564481"/>
            <a:ext cx="6754220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RNA sequencing (lrRNA-seq) has displayed great potential for transcriptome analysis</a:t>
            </a:r>
            <a:endParaRPr lang="en-US" sz="1238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4009CD4-DD42-8827-4AF1-E65E4D9CAAB4}"/>
              </a:ext>
            </a:extLst>
          </p:cNvPr>
          <p:cNvSpPr/>
          <p:nvPr/>
        </p:nvSpPr>
        <p:spPr>
          <a:xfrm>
            <a:off x="285750" y="19645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B234D72-EC41-279F-08FA-58BF9C3AE5BB}"/>
              </a:ext>
            </a:extLst>
          </p:cNvPr>
          <p:cNvSpPr/>
          <p:nvPr/>
        </p:nvSpPr>
        <p:spPr>
          <a:xfrm>
            <a:off x="478631" y="1907381"/>
            <a:ext cx="665861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include isoform identification, fusion gene detection, and allele-specific expression</a:t>
            </a:r>
            <a:endParaRPr lang="en-US" sz="1238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2B2FA39-24BC-0750-164C-5DF5AC494B7C}"/>
              </a:ext>
            </a:extLst>
          </p:cNvPr>
          <p:cNvSpPr/>
          <p:nvPr/>
        </p:nvSpPr>
        <p:spPr>
          <a:xfrm>
            <a:off x="285750" y="23074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AFE7F92-3432-4922-146F-8AF31F60EFAD}"/>
              </a:ext>
            </a:extLst>
          </p:cNvPr>
          <p:cNvSpPr/>
          <p:nvPr/>
        </p:nvSpPr>
        <p:spPr>
          <a:xfrm>
            <a:off x="478631" y="2250281"/>
            <a:ext cx="5112246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challenges require specialized bioinformatics approaches</a:t>
            </a:r>
            <a:endParaRPr lang="en-US" sz="1238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8501FEDD-72B9-20B9-96A1-0C8E53EEF4B9}"/>
              </a:ext>
            </a:extLst>
          </p:cNvPr>
          <p:cNvSpPr/>
          <p:nvPr/>
        </p:nvSpPr>
        <p:spPr>
          <a:xfrm>
            <a:off x="285750" y="2650331"/>
            <a:ext cx="85725" cy="85725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3ABDC31B-DE96-604B-BDC7-D9E9C8A9D500}"/>
              </a:ext>
            </a:extLst>
          </p:cNvPr>
          <p:cNvSpPr/>
          <p:nvPr/>
        </p:nvSpPr>
        <p:spPr>
          <a:xfrm>
            <a:off x="478631" y="2593181"/>
            <a:ext cx="6658087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LongTREC consortium develops methods and tools for long-read transcriptomics data analysis</a:t>
            </a:r>
            <a:endParaRPr lang="en-US" sz="1238" dirty="0"/>
          </a:p>
        </p:txBody>
      </p: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1A81DAC4-341B-7F09-E659-C8A2676A8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7623" y="4890857"/>
            <a:ext cx="2057400" cy="274637"/>
          </a:xfrm>
        </p:spPr>
        <p:txBody>
          <a:bodyPr/>
          <a:lstStyle/>
          <a:p>
            <a:fld id="{38FB3DE5-0BF2-9949-8E8E-62041A1EAFC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54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D08B3-1BB3-2141-76E7-15B4EFB2D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5B1220-3087-A1BB-0E4D-30E08BDC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44CDE-9F15-BB81-6A00-3D63D4C5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433"/>
          <a:stretch>
            <a:fillRect/>
          </a:stretch>
        </p:blipFill>
        <p:spPr>
          <a:xfrm>
            <a:off x="2467273" y="698587"/>
            <a:ext cx="5318576" cy="2683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11A67B-DB97-D234-64CF-A574264B169F}"/>
              </a:ext>
            </a:extLst>
          </p:cNvPr>
          <p:cNvSpPr txBox="1"/>
          <p:nvPr/>
        </p:nvSpPr>
        <p:spPr>
          <a:xfrm>
            <a:off x="6812062" y="2840425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Short-read sequencing</a:t>
            </a:r>
            <a:endParaRPr lang="en-GB" sz="1350" b="1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E38DC519-A90C-8426-56ED-9A806849DA1F}"/>
              </a:ext>
            </a:extLst>
          </p:cNvPr>
          <p:cNvSpPr/>
          <p:nvPr/>
        </p:nvSpPr>
        <p:spPr>
          <a:xfrm>
            <a:off x="6061655" y="4695981"/>
            <a:ext cx="288063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Monzó, Liu, Conesa. 2025. 10.1038/s41576-025-00828-z</a:t>
            </a:r>
          </a:p>
          <a:p>
            <a:endParaRPr lang="en-US" sz="67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7669C-42B8-7369-3238-C019411616E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14312" y="965839"/>
            <a:ext cx="342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Higher accuracy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Higher throughput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Cost-effective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Disadvantages: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Repetitive sequences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Structural variants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Isoform resolution – </a:t>
            </a:r>
          </a:p>
          <a:p>
            <a:pPr rtl="0" fontAlgn="base"/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    Alternative splicing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>
              <a:buNone/>
            </a:pPr>
            <a:br>
              <a:rPr lang="en-GB" sz="1350" dirty="0"/>
            </a:br>
            <a:endParaRPr lang="en-ES" sz="1350" dirty="0"/>
          </a:p>
        </p:txBody>
      </p:sp>
    </p:spTree>
    <p:extLst>
      <p:ext uri="{BB962C8B-B14F-4D97-AF65-F5344CB8AC3E}">
        <p14:creationId xmlns:p14="http://schemas.microsoft.com/office/powerpoint/2010/main" val="2111008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11A92-4FA9-AC30-C744-B9CC7A761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F33A3B-83AD-DF6D-BC56-8A677788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F551F6-345D-FE4A-1E63-B7256EA35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273" y="698587"/>
            <a:ext cx="5318576" cy="38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12BC5E-A3E2-3E20-8553-1EFE7C9D63E1}"/>
              </a:ext>
            </a:extLst>
          </p:cNvPr>
          <p:cNvSpPr txBox="1"/>
          <p:nvPr/>
        </p:nvSpPr>
        <p:spPr>
          <a:xfrm>
            <a:off x="6812062" y="2840425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Short-read sequencing</a:t>
            </a:r>
            <a:endParaRPr lang="en-GB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9E7F6-8D10-17DB-A86A-3433CE78B99C}"/>
              </a:ext>
            </a:extLst>
          </p:cNvPr>
          <p:cNvSpPr txBox="1"/>
          <p:nvPr/>
        </p:nvSpPr>
        <p:spPr>
          <a:xfrm>
            <a:off x="6861757" y="3774926"/>
            <a:ext cx="2265611" cy="3000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Long-read sequencing</a:t>
            </a:r>
            <a:endParaRPr lang="en-GB" sz="1350" b="1" dirty="0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CDDB1FAB-F64E-DD40-6056-89B12FC6D58C}"/>
              </a:ext>
            </a:extLst>
          </p:cNvPr>
          <p:cNvSpPr/>
          <p:nvPr/>
        </p:nvSpPr>
        <p:spPr>
          <a:xfrm>
            <a:off x="6061655" y="4695981"/>
            <a:ext cx="288063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Monzó, Liu, Conesa. 2025. 10.1038/s41576-025-00828-z</a:t>
            </a:r>
          </a:p>
          <a:p>
            <a:endParaRPr lang="en-US" sz="67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53C04-F84F-89A4-02A2-57983DC54ED7}"/>
              </a:ext>
            </a:extLst>
          </p:cNvPr>
          <p:cNvSpPr txBox="1"/>
          <p:nvPr/>
        </p:nvSpPr>
        <p:spPr>
          <a:xfrm>
            <a:off x="336176" y="1558935"/>
            <a:ext cx="2467274" cy="23775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Single-molecule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Isoform resolution – </a:t>
            </a:r>
          </a:p>
          <a:p>
            <a:pPr rtl="0" fontAlgn="base"/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    Alternative splicing</a:t>
            </a: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3B3B34"/>
                </a:solidFill>
                <a:latin typeface="Open Sans" panose="020B0606030504020204" pitchFamily="34" charset="0"/>
              </a:rPr>
              <a:t>Assembly simplification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n-GB" sz="1350" dirty="0">
              <a:solidFill>
                <a:srgbClr val="F58A53"/>
              </a:solidFill>
              <a:latin typeface="Noto Sans Symbols"/>
            </a:endParaRPr>
          </a:p>
          <a:p>
            <a:pPr marL="1429"/>
            <a:r>
              <a:rPr lang="en-GB" sz="1350" b="1" dirty="0">
                <a:solidFill>
                  <a:srgbClr val="272723"/>
                </a:solidFill>
                <a:latin typeface="Open Sans" panose="020B0606030504020204" pitchFamily="34" charset="0"/>
              </a:rPr>
              <a:t>Disadvantages:</a:t>
            </a:r>
            <a:endParaRPr lang="en-GB" sz="1350" b="1" dirty="0"/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Lower accuracy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Lower throughput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Higher costs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GB" sz="1350" dirty="0">
                <a:solidFill>
                  <a:srgbClr val="272723"/>
                </a:solidFill>
                <a:latin typeface="Open Sans" panose="020B0606030504020204" pitchFamily="34" charset="0"/>
              </a:rPr>
              <a:t>Bioinformatic challenges</a:t>
            </a:r>
            <a:endParaRPr lang="en-GB" sz="1350" dirty="0">
              <a:solidFill>
                <a:srgbClr val="F58A53"/>
              </a:solidFill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75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64AA3C-93CA-58A3-BAAA-28F5192F8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C84771-3AEB-4A86-1366-7891B8B4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However, sequencing is not a perfect process…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ECFB4-26FB-B064-D41B-91849BF8C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Technical challenges have not disapeared in long reads, they have just shifted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678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A1507-DDCB-8813-0303-6525E0D62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E1788D-FD67-97FE-423D-C3C7921F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How ever, sequencing is not a perfect process…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C5FCC-D14C-E954-FAAC-5E2D6C16D98F}"/>
              </a:ext>
            </a:extLst>
          </p:cNvPr>
          <p:cNvSpPr txBox="1"/>
          <p:nvPr/>
        </p:nvSpPr>
        <p:spPr>
          <a:xfrm>
            <a:off x="296883" y="855023"/>
            <a:ext cx="8277101" cy="85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8C00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1240"/>
              <a:t>Errors may occur at different points of the pipeline</a:t>
            </a:r>
          </a:p>
          <a:p>
            <a:pPr marL="742950" lvl="1" indent="-285750">
              <a:buClr>
                <a:srgbClr val="FF8C00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1240"/>
              <a:t>Biological errors</a:t>
            </a:r>
          </a:p>
          <a:p>
            <a:pPr marL="742950" lvl="1" indent="-285750">
              <a:buClr>
                <a:srgbClr val="FF8C00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1240"/>
              <a:t>Technical artifacts</a:t>
            </a:r>
          </a:p>
          <a:p>
            <a:pPr marL="742950" lvl="1" indent="-285750">
              <a:buClr>
                <a:srgbClr val="FF8C00"/>
              </a:buClr>
              <a:buSzPct val="150000"/>
              <a:buFont typeface="Arial" panose="020B0604020202020204" pitchFamily="34" charset="0"/>
              <a:buChar char="•"/>
            </a:pPr>
            <a:r>
              <a:rPr lang="es-ES" sz="1240"/>
              <a:t>Mapping issues</a:t>
            </a:r>
            <a:endParaRPr lang="en-GB" sz="1240"/>
          </a:p>
        </p:txBody>
      </p:sp>
    </p:spTree>
    <p:extLst>
      <p:ext uri="{BB962C8B-B14F-4D97-AF65-F5344CB8AC3E}">
        <p14:creationId xmlns:p14="http://schemas.microsoft.com/office/powerpoint/2010/main" val="424162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086B8-439B-117F-BC0B-F9148E4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2ABD94-9F07-8688-158D-46ACB347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Retrotranscriptase Template Switching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1F39D-F3C4-A045-3BF4-DCE5CE175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32" y="643104"/>
            <a:ext cx="4816650" cy="380548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86FF2D82-4D75-4919-C1BA-F461F77BB008}"/>
              </a:ext>
            </a:extLst>
          </p:cNvPr>
          <p:cNvSpPr/>
          <p:nvPr/>
        </p:nvSpPr>
        <p:spPr>
          <a:xfrm>
            <a:off x="5183083" y="2268845"/>
            <a:ext cx="332478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 enzyme can ”jump” between templates at repeated regions, creating chimeric cDNA products that confound transcript analysis</a:t>
            </a:r>
            <a:endParaRPr lang="en-US" sz="1200" dirty="0">
              <a:solidFill>
                <a:srgbClr val="0047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8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9375B-0195-0B6D-2FF7-E25583B4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FEF4436-BB91-AF57-4A46-D087A7EE6B7D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prep errors: Reverse transcriptase template switching (RT-switching)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85BFE8-643D-CBF3-0F53-3FE93816A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10</a:t>
            </a:fld>
            <a:endParaRPr lang="en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6DA52-3DBE-1072-2634-F6D9F9B27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32" y="643104"/>
            <a:ext cx="4816650" cy="38054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77BF510-2854-CA0E-165B-1FDCDE3F7554}"/>
              </a:ext>
            </a:extLst>
          </p:cNvPr>
          <p:cNvSpPr/>
          <p:nvPr/>
        </p:nvSpPr>
        <p:spPr>
          <a:xfrm>
            <a:off x="5183083" y="2268845"/>
            <a:ext cx="3324785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 enzyme can ”jump” between templates at repeated regions, creating chimeric cDNA products that confound transcript analysis</a:t>
            </a:r>
            <a:endParaRPr lang="en-US" sz="1200" dirty="0">
              <a:solidFill>
                <a:srgbClr val="0047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21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73221-E5E6-C4C6-53FA-225F948E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49D2166-ACD7-D545-B3C0-E0BA567BA67C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prep errors: intra-priming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793B0E-2881-7AC1-B481-629F9E7F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11</a:t>
            </a:fld>
            <a:endParaRPr lang="en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76286-7EC6-9B7B-1B7B-73F32686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653" y="1169879"/>
            <a:ext cx="5829300" cy="155316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576AB04-1E83-66B7-34BD-DF44B8DAA492}"/>
              </a:ext>
            </a:extLst>
          </p:cNvPr>
          <p:cNvSpPr/>
          <p:nvPr/>
        </p:nvSpPr>
        <p:spPr>
          <a:xfrm>
            <a:off x="1606924" y="3607553"/>
            <a:ext cx="619909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2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Oligo-dT primers can bind to internal A-rich regions, causing truncated cDNA synthesis</a:t>
            </a:r>
            <a:endParaRPr lang="en-US" sz="1200" dirty="0">
              <a:solidFill>
                <a:srgbClr val="0047A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622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8CCD-8C4C-5CB6-AB9E-3349EA5B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83FED00-91F5-5450-4976-96B39324F5D0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sequencing platform and library preparation choice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BC70F5-F2AC-E2CE-63AD-EA38B4AA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12</a:t>
            </a:fld>
            <a:endParaRPr lang="en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280E8A-EB57-049F-7D09-F6272F91E306}"/>
              </a:ext>
            </a:extLst>
          </p:cNvPr>
          <p:cNvSpPr/>
          <p:nvPr/>
        </p:nvSpPr>
        <p:spPr>
          <a:xfrm>
            <a:off x="314545" y="4208538"/>
            <a:ext cx="862775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b="1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WARNING!! </a:t>
            </a:r>
            <a:r>
              <a:rPr lang="en-US" sz="15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 of sequencing platform and library preparation find </a:t>
            </a:r>
            <a:r>
              <a:rPr lang="en-US" sz="1500" b="1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transcripts</a:t>
            </a:r>
            <a:endParaRPr lang="en-US" sz="1500" b="1" dirty="0">
              <a:solidFill>
                <a:srgbClr val="0047AB"/>
              </a:solidFill>
            </a:endParaRPr>
          </a:p>
        </p:txBody>
      </p:sp>
      <p:pic>
        <p:nvPicPr>
          <p:cNvPr id="4" name="Picture 10" descr="Timeline&#10;&#10;Description automatically generated">
            <a:extLst>
              <a:ext uri="{FF2B5EF4-FFF2-40B4-BE49-F238E27FC236}">
                <a16:creationId xmlns:a16="http://schemas.microsoft.com/office/drawing/2014/main" id="{65D9D5EA-4B23-1E47-C22B-CB18BF8FE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550" y="697423"/>
            <a:ext cx="6251070" cy="331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91A2B64A-5EEC-D9F7-1BDA-E1360B7D96BB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923320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7D79-A623-CEA4-5661-5E5D5D4B3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F4083D0E-5143-EC26-276D-164AE397586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 quality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9C08F8-6DED-26A4-829A-9C0B49A03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13</a:t>
            </a:fld>
            <a:endParaRPr lang="en-E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90652C7-C45C-7F38-91F2-5B18A256484A}"/>
              </a:ext>
            </a:extLst>
          </p:cNvPr>
          <p:cNvSpPr/>
          <p:nvPr/>
        </p:nvSpPr>
        <p:spPr>
          <a:xfrm>
            <a:off x="314545" y="4093122"/>
            <a:ext cx="8627750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the RNA quality is not only important to get good quality full-length transcripts, but also to see the distribution of transcripts that we have in the transcriptome of our sample</a:t>
            </a:r>
            <a:endParaRPr lang="en-US" sz="1500" dirty="0">
              <a:solidFill>
                <a:srgbClr val="0047AB"/>
              </a:solidFill>
            </a:endParaRPr>
          </a:p>
        </p:txBody>
      </p:sp>
      <p:pic>
        <p:nvPicPr>
          <p:cNvPr id="4" name="Picture 10" descr="Timeline&#10;&#10;Description automatically generated">
            <a:extLst>
              <a:ext uri="{FF2B5EF4-FFF2-40B4-BE49-F238E27FC236}">
                <a16:creationId xmlns:a16="http://schemas.microsoft.com/office/drawing/2014/main" id="{7BCC3A28-E102-0A9A-B5B3-F9938D09C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92" y="1129109"/>
            <a:ext cx="4568369" cy="2425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13">
            <a:extLst>
              <a:ext uri="{FF2B5EF4-FFF2-40B4-BE49-F238E27FC236}">
                <a16:creationId xmlns:a16="http://schemas.microsoft.com/office/drawing/2014/main" id="{5CC29DAB-CC26-3510-8B7F-B6AFBA735BB6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 source: Pardo-Palacios. 2024. 10.1038/s41592-024-02298-3</a:t>
            </a:r>
          </a:p>
        </p:txBody>
      </p:sp>
      <p:pic>
        <p:nvPicPr>
          <p:cNvPr id="6" name="Picture 2" descr="RNA Quality Control, TapeStation | Agilent">
            <a:extLst>
              <a:ext uri="{FF2B5EF4-FFF2-40B4-BE49-F238E27FC236}">
                <a16:creationId xmlns:a16="http://schemas.microsoft.com/office/drawing/2014/main" id="{20A44164-0CF2-F035-75C8-684A117F1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45" y="1337936"/>
            <a:ext cx="3940502" cy="221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253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4C06-D02F-2829-3391-0A38B6E0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8D22A644-A043-5208-686B-74BE5A657F08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432F2-DAD2-6B97-AF1A-FEF5EB04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14</a:t>
            </a:fld>
            <a:endParaRPr lang="en-E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4D32A6-AEC0-7E07-DCE4-01768E1410E7}"/>
              </a:ext>
            </a:extLst>
          </p:cNvPr>
          <p:cNvSpPr/>
          <p:nvPr/>
        </p:nvSpPr>
        <p:spPr>
          <a:xfrm>
            <a:off x="3944477" y="3167237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F1099AA-8A32-4114-F01F-51D73FA8D9CF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192631" y="1126174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60DF16-6840-235A-F3B0-ED1889C3B431}"/>
              </a:ext>
            </a:extLst>
          </p:cNvPr>
          <p:cNvSpPr/>
          <p:nvPr/>
        </p:nvSpPr>
        <p:spPr>
          <a:xfrm>
            <a:off x="763846" y="1068880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6F3823-ADFB-B12B-299E-D1E62E8CEBBE}"/>
              </a:ext>
            </a:extLst>
          </p:cNvPr>
          <p:cNvSpPr/>
          <p:nvPr/>
        </p:nvSpPr>
        <p:spPr>
          <a:xfrm>
            <a:off x="2288980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B56ED1-B25A-F423-0FB9-E559CAA31D83}"/>
              </a:ext>
            </a:extLst>
          </p:cNvPr>
          <p:cNvSpPr/>
          <p:nvPr/>
        </p:nvSpPr>
        <p:spPr>
          <a:xfrm>
            <a:off x="3758238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E3EAF-0C76-FE97-AA76-DA4ABA903BD1}"/>
              </a:ext>
            </a:extLst>
          </p:cNvPr>
          <p:cNvSpPr/>
          <p:nvPr/>
        </p:nvSpPr>
        <p:spPr>
          <a:xfrm>
            <a:off x="1554351" y="1062126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4457B8-9CB6-7C27-7737-C417079BF7D5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 flipV="1">
            <a:off x="1192630" y="133524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A691657-C2EE-7CD0-B2F9-08F7131F5AF6}"/>
              </a:ext>
            </a:extLst>
          </p:cNvPr>
          <p:cNvSpPr/>
          <p:nvPr/>
        </p:nvSpPr>
        <p:spPr>
          <a:xfrm>
            <a:off x="879494" y="1277955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CCED23-8CDD-CBD1-3827-417457083637}"/>
              </a:ext>
            </a:extLst>
          </p:cNvPr>
          <p:cNvSpPr/>
          <p:nvPr/>
        </p:nvSpPr>
        <p:spPr>
          <a:xfrm>
            <a:off x="2288980" y="1271201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4BC95-CB58-7FAE-260A-51D388999BD5}"/>
              </a:ext>
            </a:extLst>
          </p:cNvPr>
          <p:cNvSpPr/>
          <p:nvPr/>
        </p:nvSpPr>
        <p:spPr>
          <a:xfrm>
            <a:off x="3758238" y="1271201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B8DD1-9F1F-1E1D-1D98-F318C47CF19C}"/>
              </a:ext>
            </a:extLst>
          </p:cNvPr>
          <p:cNvSpPr/>
          <p:nvPr/>
        </p:nvSpPr>
        <p:spPr>
          <a:xfrm>
            <a:off x="1554351" y="127120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B4E5C1-E199-39D4-19A9-46D8F18F76BB}"/>
              </a:ext>
            </a:extLst>
          </p:cNvPr>
          <p:cNvCxnSpPr>
            <a:cxnSpLocks/>
            <a:stCxn id="20" idx="1"/>
            <a:endCxn id="19" idx="1"/>
          </p:cNvCxnSpPr>
          <p:nvPr/>
        </p:nvCxnSpPr>
        <p:spPr>
          <a:xfrm flipV="1">
            <a:off x="1548115" y="2308738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87A8CA7-3C83-2C75-ACEC-B56BA0490EC1}"/>
              </a:ext>
            </a:extLst>
          </p:cNvPr>
          <p:cNvSpPr/>
          <p:nvPr/>
        </p:nvSpPr>
        <p:spPr>
          <a:xfrm>
            <a:off x="2288980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8E40F-5315-6936-13EE-17E654E2170A}"/>
              </a:ext>
            </a:extLst>
          </p:cNvPr>
          <p:cNvSpPr/>
          <p:nvPr/>
        </p:nvSpPr>
        <p:spPr>
          <a:xfrm>
            <a:off x="3758239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499F5-3327-46FB-A194-99483697BC57}"/>
              </a:ext>
            </a:extLst>
          </p:cNvPr>
          <p:cNvSpPr/>
          <p:nvPr/>
        </p:nvSpPr>
        <p:spPr>
          <a:xfrm>
            <a:off x="1548116" y="224469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B3C22E-D7B1-8F45-5CC4-A4C3EA23DF52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1192631" y="903424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7F0D5E3-D6B9-BA95-265B-C7DBE9B9A046}"/>
              </a:ext>
            </a:extLst>
          </p:cNvPr>
          <p:cNvSpPr/>
          <p:nvPr/>
        </p:nvSpPr>
        <p:spPr>
          <a:xfrm>
            <a:off x="689856" y="846131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FF1905-639C-BDEE-B93F-BF8EC8BF6F45}"/>
              </a:ext>
            </a:extLst>
          </p:cNvPr>
          <p:cNvSpPr/>
          <p:nvPr/>
        </p:nvSpPr>
        <p:spPr>
          <a:xfrm>
            <a:off x="2288980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F8C91-AD99-4101-81B0-55AC88FA1EDA}"/>
              </a:ext>
            </a:extLst>
          </p:cNvPr>
          <p:cNvSpPr/>
          <p:nvPr/>
        </p:nvSpPr>
        <p:spPr>
          <a:xfrm>
            <a:off x="3758238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118B95-1224-E1EC-BA7B-E4350B171D0F}"/>
              </a:ext>
            </a:extLst>
          </p:cNvPr>
          <p:cNvSpPr/>
          <p:nvPr/>
        </p:nvSpPr>
        <p:spPr>
          <a:xfrm>
            <a:off x="1554351" y="839376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94079A-6756-6CAD-B246-B6BB695B0E6B}"/>
              </a:ext>
            </a:extLst>
          </p:cNvPr>
          <p:cNvCxnSpPr>
            <a:cxnSpLocks/>
            <a:stCxn id="29" idx="1"/>
            <a:endCxn id="28" idx="1"/>
          </p:cNvCxnSpPr>
          <p:nvPr/>
        </p:nvCxnSpPr>
        <p:spPr>
          <a:xfrm flipV="1">
            <a:off x="1548115" y="2520178"/>
            <a:ext cx="2210123" cy="10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7419D55-A4C2-1D4B-B181-A8D23385ACA8}"/>
              </a:ext>
            </a:extLst>
          </p:cNvPr>
          <p:cNvSpPr/>
          <p:nvPr/>
        </p:nvSpPr>
        <p:spPr>
          <a:xfrm>
            <a:off x="2288980" y="2462885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698103-8CBA-A843-7BA8-0C2AA2F647CA}"/>
              </a:ext>
            </a:extLst>
          </p:cNvPr>
          <p:cNvSpPr/>
          <p:nvPr/>
        </p:nvSpPr>
        <p:spPr>
          <a:xfrm>
            <a:off x="3758238" y="2462885"/>
            <a:ext cx="290008" cy="11458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64A34E-C2D2-E038-ACAE-DB6EA953B788}"/>
              </a:ext>
            </a:extLst>
          </p:cNvPr>
          <p:cNvSpPr/>
          <p:nvPr/>
        </p:nvSpPr>
        <p:spPr>
          <a:xfrm>
            <a:off x="1548116" y="2462884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C9253E3-0904-F703-8F40-E53EB4CE1267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1192630" y="172461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8D2EDD6-6079-4896-EA91-DAE233B63A86}"/>
              </a:ext>
            </a:extLst>
          </p:cNvPr>
          <p:cNvSpPr/>
          <p:nvPr/>
        </p:nvSpPr>
        <p:spPr>
          <a:xfrm>
            <a:off x="879494" y="1667326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41B6CF4-A88E-6E35-FB6A-29457235DBA6}"/>
              </a:ext>
            </a:extLst>
          </p:cNvPr>
          <p:cNvSpPr/>
          <p:nvPr/>
        </p:nvSpPr>
        <p:spPr>
          <a:xfrm>
            <a:off x="2288980" y="16605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21840E-6669-5082-2FF8-638482AA148A}"/>
              </a:ext>
            </a:extLst>
          </p:cNvPr>
          <p:cNvSpPr/>
          <p:nvPr/>
        </p:nvSpPr>
        <p:spPr>
          <a:xfrm>
            <a:off x="3758238" y="1660572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B039532-E327-7B49-3802-911DC97BA327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192630" y="1923514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1BB123E-ABDF-F781-6BFA-F6179C12D3E2}"/>
              </a:ext>
            </a:extLst>
          </p:cNvPr>
          <p:cNvSpPr/>
          <p:nvPr/>
        </p:nvSpPr>
        <p:spPr>
          <a:xfrm>
            <a:off x="879494" y="1866220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B6A43EF-96EF-B755-A922-2370B30B55B3}"/>
              </a:ext>
            </a:extLst>
          </p:cNvPr>
          <p:cNvSpPr/>
          <p:nvPr/>
        </p:nvSpPr>
        <p:spPr>
          <a:xfrm>
            <a:off x="2288980" y="18594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1BE2D1-352B-857E-6C14-C4C88ACB81FE}"/>
              </a:ext>
            </a:extLst>
          </p:cNvPr>
          <p:cNvSpPr/>
          <p:nvPr/>
        </p:nvSpPr>
        <p:spPr>
          <a:xfrm>
            <a:off x="3758238" y="1859466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0DA9E69-E1C6-DB2E-583F-3B8DE6E08729}"/>
              </a:ext>
            </a:extLst>
          </p:cNvPr>
          <p:cNvCxnSpPr>
            <a:cxnSpLocks/>
            <a:stCxn id="39" idx="3"/>
            <a:endCxn id="41" idx="1"/>
          </p:cNvCxnSpPr>
          <p:nvPr/>
        </p:nvCxnSpPr>
        <p:spPr>
          <a:xfrm flipV="1">
            <a:off x="1192631" y="1550119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7638822-1A2B-92A6-F7A8-243F8DB54818}"/>
              </a:ext>
            </a:extLst>
          </p:cNvPr>
          <p:cNvSpPr/>
          <p:nvPr/>
        </p:nvSpPr>
        <p:spPr>
          <a:xfrm>
            <a:off x="763846" y="1492826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C5E739-B5AB-A4F4-E7C1-0339433E54B5}"/>
              </a:ext>
            </a:extLst>
          </p:cNvPr>
          <p:cNvSpPr/>
          <p:nvPr/>
        </p:nvSpPr>
        <p:spPr>
          <a:xfrm>
            <a:off x="2288980" y="14860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D08261-CC3C-5807-F518-69DBEBFC3C84}"/>
              </a:ext>
            </a:extLst>
          </p:cNvPr>
          <p:cNvSpPr/>
          <p:nvPr/>
        </p:nvSpPr>
        <p:spPr>
          <a:xfrm>
            <a:off x="3758238" y="14860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A5860B-C4D9-10C0-F1B4-86151C1AD7B2}"/>
              </a:ext>
            </a:extLst>
          </p:cNvPr>
          <p:cNvSpPr/>
          <p:nvPr/>
        </p:nvSpPr>
        <p:spPr>
          <a:xfrm>
            <a:off x="1554351" y="1486071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DE1132A-3425-4255-279B-1241766B75D3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1067422" y="2707056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F90BBBB-3C71-5FC8-26DB-1228DE234EF9}"/>
              </a:ext>
            </a:extLst>
          </p:cNvPr>
          <p:cNvSpPr/>
          <p:nvPr/>
        </p:nvSpPr>
        <p:spPr>
          <a:xfrm>
            <a:off x="755921" y="2649762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6AE9203-557E-6F78-E05B-8B63C4AA4761}"/>
              </a:ext>
            </a:extLst>
          </p:cNvPr>
          <p:cNvSpPr/>
          <p:nvPr/>
        </p:nvSpPr>
        <p:spPr>
          <a:xfrm>
            <a:off x="2452089" y="2643008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1CAAC48-15D5-0B0E-FF12-9AE8FB8C606F}"/>
              </a:ext>
            </a:extLst>
          </p:cNvPr>
          <p:cNvSpPr/>
          <p:nvPr/>
        </p:nvSpPr>
        <p:spPr>
          <a:xfrm>
            <a:off x="3750313" y="2643008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C5A2C65-E358-C0E8-F6D0-AC401ED45B27}"/>
              </a:ext>
            </a:extLst>
          </p:cNvPr>
          <p:cNvSpPr/>
          <p:nvPr/>
        </p:nvSpPr>
        <p:spPr>
          <a:xfrm>
            <a:off x="1546426" y="264300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F6FEB7-2552-8DD4-3549-CFC9992F804F}"/>
              </a:ext>
            </a:extLst>
          </p:cNvPr>
          <p:cNvCxnSpPr>
            <a:cxnSpLocks/>
            <a:stCxn id="49" idx="3"/>
            <a:endCxn id="51" idx="1"/>
          </p:cNvCxnSpPr>
          <p:nvPr/>
        </p:nvCxnSpPr>
        <p:spPr>
          <a:xfrm flipV="1">
            <a:off x="1067422" y="2877142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F8B85FE3-62E3-F92A-E328-56E4EE83A1A4}"/>
              </a:ext>
            </a:extLst>
          </p:cNvPr>
          <p:cNvSpPr/>
          <p:nvPr/>
        </p:nvSpPr>
        <p:spPr>
          <a:xfrm>
            <a:off x="755921" y="281984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9A498B-F305-CEAC-DC46-C5A0A347B371}"/>
              </a:ext>
            </a:extLst>
          </p:cNvPr>
          <p:cNvSpPr/>
          <p:nvPr/>
        </p:nvSpPr>
        <p:spPr>
          <a:xfrm>
            <a:off x="2452089" y="2813095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C767D0C-1D9D-A674-7691-95C52AB4B350}"/>
              </a:ext>
            </a:extLst>
          </p:cNvPr>
          <p:cNvSpPr/>
          <p:nvPr/>
        </p:nvSpPr>
        <p:spPr>
          <a:xfrm>
            <a:off x="3750313" y="2813095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4F1E73C-9C26-02D5-1F78-4A2AF0929365}"/>
              </a:ext>
            </a:extLst>
          </p:cNvPr>
          <p:cNvSpPr/>
          <p:nvPr/>
        </p:nvSpPr>
        <p:spPr>
          <a:xfrm>
            <a:off x="1546426" y="2813094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7F79404-5F47-8F0E-07AC-7BEFB3A99254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 flipV="1">
            <a:off x="1067422" y="3061900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5D2783C6-5F2B-940E-DDF0-9D7CD7F36731}"/>
              </a:ext>
            </a:extLst>
          </p:cNvPr>
          <p:cNvSpPr/>
          <p:nvPr/>
        </p:nvSpPr>
        <p:spPr>
          <a:xfrm>
            <a:off x="755921" y="3004607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1E7D663-D6E6-F8E5-9266-89E84D0E5196}"/>
              </a:ext>
            </a:extLst>
          </p:cNvPr>
          <p:cNvSpPr/>
          <p:nvPr/>
        </p:nvSpPr>
        <p:spPr>
          <a:xfrm>
            <a:off x="2452089" y="2997853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31D3ADD-FAF1-67D6-0783-9759487E0C5A}"/>
              </a:ext>
            </a:extLst>
          </p:cNvPr>
          <p:cNvSpPr/>
          <p:nvPr/>
        </p:nvSpPr>
        <p:spPr>
          <a:xfrm>
            <a:off x="3750313" y="299785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763EA86-571D-3C6F-F26B-3DFAE3B48648}"/>
              </a:ext>
            </a:extLst>
          </p:cNvPr>
          <p:cNvSpPr/>
          <p:nvPr/>
        </p:nvSpPr>
        <p:spPr>
          <a:xfrm>
            <a:off x="1546426" y="299785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242D644-44D8-DFB2-A791-2ACBB9E30284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 flipV="1">
            <a:off x="1184706" y="2105455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E6FCEAA8-197F-BE0C-7684-90FCD02F937E}"/>
              </a:ext>
            </a:extLst>
          </p:cNvPr>
          <p:cNvSpPr/>
          <p:nvPr/>
        </p:nvSpPr>
        <p:spPr>
          <a:xfrm>
            <a:off x="871568" y="2048161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C26D15-2F85-B8E7-BA67-5B1266782B0A}"/>
              </a:ext>
            </a:extLst>
          </p:cNvPr>
          <p:cNvSpPr/>
          <p:nvPr/>
        </p:nvSpPr>
        <p:spPr>
          <a:xfrm>
            <a:off x="2281054" y="204140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BDB2D0-C591-2E54-9CAC-FE7FAA9A997A}"/>
              </a:ext>
            </a:extLst>
          </p:cNvPr>
          <p:cNvSpPr/>
          <p:nvPr/>
        </p:nvSpPr>
        <p:spPr>
          <a:xfrm>
            <a:off x="3750313" y="2041407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A72607F-90F5-9014-75AC-DFF0E77FE079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91083" y="3231284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50CC8DD7-1C75-59DC-5FF8-E3EFFDCD2C2A}"/>
              </a:ext>
            </a:extLst>
          </p:cNvPr>
          <p:cNvSpPr/>
          <p:nvPr/>
        </p:nvSpPr>
        <p:spPr>
          <a:xfrm>
            <a:off x="2475219" y="3167238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06F2A9-D7DE-CBB4-AE78-9DB45DAB03DA}"/>
              </a:ext>
            </a:extLst>
          </p:cNvPr>
          <p:cNvSpPr txBox="1"/>
          <p:nvPr/>
        </p:nvSpPr>
        <p:spPr>
          <a:xfrm>
            <a:off x="4375970" y="78639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FC924F7A-4407-AF7C-2088-5DB960667F86}"/>
              </a:ext>
            </a:extLst>
          </p:cNvPr>
          <p:cNvSpPr/>
          <p:nvPr/>
        </p:nvSpPr>
        <p:spPr>
          <a:xfrm>
            <a:off x="4618656" y="1870126"/>
            <a:ext cx="4006870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Millions of reads, many minor differences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47AB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47AB"/>
                </a:solidFill>
              </a:rPr>
              <a:t>Goal</a:t>
            </a:r>
            <a:r>
              <a:rPr lang="en-US" sz="1500" dirty="0">
                <a:solidFill>
                  <a:srgbClr val="0047AB"/>
                </a:solidFill>
              </a:rPr>
              <a:t>: collapse similar reads to </a:t>
            </a:r>
            <a:r>
              <a:rPr lang="en-US" sz="1500" b="1" dirty="0">
                <a:solidFill>
                  <a:srgbClr val="0047AB"/>
                </a:solidFill>
              </a:rPr>
              <a:t>identify</a:t>
            </a:r>
            <a:r>
              <a:rPr lang="en-US" sz="1500" dirty="0">
                <a:solidFill>
                  <a:srgbClr val="0047AB"/>
                </a:solidFill>
              </a:rPr>
              <a:t> consistently occurring </a:t>
            </a:r>
            <a:r>
              <a:rPr lang="en-US" sz="1500" b="1" dirty="0">
                <a:solidFill>
                  <a:srgbClr val="0047AB"/>
                </a:solidFill>
              </a:rPr>
              <a:t>transcript models</a:t>
            </a:r>
          </a:p>
        </p:txBody>
      </p:sp>
      <p:sp>
        <p:nvSpPr>
          <p:cNvPr id="66" name="Text 1">
            <a:extLst>
              <a:ext uri="{FF2B5EF4-FFF2-40B4-BE49-F238E27FC236}">
                <a16:creationId xmlns:a16="http://schemas.microsoft.com/office/drawing/2014/main" id="{A0D4DFDB-9B6D-DEA1-D04D-173D70252D46}"/>
              </a:ext>
            </a:extLst>
          </p:cNvPr>
          <p:cNvSpPr/>
          <p:nvPr/>
        </p:nvSpPr>
        <p:spPr>
          <a:xfrm>
            <a:off x="4910962" y="3071250"/>
            <a:ext cx="340336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Differentiate biological and technical artifacts from real transcripts</a:t>
            </a:r>
          </a:p>
        </p:txBody>
      </p:sp>
      <p:sp>
        <p:nvSpPr>
          <p:cNvPr id="67" name="Down Arrow 66">
            <a:extLst>
              <a:ext uri="{FF2B5EF4-FFF2-40B4-BE49-F238E27FC236}">
                <a16:creationId xmlns:a16="http://schemas.microsoft.com/office/drawing/2014/main" id="{7BB4BAC1-E2E4-363C-16BC-338EEC810BA2}"/>
              </a:ext>
            </a:extLst>
          </p:cNvPr>
          <p:cNvSpPr/>
          <p:nvPr/>
        </p:nvSpPr>
        <p:spPr>
          <a:xfrm>
            <a:off x="6143920" y="2813095"/>
            <a:ext cx="205033" cy="258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</p:spTree>
    <p:extLst>
      <p:ext uri="{BB962C8B-B14F-4D97-AF65-F5344CB8AC3E}">
        <p14:creationId xmlns:p14="http://schemas.microsoft.com/office/powerpoint/2010/main" val="2824089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1AD9-7F9B-276B-0D02-CD97A9AD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7F1D5AF5-94B1-96C5-2D6C-8966A72C4404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ACB8A5-CE60-9957-32CB-36958B68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15</a:t>
            </a:fld>
            <a:endParaRPr lang="en-E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B7AC20-CB40-935A-3698-FA61B31C4DFF}"/>
              </a:ext>
            </a:extLst>
          </p:cNvPr>
          <p:cNvSpPr/>
          <p:nvPr/>
        </p:nvSpPr>
        <p:spPr>
          <a:xfrm>
            <a:off x="3944477" y="3167237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0CBDB29-509D-F4AE-255E-7477E0ADCFA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192631" y="1126174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3C296D9-F07E-3B95-C5BD-34EEDC66FB7F}"/>
              </a:ext>
            </a:extLst>
          </p:cNvPr>
          <p:cNvSpPr/>
          <p:nvPr/>
        </p:nvSpPr>
        <p:spPr>
          <a:xfrm>
            <a:off x="763846" y="1068880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F130AE-EC37-C77C-FAC0-CFE950014795}"/>
              </a:ext>
            </a:extLst>
          </p:cNvPr>
          <p:cNvSpPr/>
          <p:nvPr/>
        </p:nvSpPr>
        <p:spPr>
          <a:xfrm>
            <a:off x="2288980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A32A1B-0AB9-AE31-E2B6-A7FFE6A7A082}"/>
              </a:ext>
            </a:extLst>
          </p:cNvPr>
          <p:cNvSpPr/>
          <p:nvPr/>
        </p:nvSpPr>
        <p:spPr>
          <a:xfrm>
            <a:off x="3758238" y="106212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573528-59D5-DE08-9145-C178E8252630}"/>
              </a:ext>
            </a:extLst>
          </p:cNvPr>
          <p:cNvSpPr/>
          <p:nvPr/>
        </p:nvSpPr>
        <p:spPr>
          <a:xfrm>
            <a:off x="1554351" y="1062126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496B3D-7C4E-D36A-73A7-46A93F9A3E66}"/>
              </a:ext>
            </a:extLst>
          </p:cNvPr>
          <p:cNvCxnSpPr>
            <a:cxnSpLocks/>
            <a:stCxn id="20" idx="1"/>
            <a:endCxn id="19" idx="1"/>
          </p:cNvCxnSpPr>
          <p:nvPr/>
        </p:nvCxnSpPr>
        <p:spPr>
          <a:xfrm flipV="1">
            <a:off x="1548115" y="2308738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6E623E9-E09A-4D83-E0EB-CD4583A188DD}"/>
              </a:ext>
            </a:extLst>
          </p:cNvPr>
          <p:cNvSpPr/>
          <p:nvPr/>
        </p:nvSpPr>
        <p:spPr>
          <a:xfrm>
            <a:off x="2288980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63AC7-3C12-713B-803B-E543E55A1FE5}"/>
              </a:ext>
            </a:extLst>
          </p:cNvPr>
          <p:cNvSpPr/>
          <p:nvPr/>
        </p:nvSpPr>
        <p:spPr>
          <a:xfrm>
            <a:off x="3758239" y="224469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B87016-2FF3-3E43-9ABC-E1C7E7268166}"/>
              </a:ext>
            </a:extLst>
          </p:cNvPr>
          <p:cNvSpPr/>
          <p:nvPr/>
        </p:nvSpPr>
        <p:spPr>
          <a:xfrm>
            <a:off x="1548116" y="224469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AC1D8D-A107-1C25-A428-CB83E2AF8B8D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1192631" y="903424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5A16D9B-3D4C-C29C-C531-C2673FEB6715}"/>
              </a:ext>
            </a:extLst>
          </p:cNvPr>
          <p:cNvSpPr/>
          <p:nvPr/>
        </p:nvSpPr>
        <p:spPr>
          <a:xfrm>
            <a:off x="689856" y="846131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9F43D0-B3EE-E7E9-CDA8-BEE0F643FCE0}"/>
              </a:ext>
            </a:extLst>
          </p:cNvPr>
          <p:cNvSpPr/>
          <p:nvPr/>
        </p:nvSpPr>
        <p:spPr>
          <a:xfrm>
            <a:off x="2288980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213664-F17A-89D4-9D60-45F1EE72AE02}"/>
              </a:ext>
            </a:extLst>
          </p:cNvPr>
          <p:cNvSpPr/>
          <p:nvPr/>
        </p:nvSpPr>
        <p:spPr>
          <a:xfrm>
            <a:off x="3758238" y="839377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3A4F62-D239-1811-AFC3-B6DEA4A8FD91}"/>
              </a:ext>
            </a:extLst>
          </p:cNvPr>
          <p:cNvSpPr/>
          <p:nvPr/>
        </p:nvSpPr>
        <p:spPr>
          <a:xfrm>
            <a:off x="1554351" y="839376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CB0DDF-E163-E6F2-2947-AF4B5A43FF8B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 flipV="1">
            <a:off x="1192630" y="1724619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597B9B6-230A-2E41-ACD4-C51A5EDC0BCF}"/>
              </a:ext>
            </a:extLst>
          </p:cNvPr>
          <p:cNvSpPr/>
          <p:nvPr/>
        </p:nvSpPr>
        <p:spPr>
          <a:xfrm>
            <a:off x="879494" y="1667326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F49C60-3E0B-8E57-0BAC-1F38C889B55F}"/>
              </a:ext>
            </a:extLst>
          </p:cNvPr>
          <p:cNvSpPr/>
          <p:nvPr/>
        </p:nvSpPr>
        <p:spPr>
          <a:xfrm>
            <a:off x="2288980" y="166057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39A39E-BCE2-7559-CD51-E755ADE3A4E5}"/>
              </a:ext>
            </a:extLst>
          </p:cNvPr>
          <p:cNvSpPr/>
          <p:nvPr/>
        </p:nvSpPr>
        <p:spPr>
          <a:xfrm>
            <a:off x="3758238" y="1660572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1E3185-A00A-A67B-F4BA-7E6678B034CD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 flipV="1">
            <a:off x="1067422" y="2707056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F7D9009-459B-3735-43C9-77B4000CF937}"/>
              </a:ext>
            </a:extLst>
          </p:cNvPr>
          <p:cNvSpPr/>
          <p:nvPr/>
        </p:nvSpPr>
        <p:spPr>
          <a:xfrm>
            <a:off x="755921" y="2649762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2D0F260-78CA-7085-96D7-40DA75B9CE84}"/>
              </a:ext>
            </a:extLst>
          </p:cNvPr>
          <p:cNvSpPr/>
          <p:nvPr/>
        </p:nvSpPr>
        <p:spPr>
          <a:xfrm>
            <a:off x="2452089" y="2643008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907506-3FED-0718-E371-E73F85CA090F}"/>
              </a:ext>
            </a:extLst>
          </p:cNvPr>
          <p:cNvSpPr/>
          <p:nvPr/>
        </p:nvSpPr>
        <p:spPr>
          <a:xfrm>
            <a:off x="3750313" y="2643008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261A058-4322-B92C-57F0-3DDF3D1908F3}"/>
              </a:ext>
            </a:extLst>
          </p:cNvPr>
          <p:cNvSpPr/>
          <p:nvPr/>
        </p:nvSpPr>
        <p:spPr>
          <a:xfrm>
            <a:off x="1546426" y="264300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96278F9-BBD4-9A1C-04A8-500EF907A4D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2591083" y="3231284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13D26715-B8B0-E3DB-CB7E-0D911F2D56FF}"/>
              </a:ext>
            </a:extLst>
          </p:cNvPr>
          <p:cNvSpPr/>
          <p:nvPr/>
        </p:nvSpPr>
        <p:spPr>
          <a:xfrm>
            <a:off x="2475219" y="3167238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99E106B-1D5E-CB97-7E18-5BE2D079407B}"/>
              </a:ext>
            </a:extLst>
          </p:cNvPr>
          <p:cNvSpPr txBox="1"/>
          <p:nvPr/>
        </p:nvSpPr>
        <p:spPr>
          <a:xfrm>
            <a:off x="4375970" y="786392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94F533-33D1-1A3C-43F3-3CD8D20D9157}"/>
              </a:ext>
            </a:extLst>
          </p:cNvPr>
          <p:cNvSpPr/>
          <p:nvPr/>
        </p:nvSpPr>
        <p:spPr>
          <a:xfrm>
            <a:off x="4618656" y="1870126"/>
            <a:ext cx="4006870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Millions of reads, many minor differences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0047AB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0047AB"/>
                </a:solidFill>
              </a:rPr>
              <a:t>Goal</a:t>
            </a:r>
            <a:r>
              <a:rPr lang="en-US" sz="1500" dirty="0">
                <a:solidFill>
                  <a:srgbClr val="0047AB"/>
                </a:solidFill>
              </a:rPr>
              <a:t>: collapse similar reads to </a:t>
            </a:r>
            <a:r>
              <a:rPr lang="en-US" sz="1500" b="1" dirty="0">
                <a:solidFill>
                  <a:srgbClr val="0047AB"/>
                </a:solidFill>
              </a:rPr>
              <a:t>identify</a:t>
            </a:r>
            <a:r>
              <a:rPr lang="en-US" sz="1500" dirty="0">
                <a:solidFill>
                  <a:srgbClr val="0047AB"/>
                </a:solidFill>
              </a:rPr>
              <a:t> consistently occurring </a:t>
            </a:r>
            <a:r>
              <a:rPr lang="en-US" sz="1500" b="1" dirty="0">
                <a:solidFill>
                  <a:srgbClr val="0047AB"/>
                </a:solidFill>
              </a:rPr>
              <a:t>transcript models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1CE90FA-BAD1-CEAC-713D-3C626EFC4C0E}"/>
              </a:ext>
            </a:extLst>
          </p:cNvPr>
          <p:cNvSpPr/>
          <p:nvPr/>
        </p:nvSpPr>
        <p:spPr>
          <a:xfrm>
            <a:off x="1698304" y="3662995"/>
            <a:ext cx="4606792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This process is also called: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 | isoform identification | discovery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Transcriptome reconstruction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47AB"/>
                </a:solidFill>
              </a:rPr>
              <a:t>Transcript(</a:t>
            </a:r>
            <a:r>
              <a:rPr lang="en-US" sz="1500" dirty="0" err="1">
                <a:solidFill>
                  <a:srgbClr val="0047AB"/>
                </a:solidFill>
              </a:rPr>
              <a:t>ome</a:t>
            </a:r>
            <a:r>
              <a:rPr lang="en-US" sz="1500" dirty="0">
                <a:solidFill>
                  <a:srgbClr val="0047AB"/>
                </a:solidFill>
              </a:rPr>
              <a:t>) assembly (inherited from short-reads)</a:t>
            </a:r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20036BA5-BE1B-431F-C959-C632B8D708C7}"/>
              </a:ext>
            </a:extLst>
          </p:cNvPr>
          <p:cNvSpPr/>
          <p:nvPr/>
        </p:nvSpPr>
        <p:spPr>
          <a:xfrm>
            <a:off x="4910962" y="3071250"/>
            <a:ext cx="3403364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500" dirty="0">
                <a:solidFill>
                  <a:srgbClr val="0047AB"/>
                </a:solidFill>
              </a:rPr>
              <a:t>Differentiate biological and technical artifacts from real transcripts</a:t>
            </a:r>
          </a:p>
        </p:txBody>
      </p:sp>
      <p:sp>
        <p:nvSpPr>
          <p:cNvPr id="66" name="Down Arrow 65">
            <a:extLst>
              <a:ext uri="{FF2B5EF4-FFF2-40B4-BE49-F238E27FC236}">
                <a16:creationId xmlns:a16="http://schemas.microsoft.com/office/drawing/2014/main" id="{6184C917-5FC0-C43F-DD4E-ABBC56A45778}"/>
              </a:ext>
            </a:extLst>
          </p:cNvPr>
          <p:cNvSpPr/>
          <p:nvPr/>
        </p:nvSpPr>
        <p:spPr>
          <a:xfrm>
            <a:off x="6143920" y="2813095"/>
            <a:ext cx="205033" cy="25815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</p:spTree>
    <p:extLst>
      <p:ext uri="{BB962C8B-B14F-4D97-AF65-F5344CB8AC3E}">
        <p14:creationId xmlns:p14="http://schemas.microsoft.com/office/powerpoint/2010/main" val="257126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57EDA-AA44-6D53-C953-F9361B08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E29B1337-CC56-D6F3-0432-F8101C07F8A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reads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32D8E0-7505-ED61-9559-A4612C09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16</a:t>
            </a:fld>
            <a:endParaRPr lang="en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1B0809-3CAD-A834-161D-AF5DE2EFCEE5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D5A0AF-0A29-9B7E-2782-A8DBB7452A1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6BD500C-4EE0-FFD3-C7B3-4865CCFF8FB8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7F25F-7C16-484A-B06E-17B0E8DF7EA3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4F92F8-50A9-A174-001F-00DDEE20DEF0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7E272C-6364-B150-43F5-419983C199CE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6B2647-2628-7C03-0202-8358CE2EFB67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2838550" y="1794806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AD072-5714-E5BF-E446-E0B6727B548B}"/>
              </a:ext>
            </a:extLst>
          </p:cNvPr>
          <p:cNvSpPr/>
          <p:nvPr/>
        </p:nvSpPr>
        <p:spPr>
          <a:xfrm>
            <a:off x="2525414" y="1737512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33C529-9C79-F8EC-1E7D-916EAB7C8ACC}"/>
              </a:ext>
            </a:extLst>
          </p:cNvPr>
          <p:cNvSpPr/>
          <p:nvPr/>
        </p:nvSpPr>
        <p:spPr>
          <a:xfrm>
            <a:off x="3934900" y="173075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CD0011-D89A-26A9-CACE-9E76BF5F80FF}"/>
              </a:ext>
            </a:extLst>
          </p:cNvPr>
          <p:cNvSpPr/>
          <p:nvPr/>
        </p:nvSpPr>
        <p:spPr>
          <a:xfrm>
            <a:off x="5404158" y="173075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1CB8BF-A046-1F37-0131-04BC3641951C}"/>
              </a:ext>
            </a:extLst>
          </p:cNvPr>
          <p:cNvSpPr/>
          <p:nvPr/>
        </p:nvSpPr>
        <p:spPr>
          <a:xfrm>
            <a:off x="3200271" y="1730759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451078-405A-7FD9-52E0-5DF91D7A8566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E8410-66DA-E3C9-1977-126541829C10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B609D8-54F7-9668-AC2E-035B1E30EC87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6F0D3D-4854-2E10-69D4-316997E5D690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EF3CDC-262A-14A9-A2D4-2033B96FE7DE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FB88DDE-FA97-55C9-3681-85B3ACED73FA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771C4-291F-5A83-EAB0-5C71456565ED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A44961-909C-B921-CC81-E9397435937B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13FD27-6D45-96B2-39CF-570B0230CBF3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CADEEA-BDDC-7D1C-0CB0-B9170EB7BC4D}"/>
              </a:ext>
            </a:extLst>
          </p:cNvPr>
          <p:cNvCxnSpPr>
            <a:cxnSpLocks/>
            <a:stCxn id="28" idx="1"/>
            <a:endCxn id="27" idx="1"/>
          </p:cNvCxnSpPr>
          <p:nvPr/>
        </p:nvCxnSpPr>
        <p:spPr>
          <a:xfrm flipV="1">
            <a:off x="3194035" y="2979736"/>
            <a:ext cx="2210123" cy="101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8694C-6B9B-E068-D2F9-B6B0E585E8B8}"/>
              </a:ext>
            </a:extLst>
          </p:cNvPr>
          <p:cNvSpPr/>
          <p:nvPr/>
        </p:nvSpPr>
        <p:spPr>
          <a:xfrm>
            <a:off x="3934900" y="292244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4B5F21-CFDE-2CA9-40BD-3B4DA664447E}"/>
              </a:ext>
            </a:extLst>
          </p:cNvPr>
          <p:cNvSpPr/>
          <p:nvPr/>
        </p:nvSpPr>
        <p:spPr>
          <a:xfrm>
            <a:off x="5404158" y="2922442"/>
            <a:ext cx="290008" cy="11458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5C975BA-EA99-D4AD-4E13-B1485F1BDD51}"/>
              </a:ext>
            </a:extLst>
          </p:cNvPr>
          <p:cNvSpPr/>
          <p:nvPr/>
        </p:nvSpPr>
        <p:spPr>
          <a:xfrm>
            <a:off x="3194036" y="2922441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7ABCFB-BD09-8AD1-5548-49355CE3B245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EF714D9-6BB8-1B4D-AFA9-C9ABC2D97097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ACC2F1-0B5C-4B55-D220-84EE06BE351D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3710E2-86BE-3FEE-2EA2-5918D5A7B419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71C6D1-8278-CF85-7A16-7F316FE12D40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 flipV="1">
            <a:off x="2838550" y="2383071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D6C4D21-4EE4-5787-D32B-9EC95A0B3A8B}"/>
              </a:ext>
            </a:extLst>
          </p:cNvPr>
          <p:cNvSpPr/>
          <p:nvPr/>
        </p:nvSpPr>
        <p:spPr>
          <a:xfrm>
            <a:off x="2525414" y="2325777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4BA934-9E73-086C-A725-708E15E4D958}"/>
              </a:ext>
            </a:extLst>
          </p:cNvPr>
          <p:cNvSpPr/>
          <p:nvPr/>
        </p:nvSpPr>
        <p:spPr>
          <a:xfrm>
            <a:off x="3934900" y="231902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E618D77-63A0-3698-65DE-AD925FA95F8F}"/>
              </a:ext>
            </a:extLst>
          </p:cNvPr>
          <p:cNvSpPr/>
          <p:nvPr/>
        </p:nvSpPr>
        <p:spPr>
          <a:xfrm>
            <a:off x="5404158" y="2319023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0881C2-BD84-95DF-6310-0A63DDB4F799}"/>
              </a:ext>
            </a:extLst>
          </p:cNvPr>
          <p:cNvCxnSpPr>
            <a:cxnSpLocks/>
            <a:stCxn id="38" idx="3"/>
            <a:endCxn id="40" idx="1"/>
          </p:cNvCxnSpPr>
          <p:nvPr/>
        </p:nvCxnSpPr>
        <p:spPr>
          <a:xfrm flipV="1">
            <a:off x="2838551" y="2009677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994FA71-E5C1-DF1C-CED8-191EF76B49D5}"/>
              </a:ext>
            </a:extLst>
          </p:cNvPr>
          <p:cNvSpPr/>
          <p:nvPr/>
        </p:nvSpPr>
        <p:spPr>
          <a:xfrm>
            <a:off x="2409766" y="1952383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AA51C8-2BDD-4F01-533F-01085221B210}"/>
              </a:ext>
            </a:extLst>
          </p:cNvPr>
          <p:cNvSpPr/>
          <p:nvPr/>
        </p:nvSpPr>
        <p:spPr>
          <a:xfrm>
            <a:off x="3934900" y="19456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70080F-0748-DED6-061A-7B4F5FF631F7}"/>
              </a:ext>
            </a:extLst>
          </p:cNvPr>
          <p:cNvSpPr/>
          <p:nvPr/>
        </p:nvSpPr>
        <p:spPr>
          <a:xfrm>
            <a:off x="5404158" y="19456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B8E787B-FB9A-58FA-ABCE-CEBF8B573536}"/>
              </a:ext>
            </a:extLst>
          </p:cNvPr>
          <p:cNvSpPr/>
          <p:nvPr/>
        </p:nvSpPr>
        <p:spPr>
          <a:xfrm>
            <a:off x="3200271" y="1945629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63550A-2B7D-2E98-0A7D-5C370C0D925E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8ABA0F2-DA43-97DB-DFEF-A7E2335FDD4D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CA1FCF-2208-BAD4-751B-E8B839E214F3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56E779-212B-1223-EF65-401E505D3562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0613A8-C258-3E66-A678-8074C636F41E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FE3F297-07F3-2014-637D-5E10007FF32D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2713342" y="3336700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1627C7A-8E8C-C1C6-3871-1EC2CC9ACDB2}"/>
              </a:ext>
            </a:extLst>
          </p:cNvPr>
          <p:cNvSpPr/>
          <p:nvPr/>
        </p:nvSpPr>
        <p:spPr>
          <a:xfrm>
            <a:off x="2401841" y="3279406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3CEBC49-563C-3F5D-1983-B432C415A806}"/>
              </a:ext>
            </a:extLst>
          </p:cNvPr>
          <p:cNvSpPr/>
          <p:nvPr/>
        </p:nvSpPr>
        <p:spPr>
          <a:xfrm>
            <a:off x="4098009" y="3272652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D72041-F737-2760-BABB-D5B888F67F79}"/>
              </a:ext>
            </a:extLst>
          </p:cNvPr>
          <p:cNvSpPr/>
          <p:nvPr/>
        </p:nvSpPr>
        <p:spPr>
          <a:xfrm>
            <a:off x="5396233" y="3272652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749002-DDC0-B8C1-0EC8-065608AB272D}"/>
              </a:ext>
            </a:extLst>
          </p:cNvPr>
          <p:cNvSpPr/>
          <p:nvPr/>
        </p:nvSpPr>
        <p:spPr>
          <a:xfrm>
            <a:off x="3192346" y="3272652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A59864-188C-8808-81E8-6AE9910960F2}"/>
              </a:ext>
            </a:extLst>
          </p:cNvPr>
          <p:cNvCxnSpPr>
            <a:cxnSpLocks/>
            <a:stCxn id="53" idx="3"/>
            <a:endCxn id="55" idx="1"/>
          </p:cNvCxnSpPr>
          <p:nvPr/>
        </p:nvCxnSpPr>
        <p:spPr>
          <a:xfrm flipV="1">
            <a:off x="2713342" y="3521458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3A2293EB-EA47-1C72-F63F-3E03F0803E81}"/>
              </a:ext>
            </a:extLst>
          </p:cNvPr>
          <p:cNvSpPr/>
          <p:nvPr/>
        </p:nvSpPr>
        <p:spPr>
          <a:xfrm>
            <a:off x="2401841" y="3464164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25C8B97-6D0A-81C5-DD7C-9A14F490EAA8}"/>
              </a:ext>
            </a:extLst>
          </p:cNvPr>
          <p:cNvSpPr/>
          <p:nvPr/>
        </p:nvSpPr>
        <p:spPr>
          <a:xfrm>
            <a:off x="4098009" y="3457410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6414E7-35B8-AB51-5990-D8197CD32E36}"/>
              </a:ext>
            </a:extLst>
          </p:cNvPr>
          <p:cNvSpPr/>
          <p:nvPr/>
        </p:nvSpPr>
        <p:spPr>
          <a:xfrm>
            <a:off x="5396233" y="3457410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7D86CB-C239-BD8C-0510-DE6C5E3EA8D1}"/>
              </a:ext>
            </a:extLst>
          </p:cNvPr>
          <p:cNvSpPr/>
          <p:nvPr/>
        </p:nvSpPr>
        <p:spPr>
          <a:xfrm>
            <a:off x="3192346" y="3457410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7BB232-AFC1-F4B0-614F-5E8370B5ACED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 flipV="1">
            <a:off x="2830626" y="2565012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665133ED-AD6A-AA30-B4D6-21D81713AB02}"/>
              </a:ext>
            </a:extLst>
          </p:cNvPr>
          <p:cNvSpPr/>
          <p:nvPr/>
        </p:nvSpPr>
        <p:spPr>
          <a:xfrm>
            <a:off x="2517488" y="2507718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287E836-0111-B8AB-183F-37492BFD114F}"/>
              </a:ext>
            </a:extLst>
          </p:cNvPr>
          <p:cNvSpPr/>
          <p:nvPr/>
        </p:nvSpPr>
        <p:spPr>
          <a:xfrm>
            <a:off x="3926974" y="2500964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63829A1-925B-0FB5-F1E6-138F7699423A}"/>
              </a:ext>
            </a:extLst>
          </p:cNvPr>
          <p:cNvSpPr/>
          <p:nvPr/>
        </p:nvSpPr>
        <p:spPr>
          <a:xfrm>
            <a:off x="5396233" y="2500964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BB7D810-47CC-060D-989C-B9B2D4EA581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5251ADF-F61E-CD45-B011-473EE9F24023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8D144A-3638-F2A2-A20F-745FDAD2FF2E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21036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8BAA-71DB-5038-B981-D59C7E4F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A673DC8-C4A1-0A9B-CC51-0129FD08236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ACCDFE-AD68-B66B-7512-2E2C448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17</a:t>
            </a:fld>
            <a:endParaRPr lang="en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4CFDD0-40B4-2021-2257-4BD0004645FD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57CA98-9AC8-BDA7-3854-F5AA3025012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CCF736C-B2B6-CE90-BC76-4934DF78195E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03833-FA33-7D06-4348-1C3D4330F222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101D3-C43A-5F88-4966-349D5A0CC130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4E85D-0F33-A93B-DF39-F41B24326491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5D6608-51D7-AABF-4D7D-57D1C8FD76C1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99BF0A8-4DC3-589D-06D4-651E1C9E5882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49D645-20BF-D272-FE48-539E4D006B27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D5869-EC43-2F6B-0706-05A72AC9F76C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7B0B03-3FFD-CE68-203E-7476300C6E64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A5AD211-C833-17F7-F035-BC4B9E999BA8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63D9EB-7925-849E-ABC2-EB835129441E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5E45D4-71F8-78FB-B63C-1E628B79E537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84263F-A0EB-3206-0E20-96C61071EF82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B3AC48-5E02-DA5F-F548-EC717231A69A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C3AB922-0282-4378-E8B2-5CD5F0F7F25B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C22467-DE31-EFAD-0A17-A0CA2A7E33C4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8D8F1E-D0EB-498C-5EE7-163ECC032F06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8D0C98D-01B0-D84B-A205-9702D74D374E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424C8DD7-1552-2F82-CA00-DB49811D2272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F2CD38-FC49-2F40-D792-1AE7AAE781F2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09CFF9B-FB9E-6146-5ED1-6AA9C62807EF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C4D108-C941-A5EE-FC86-EF4AE267AC85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6D3FEFA-C579-BCF7-5294-E2E1E678B119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67199B3-834B-6548-AF31-9DEC59C04197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72262F5-779E-CB8D-A9FB-461AAED7036A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2249919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010A-B0DE-7EA9-BD1C-FAC3335A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FA9FBDB-C4EA-3DE0-C699-1EC8795CFBD0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8BD558-4643-1AA2-1AEA-4948BB55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18</a:t>
            </a:fld>
            <a:endParaRPr lang="en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1A9C22-E904-94FF-0475-E23642B6E8B3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AC1CC4-88DF-2FB1-1518-96337C0947D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340EB85-0824-06EE-CDAA-FB9B66591DB8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F35BE-AAA9-50CD-AC3A-E214377E16B6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B5F947-3F0E-29DB-22C7-17EDA6B3F5D4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609433-E5D3-2A06-FE17-3D17718C3FF9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EBEB40-E747-F470-65E9-CF2BF354C1E6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D2ACD53-16FB-FF87-4E4B-6F93944EF308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E2B7B7-5472-50BC-9C92-019D717761AF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E5EDBD-F00C-8AFC-EB2F-E27F181CF372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54A7522-7F17-8AA0-A616-B2ADDE16FF31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F575FA6-F59B-62B4-914A-DE6FAA924665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A0F0E2-9CF0-7D53-333F-B276CF534E3E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A8CFA2-AFDA-FE85-1958-960218686786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CE7649-3F96-4597-6DDC-0D8978F4FA41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BDA7884-00C4-6309-01D3-7EC8542179B5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0E50EFB-6C13-27B3-8852-BDE8BC02B0BE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822824-1F89-3722-4652-9A02F21439E8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EE29CD-8F26-1048-1B8C-0F41B3204570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535087-717A-CD74-6179-01C0944C12A1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D9FA67A-35D5-9B84-DEA8-3A3DA8A33219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4269CFA-09A2-6A26-4451-4BF020BC284D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97A0F7A-CDCB-351A-A012-5FDB30A015FC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779255-FAAC-642B-23E6-3CD7717484C4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BC1BB16-DDED-AE70-F261-A8811C90A55E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96B3932A-73D8-A6E4-EF69-FBEFDD27CE9B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B97EC8-67EB-146D-9F46-61C9FEA960E8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</p:spTree>
    <p:extLst>
      <p:ext uri="{BB962C8B-B14F-4D97-AF65-F5344CB8AC3E}">
        <p14:creationId xmlns:p14="http://schemas.microsoft.com/office/powerpoint/2010/main" val="1447516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CA39-61C0-48C1-40D9-51F557F91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3098483-BAE9-B472-0FD8-0455CFA58E3F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Quality Control!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9AB40-2AEE-7208-2B51-5568CFCA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19</a:t>
            </a:fld>
            <a:endParaRPr lang="en-ES" dirty="0"/>
          </a:p>
        </p:txBody>
      </p:sp>
      <p:pic>
        <p:nvPicPr>
          <p:cNvPr id="11" name="Imagen 75">
            <a:extLst>
              <a:ext uri="{FF2B5EF4-FFF2-40B4-BE49-F238E27FC236}">
                <a16:creationId xmlns:a16="http://schemas.microsoft.com/office/drawing/2014/main" id="{FC2B6CB4-7969-5923-4DC7-D7EF180DB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691" y="927962"/>
            <a:ext cx="5478528" cy="1969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C84473F-8727-EB22-C106-C27CC93D6086}"/>
              </a:ext>
            </a:extLst>
          </p:cNvPr>
          <p:cNvSpPr txBox="1"/>
          <p:nvPr/>
        </p:nvSpPr>
        <p:spPr>
          <a:xfrm>
            <a:off x="6542569" y="1445151"/>
            <a:ext cx="1479892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ull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 S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plice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atch  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FSM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9603A8-C0EF-9082-4747-B2B41C292E76}"/>
              </a:ext>
            </a:extLst>
          </p:cNvPr>
          <p:cNvSpPr txBox="1"/>
          <p:nvPr/>
        </p:nvSpPr>
        <p:spPr>
          <a:xfrm>
            <a:off x="6542569" y="1794347"/>
            <a:ext cx="1635063" cy="1384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I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ncomplete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 S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plice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atch  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ISM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723C8-462E-ABB8-4416-6AE25A48BB0E}"/>
              </a:ext>
            </a:extLst>
          </p:cNvPr>
          <p:cNvSpPr txBox="1"/>
          <p:nvPr/>
        </p:nvSpPr>
        <p:spPr>
          <a:xfrm>
            <a:off x="6542569" y="2094219"/>
            <a:ext cx="1473480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ovel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I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atalogue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NIC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B0157-8682-03E0-62E3-1FC40A882397}"/>
              </a:ext>
            </a:extLst>
          </p:cNvPr>
          <p:cNvSpPr txBox="1"/>
          <p:nvPr/>
        </p:nvSpPr>
        <p:spPr>
          <a:xfrm>
            <a:off x="6542569" y="2485998"/>
            <a:ext cx="1729961" cy="1384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ovel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N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ot in 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atalogue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ES" sz="900" b="1" dirty="0">
                <a:solidFill>
                  <a:schemeClr val="tx2">
                    <a:lumMod val="50000"/>
                  </a:schemeClr>
                </a:solidFill>
              </a:rPr>
              <a:t>NNC</a:t>
            </a:r>
            <a:r>
              <a:rPr lang="en-ES" sz="9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</p:txBody>
      </p:sp>
      <p:pic>
        <p:nvPicPr>
          <p:cNvPr id="26" name="Imagen 2">
            <a:extLst>
              <a:ext uri="{FF2B5EF4-FFF2-40B4-BE49-F238E27FC236}">
                <a16:creationId xmlns:a16="http://schemas.microsoft.com/office/drawing/2014/main" id="{47DD1DFD-CDBC-F8F5-8DAA-F9FA5E190A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577"/>
          <a:stretch/>
        </p:blipFill>
        <p:spPr>
          <a:xfrm>
            <a:off x="2393950" y="2913152"/>
            <a:ext cx="5530012" cy="1690598"/>
          </a:xfrm>
          <a:prstGeom prst="rect">
            <a:avLst/>
          </a:prstGeom>
        </p:spPr>
      </p:pic>
      <p:sp>
        <p:nvSpPr>
          <p:cNvPr id="28" name="Text 13">
            <a:extLst>
              <a:ext uri="{FF2B5EF4-FFF2-40B4-BE49-F238E27FC236}">
                <a16:creationId xmlns:a16="http://schemas.microsoft.com/office/drawing/2014/main" id="{9DDB5537-B407-9924-A67C-A41CAF638E09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8E79FA3-2082-F227-0069-D22C4CB50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4" y="1251034"/>
            <a:ext cx="2030198" cy="5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9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CB501-C5EF-5F95-37D9-0C8689CB6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3F48871-25B5-38C6-2EA6-2105B90252AB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transcript models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12E803-552B-DDDB-43EC-9356A5D0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20</a:t>
            </a:fld>
            <a:endParaRPr lang="en-E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014EE3-7C31-6C4F-4F62-3B149CCEB53A}"/>
              </a:ext>
            </a:extLst>
          </p:cNvPr>
          <p:cNvSpPr/>
          <p:nvPr/>
        </p:nvSpPr>
        <p:spPr>
          <a:xfrm>
            <a:off x="5590397" y="3626795"/>
            <a:ext cx="331740" cy="128094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16BB8F-389A-E800-FA92-99BC86534C8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838551" y="1585731"/>
            <a:ext cx="2565607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14E7F10-2ED6-550A-4284-3602A372FC4E}"/>
              </a:ext>
            </a:extLst>
          </p:cNvPr>
          <p:cNvSpPr/>
          <p:nvPr/>
        </p:nvSpPr>
        <p:spPr>
          <a:xfrm>
            <a:off x="2409766" y="1528438"/>
            <a:ext cx="428785" cy="121340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AEA96F-C9C2-B18C-805F-14F1DE587286}"/>
              </a:ext>
            </a:extLst>
          </p:cNvPr>
          <p:cNvSpPr/>
          <p:nvPr/>
        </p:nvSpPr>
        <p:spPr>
          <a:xfrm>
            <a:off x="3934900" y="1521683"/>
            <a:ext cx="502775" cy="128094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17C3C-1F2A-BC2E-A95B-E2DDA4663A91}"/>
              </a:ext>
            </a:extLst>
          </p:cNvPr>
          <p:cNvSpPr/>
          <p:nvPr/>
        </p:nvSpPr>
        <p:spPr>
          <a:xfrm>
            <a:off x="5404158" y="1521683"/>
            <a:ext cx="502775" cy="128094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ADF428-4108-C72E-3A9D-FE44086BB478}"/>
              </a:ext>
            </a:extLst>
          </p:cNvPr>
          <p:cNvSpPr/>
          <p:nvPr/>
        </p:nvSpPr>
        <p:spPr>
          <a:xfrm>
            <a:off x="3200271" y="1521683"/>
            <a:ext cx="231854" cy="134848"/>
          </a:xfrm>
          <a:prstGeom prst="rect">
            <a:avLst/>
          </a:prstGeom>
          <a:solidFill>
            <a:srgbClr val="0070C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8FB7B2-DC15-5180-4B36-CF5F43263B27}"/>
              </a:ext>
            </a:extLst>
          </p:cNvPr>
          <p:cNvCxnSpPr>
            <a:cxnSpLocks/>
            <a:stCxn id="19" idx="1"/>
            <a:endCxn id="18" idx="1"/>
          </p:cNvCxnSpPr>
          <p:nvPr/>
        </p:nvCxnSpPr>
        <p:spPr>
          <a:xfrm flipV="1">
            <a:off x="3194035" y="2768295"/>
            <a:ext cx="2210123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C3A67-FC92-03CD-C181-E99DED6F4AEA}"/>
              </a:ext>
            </a:extLst>
          </p:cNvPr>
          <p:cNvSpPr/>
          <p:nvPr/>
        </p:nvSpPr>
        <p:spPr>
          <a:xfrm>
            <a:off x="3934900" y="2704247"/>
            <a:ext cx="502775" cy="12809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52D013-D2C6-AB06-FE6B-77304D9EB7F0}"/>
              </a:ext>
            </a:extLst>
          </p:cNvPr>
          <p:cNvSpPr/>
          <p:nvPr/>
        </p:nvSpPr>
        <p:spPr>
          <a:xfrm>
            <a:off x="5404159" y="2704247"/>
            <a:ext cx="502775" cy="12809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B88E96-5A05-A8C1-4960-45E98B175483}"/>
              </a:ext>
            </a:extLst>
          </p:cNvPr>
          <p:cNvSpPr/>
          <p:nvPr/>
        </p:nvSpPr>
        <p:spPr>
          <a:xfrm>
            <a:off x="3194036" y="2704248"/>
            <a:ext cx="231854" cy="134848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585280-90A5-B323-61CF-6CE352EBA55D}"/>
              </a:ext>
            </a:extLst>
          </p:cNvPr>
          <p:cNvCxnSpPr>
            <a:cxnSpLocks/>
            <a:stCxn id="21" idx="3"/>
            <a:endCxn id="23" idx="1"/>
          </p:cNvCxnSpPr>
          <p:nvPr/>
        </p:nvCxnSpPr>
        <p:spPr>
          <a:xfrm flipV="1">
            <a:off x="2838551" y="1362981"/>
            <a:ext cx="2565607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96B5378-48E3-2398-3B14-13413D4BC36E}"/>
              </a:ext>
            </a:extLst>
          </p:cNvPr>
          <p:cNvSpPr/>
          <p:nvPr/>
        </p:nvSpPr>
        <p:spPr>
          <a:xfrm>
            <a:off x="2335776" y="1305688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6799BB-6CB4-D65B-1C4C-E76A8C671345}"/>
              </a:ext>
            </a:extLst>
          </p:cNvPr>
          <p:cNvSpPr/>
          <p:nvPr/>
        </p:nvSpPr>
        <p:spPr>
          <a:xfrm>
            <a:off x="3934900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F9FC0-0074-A396-5F5C-01166627D8A4}"/>
              </a:ext>
            </a:extLst>
          </p:cNvPr>
          <p:cNvSpPr/>
          <p:nvPr/>
        </p:nvSpPr>
        <p:spPr>
          <a:xfrm>
            <a:off x="5404158" y="1298934"/>
            <a:ext cx="502775" cy="12809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3F80A5-4338-5C03-C0EB-F17BA513493A}"/>
              </a:ext>
            </a:extLst>
          </p:cNvPr>
          <p:cNvSpPr/>
          <p:nvPr/>
        </p:nvSpPr>
        <p:spPr>
          <a:xfrm>
            <a:off x="3200271" y="1298934"/>
            <a:ext cx="231854" cy="134848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2DCB0A3-1140-5C11-84D0-6E4ADE365801}"/>
              </a:ext>
            </a:extLst>
          </p:cNvPr>
          <p:cNvCxnSpPr>
            <a:cxnSpLocks/>
            <a:stCxn id="30" idx="3"/>
            <a:endCxn id="32" idx="1"/>
          </p:cNvCxnSpPr>
          <p:nvPr/>
        </p:nvCxnSpPr>
        <p:spPr>
          <a:xfrm flipV="1">
            <a:off x="2838550" y="2184177"/>
            <a:ext cx="2565608" cy="67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C4F2FC9-E32B-A599-4695-12A6B4DB49FC}"/>
              </a:ext>
            </a:extLst>
          </p:cNvPr>
          <p:cNvSpPr/>
          <p:nvPr/>
        </p:nvSpPr>
        <p:spPr>
          <a:xfrm>
            <a:off x="2525414" y="2126883"/>
            <a:ext cx="313137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473050-7382-1A55-FBE5-8C286080F3E5}"/>
              </a:ext>
            </a:extLst>
          </p:cNvPr>
          <p:cNvSpPr/>
          <p:nvPr/>
        </p:nvSpPr>
        <p:spPr>
          <a:xfrm>
            <a:off x="3934900" y="2120129"/>
            <a:ext cx="502775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BD4062-2824-67BF-27AE-C83E24127BC9}"/>
              </a:ext>
            </a:extLst>
          </p:cNvPr>
          <p:cNvSpPr/>
          <p:nvPr/>
        </p:nvSpPr>
        <p:spPr>
          <a:xfrm>
            <a:off x="5404158" y="2120129"/>
            <a:ext cx="397946" cy="128094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1050D20-30E8-8C70-6117-2E5551910606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2713342" y="3166613"/>
            <a:ext cx="2682890" cy="33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0285979-B04E-8627-FD17-260CF8B8AE56}"/>
              </a:ext>
            </a:extLst>
          </p:cNvPr>
          <p:cNvSpPr/>
          <p:nvPr/>
        </p:nvSpPr>
        <p:spPr>
          <a:xfrm>
            <a:off x="2401841" y="3109319"/>
            <a:ext cx="311502" cy="121340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8DA48D-5D72-82BB-14FE-977466B06BAC}"/>
              </a:ext>
            </a:extLst>
          </p:cNvPr>
          <p:cNvSpPr/>
          <p:nvPr/>
        </p:nvSpPr>
        <p:spPr>
          <a:xfrm>
            <a:off x="4098009" y="3102566"/>
            <a:ext cx="331740" cy="134847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4A6A859-8199-A29A-CDF6-2FD117C40F78}"/>
              </a:ext>
            </a:extLst>
          </p:cNvPr>
          <p:cNvSpPr/>
          <p:nvPr/>
        </p:nvSpPr>
        <p:spPr>
          <a:xfrm>
            <a:off x="5396233" y="3102566"/>
            <a:ext cx="502775" cy="128094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E6F67AC-1476-A892-83B4-0FDC25414F1C}"/>
              </a:ext>
            </a:extLst>
          </p:cNvPr>
          <p:cNvSpPr/>
          <p:nvPr/>
        </p:nvSpPr>
        <p:spPr>
          <a:xfrm>
            <a:off x="3192346" y="3102565"/>
            <a:ext cx="231854" cy="134848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AAF9EB8-91FA-AB63-E594-AB396F23636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4237003" y="3690842"/>
            <a:ext cx="135339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AE9A6A8B-4205-30F4-BEDB-489370958311}"/>
              </a:ext>
            </a:extLst>
          </p:cNvPr>
          <p:cNvSpPr/>
          <p:nvPr/>
        </p:nvSpPr>
        <p:spPr>
          <a:xfrm>
            <a:off x="4121139" y="3626795"/>
            <a:ext cx="200672" cy="134845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TT" sz="76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6906B46-4646-E0BD-A734-672DC031B633}"/>
              </a:ext>
            </a:extLst>
          </p:cNvPr>
          <p:cNvSpPr txBox="1"/>
          <p:nvPr/>
        </p:nvSpPr>
        <p:spPr>
          <a:xfrm>
            <a:off x="6021890" y="1245949"/>
            <a:ext cx="174278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1350" dirty="0"/>
              <a:t>Reference transcript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6BF710D-8249-F0BA-12B8-C8558BFA3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44" y="1251034"/>
            <a:ext cx="2030198" cy="55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096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3F8F5-B39F-2329-BA16-D7FFB3F68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2B108B31-F523-6C57-D93B-B153BAF84FCB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Novel FSM categories in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30855F-E8BB-D5A4-21DA-7AAB5B08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21</a:t>
            </a:fld>
            <a:endParaRPr lang="en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1DD265-9E55-0642-A120-DCC8703C2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435" y="778776"/>
            <a:ext cx="6678780" cy="3640718"/>
          </a:xfrm>
          <a:prstGeom prst="rect">
            <a:avLst/>
          </a:prstGeom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1FF92E39-2275-9CFC-0A91-2DBB9E6784A3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4203029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74DAE-D06B-703D-E74A-C6621361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DC6B7A37-4A15-14A7-A1ED-6E434741471E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Other novel categories in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9EAFE0-5AF3-8F9F-A93F-D4A7ED9CE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22</a:t>
            </a:fld>
            <a:endParaRPr lang="en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6CC43-B1EE-563F-A944-64330B854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9524"/>
            <a:ext cx="4934273" cy="2012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496A3-1573-79F7-DF68-3597241AE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431" y="2571750"/>
            <a:ext cx="4934272" cy="2208733"/>
          </a:xfrm>
          <a:prstGeom prst="rect">
            <a:avLst/>
          </a:prstGeom>
        </p:spPr>
      </p:pic>
      <p:sp>
        <p:nvSpPr>
          <p:cNvPr id="6" name="Text 13">
            <a:extLst>
              <a:ext uri="{FF2B5EF4-FFF2-40B4-BE49-F238E27FC236}">
                <a16:creationId xmlns:a16="http://schemas.microsoft.com/office/drawing/2014/main" id="{885B1B8B-B41B-A102-9262-BEFF92E1A622}"/>
              </a:ext>
            </a:extLst>
          </p:cNvPr>
          <p:cNvSpPr/>
          <p:nvPr/>
        </p:nvSpPr>
        <p:spPr>
          <a:xfrm>
            <a:off x="6061655" y="478048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160741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EBDE7-9088-CCB1-49D7-BF528036B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488A9D9-C6CE-E36B-9E90-59371533369D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Distance to TSS, TTS and to known junctions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F0E1EC-B589-9B0E-0039-E1AB90D7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23</a:t>
            </a:fld>
            <a:endParaRPr lang="en-E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768034-8FC5-DA3B-D5C2-9DCF1B825430}"/>
              </a:ext>
            </a:extLst>
          </p:cNvPr>
          <p:cNvGrpSpPr/>
          <p:nvPr/>
        </p:nvGrpSpPr>
        <p:grpSpPr>
          <a:xfrm>
            <a:off x="375603" y="1052942"/>
            <a:ext cx="8704564" cy="3258708"/>
            <a:chOff x="312055" y="989056"/>
            <a:chExt cx="8574197" cy="3209903"/>
          </a:xfrm>
        </p:grpSpPr>
        <p:pic>
          <p:nvPicPr>
            <p:cNvPr id="3" name="Imagen 75">
              <a:extLst>
                <a:ext uri="{FF2B5EF4-FFF2-40B4-BE49-F238E27FC236}">
                  <a16:creationId xmlns:a16="http://schemas.microsoft.com/office/drawing/2014/main" id="{B80B690B-465E-7138-96DE-A80114036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r="27169" b="2573"/>
            <a:stretch/>
          </p:blipFill>
          <p:spPr>
            <a:xfrm>
              <a:off x="1530349" y="989056"/>
              <a:ext cx="6379119" cy="32099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FA1117C-94EB-8114-528F-01B8C50E025C}"/>
                </a:ext>
              </a:extLst>
            </p:cNvPr>
            <p:cNvSpPr txBox="1"/>
            <p:nvPr/>
          </p:nvSpPr>
          <p:spPr>
            <a:xfrm>
              <a:off x="7918013" y="1094633"/>
              <a:ext cx="968239" cy="295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350" dirty="0">
                  <a:solidFill>
                    <a:schemeClr val="tx2">
                      <a:lumMod val="50000"/>
                    </a:schemeClr>
                  </a:solidFill>
                </a:rPr>
                <a:t>Reference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311B02F-41DC-AF74-F4BF-CA8EDD1ABC94}"/>
                </a:ext>
              </a:extLst>
            </p:cNvPr>
            <p:cNvSpPr/>
            <p:nvPr/>
          </p:nvSpPr>
          <p:spPr>
            <a:xfrm>
              <a:off x="7210176" y="3113816"/>
              <a:ext cx="707837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FCC1269-39AA-01CE-9E34-902ECE727243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2703245"/>
              <a:ext cx="17776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7C67806-39DF-8942-840E-71100285AEF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210176" y="3252316"/>
              <a:ext cx="707837" cy="60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8F26-747C-DBC9-187A-D418DD1B0C1E}"/>
                </a:ext>
              </a:extLst>
            </p:cNvPr>
            <p:cNvCxnSpPr>
              <a:cxnSpLocks/>
            </p:cNvCxnSpPr>
            <p:nvPr/>
          </p:nvCxnSpPr>
          <p:spPr>
            <a:xfrm>
              <a:off x="7905194" y="1263910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ACDBBBA-1CA1-5B0F-A704-AEBE8677B203}"/>
                </a:ext>
              </a:extLst>
            </p:cNvPr>
            <p:cNvSpPr txBox="1"/>
            <p:nvPr/>
          </p:nvSpPr>
          <p:spPr>
            <a:xfrm>
              <a:off x="2279541" y="250326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D1FA14-203B-AD8B-E2B4-580D4222540A}"/>
                </a:ext>
              </a:extLst>
            </p:cNvPr>
            <p:cNvSpPr txBox="1"/>
            <p:nvPr/>
          </p:nvSpPr>
          <p:spPr>
            <a:xfrm>
              <a:off x="7447929" y="304412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652A14E-B713-997F-0CCF-271E8A0D58FD}"/>
                </a:ext>
              </a:extLst>
            </p:cNvPr>
            <p:cNvSpPr/>
            <p:nvPr/>
          </p:nvSpPr>
          <p:spPr>
            <a:xfrm>
              <a:off x="1453550" y="3704605"/>
              <a:ext cx="433582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C628D5A-679A-18AD-74EB-ECFA0A10AA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757" y="3857178"/>
              <a:ext cx="39219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733966-69FC-BF6D-8333-F7AA7648C1E9}"/>
                </a:ext>
              </a:extLst>
            </p:cNvPr>
            <p:cNvSpPr txBox="1"/>
            <p:nvPr/>
          </p:nvSpPr>
          <p:spPr>
            <a:xfrm>
              <a:off x="1614706" y="3657447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1C36D9B-4D21-C772-0673-DD6B9C6C56FA}"/>
                </a:ext>
              </a:extLst>
            </p:cNvPr>
            <p:cNvSpPr txBox="1"/>
            <p:nvPr/>
          </p:nvSpPr>
          <p:spPr>
            <a:xfrm>
              <a:off x="312055" y="1393864"/>
              <a:ext cx="1112371" cy="636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TSS </a:t>
              </a:r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TTS </a:t>
              </a:r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Splice site diff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4A3CCF0-DB4D-801D-78F8-7B6850A350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5277" y="3657447"/>
              <a:ext cx="2373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B89E23-4312-D8A8-4882-F156657E5B5F}"/>
                </a:ext>
              </a:extLst>
            </p:cNvPr>
            <p:cNvSpPr txBox="1"/>
            <p:nvPr/>
          </p:nvSpPr>
          <p:spPr>
            <a:xfrm>
              <a:off x="3086623" y="3438289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F8F07D2-D9C1-CF5E-78F8-1C91508DE7DC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4" y="1094633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691AFD-9D5E-B320-808E-D0C20CEB8E5E}"/>
                </a:ext>
              </a:extLst>
            </p:cNvPr>
            <p:cNvCxnSpPr>
              <a:cxnSpLocks/>
            </p:cNvCxnSpPr>
            <p:nvPr/>
          </p:nvCxnSpPr>
          <p:spPr>
            <a:xfrm>
              <a:off x="3065277" y="3469341"/>
              <a:ext cx="0" cy="387837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CF8D04D-0CC6-4008-6CD5-FF82E4CA217B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1393864"/>
              <a:ext cx="0" cy="2496818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 13">
            <a:extLst>
              <a:ext uri="{FF2B5EF4-FFF2-40B4-BE49-F238E27FC236}">
                <a16:creationId xmlns:a16="http://schemas.microsoft.com/office/drawing/2014/main" id="{203A6094-A32E-18DD-9CA8-DA4550B7D364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918436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B5B2-3426-78A6-C251-4982E9458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A9C69630-CAD4-C605-8ABD-BC796E071022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CAGE and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polyA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support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83690-8D85-EB17-EE51-388FB783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24</a:t>
            </a:fld>
            <a:endParaRPr lang="en-E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8B246F-1E94-B845-F880-FB0318B84B50}"/>
              </a:ext>
            </a:extLst>
          </p:cNvPr>
          <p:cNvGrpSpPr/>
          <p:nvPr/>
        </p:nvGrpSpPr>
        <p:grpSpPr>
          <a:xfrm>
            <a:off x="375603" y="1052942"/>
            <a:ext cx="8704564" cy="3258708"/>
            <a:chOff x="312055" y="989056"/>
            <a:chExt cx="8574197" cy="3209903"/>
          </a:xfrm>
        </p:grpSpPr>
        <p:pic>
          <p:nvPicPr>
            <p:cNvPr id="3" name="Imagen 75">
              <a:extLst>
                <a:ext uri="{FF2B5EF4-FFF2-40B4-BE49-F238E27FC236}">
                  <a16:creationId xmlns:a16="http://schemas.microsoft.com/office/drawing/2014/main" id="{ED7D0C53-BEC4-A3A4-5698-9F690F7DFE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27169" b="2573"/>
            <a:stretch/>
          </p:blipFill>
          <p:spPr>
            <a:xfrm>
              <a:off x="1530349" y="989056"/>
              <a:ext cx="6379119" cy="32099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5611AA-19A7-E7BE-1A08-E3AA17BEEC03}"/>
                </a:ext>
              </a:extLst>
            </p:cNvPr>
            <p:cNvSpPr txBox="1"/>
            <p:nvPr/>
          </p:nvSpPr>
          <p:spPr>
            <a:xfrm>
              <a:off x="7918013" y="1094633"/>
              <a:ext cx="968239" cy="295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350" dirty="0">
                  <a:solidFill>
                    <a:schemeClr val="tx2">
                      <a:lumMod val="50000"/>
                    </a:schemeClr>
                  </a:solidFill>
                </a:rPr>
                <a:t>Reference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E4B7CAC-4A69-6961-BA6D-C8925DCE0A40}"/>
                </a:ext>
              </a:extLst>
            </p:cNvPr>
            <p:cNvSpPr/>
            <p:nvPr/>
          </p:nvSpPr>
          <p:spPr>
            <a:xfrm>
              <a:off x="7210176" y="3113816"/>
              <a:ext cx="707837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9598CD0-D647-099B-051C-E951F5344F57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2703245"/>
              <a:ext cx="17776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D875A4-C829-6D69-785B-C41F9002542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210176" y="3252316"/>
              <a:ext cx="707837" cy="60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CDCE6E-9378-1603-7A77-9EF8A5DCDB87}"/>
                </a:ext>
              </a:extLst>
            </p:cNvPr>
            <p:cNvCxnSpPr>
              <a:cxnSpLocks/>
            </p:cNvCxnSpPr>
            <p:nvPr/>
          </p:nvCxnSpPr>
          <p:spPr>
            <a:xfrm>
              <a:off x="7905194" y="1263910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618C60-8F32-A818-B431-40352D5C9220}"/>
                </a:ext>
              </a:extLst>
            </p:cNvPr>
            <p:cNvSpPr txBox="1"/>
            <p:nvPr/>
          </p:nvSpPr>
          <p:spPr>
            <a:xfrm>
              <a:off x="2279541" y="250326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E2D1B3-87E3-F505-79DE-1FEADC5225DD}"/>
                </a:ext>
              </a:extLst>
            </p:cNvPr>
            <p:cNvSpPr txBox="1"/>
            <p:nvPr/>
          </p:nvSpPr>
          <p:spPr>
            <a:xfrm>
              <a:off x="7447929" y="304412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A159671-F192-E384-1903-5FCB5E239CB6}"/>
                </a:ext>
              </a:extLst>
            </p:cNvPr>
            <p:cNvSpPr/>
            <p:nvPr/>
          </p:nvSpPr>
          <p:spPr>
            <a:xfrm>
              <a:off x="1453550" y="3704605"/>
              <a:ext cx="433582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53023D0-B052-F15B-8B5C-FCCF28AB8A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757" y="3857178"/>
              <a:ext cx="39219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4ED7DC-CD8D-25E4-13AF-12D1F4B824BF}"/>
                </a:ext>
              </a:extLst>
            </p:cNvPr>
            <p:cNvSpPr txBox="1"/>
            <p:nvPr/>
          </p:nvSpPr>
          <p:spPr>
            <a:xfrm>
              <a:off x="1614706" y="3657447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5F13F1-008C-9F41-C10A-1FF503653276}"/>
                </a:ext>
              </a:extLst>
            </p:cNvPr>
            <p:cNvSpPr txBox="1"/>
            <p:nvPr/>
          </p:nvSpPr>
          <p:spPr>
            <a:xfrm>
              <a:off x="312055" y="1393864"/>
              <a:ext cx="1157719" cy="10004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TSS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TTS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Splice site diff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CAGE support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PolyA support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44EDC8B-4F7D-3759-9D3E-69E0F06EC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5277" y="3657447"/>
              <a:ext cx="2373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D2E5F-8FA1-7BCA-55E1-C02482DFE443}"/>
                </a:ext>
              </a:extLst>
            </p:cNvPr>
            <p:cNvSpPr txBox="1"/>
            <p:nvPr/>
          </p:nvSpPr>
          <p:spPr>
            <a:xfrm>
              <a:off x="3086623" y="3438289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1B9898-72ED-FA44-D05C-22B629CD7798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4" y="1094633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D2026F-061D-B13E-A48F-C2AC812E10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277" y="3469341"/>
              <a:ext cx="0" cy="387837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D1DAC01-F0C6-41A4-7C51-69593DAE66B8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1393864"/>
              <a:ext cx="0" cy="2496818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riangle 3">
            <a:extLst>
              <a:ext uri="{FF2B5EF4-FFF2-40B4-BE49-F238E27FC236}">
                <a16:creationId xmlns:a16="http://schemas.microsoft.com/office/drawing/2014/main" id="{87C254CC-2B97-17B1-8D13-0EA80479FD03}"/>
              </a:ext>
            </a:extLst>
          </p:cNvPr>
          <p:cNvSpPr/>
          <p:nvPr/>
        </p:nvSpPr>
        <p:spPr>
          <a:xfrm>
            <a:off x="1612420" y="1024613"/>
            <a:ext cx="119500" cy="155654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03732B59-6EC0-AF97-A4DF-76FD814964E4}"/>
              </a:ext>
            </a:extLst>
          </p:cNvPr>
          <p:cNvSpPr/>
          <p:nvPr/>
        </p:nvSpPr>
        <p:spPr>
          <a:xfrm>
            <a:off x="1921204" y="1024613"/>
            <a:ext cx="119500" cy="155654"/>
          </a:xfrm>
          <a:prstGeom prst="triangl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0406F4-21DB-DC31-B41B-B98B0118752A}"/>
              </a:ext>
            </a:extLst>
          </p:cNvPr>
          <p:cNvSpPr/>
          <p:nvPr/>
        </p:nvSpPr>
        <p:spPr>
          <a:xfrm>
            <a:off x="1623268" y="1185004"/>
            <a:ext cx="96650" cy="2924132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714755-71CF-DAF1-03DD-79A0A338927C}"/>
              </a:ext>
            </a:extLst>
          </p:cNvPr>
          <p:cNvSpPr/>
          <p:nvPr/>
        </p:nvSpPr>
        <p:spPr>
          <a:xfrm>
            <a:off x="1933225" y="1190018"/>
            <a:ext cx="96650" cy="2918951"/>
          </a:xfrm>
          <a:prstGeom prst="rect">
            <a:avLst/>
          </a:prstGeom>
          <a:solidFill>
            <a:srgbClr val="C00000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pic>
        <p:nvPicPr>
          <p:cNvPr id="26" name="Imagen 19">
            <a:extLst>
              <a:ext uri="{FF2B5EF4-FFF2-40B4-BE49-F238E27FC236}">
                <a16:creationId xmlns:a16="http://schemas.microsoft.com/office/drawing/2014/main" id="{35CD10B7-BE18-6804-FE00-81DEA9D5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365" y="1051486"/>
            <a:ext cx="394893" cy="108638"/>
          </a:xfrm>
          <a:prstGeom prst="rect">
            <a:avLst/>
          </a:prstGeom>
        </p:spPr>
      </p:pic>
      <p:sp>
        <p:nvSpPr>
          <p:cNvPr id="27" name="CuadroTexto 134">
            <a:extLst>
              <a:ext uri="{FF2B5EF4-FFF2-40B4-BE49-F238E27FC236}">
                <a16:creationId xmlns:a16="http://schemas.microsoft.com/office/drawing/2014/main" id="{D961442F-F9B1-5A8F-9A5A-CBD128EC770A}"/>
              </a:ext>
            </a:extLst>
          </p:cNvPr>
          <p:cNvSpPr txBox="1"/>
          <p:nvPr/>
        </p:nvSpPr>
        <p:spPr>
          <a:xfrm>
            <a:off x="7615157" y="791329"/>
            <a:ext cx="938070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25" dirty="0" err="1">
                <a:solidFill>
                  <a:srgbClr val="C00000"/>
                </a:solidFill>
                <a:latin typeface="Calibri"/>
                <a:cs typeface="Calibri"/>
              </a:rPr>
              <a:t>polyA</a:t>
            </a:r>
            <a:r>
              <a:rPr lang="es-ES" sz="1125" dirty="0">
                <a:solidFill>
                  <a:srgbClr val="C00000"/>
                </a:solidFill>
                <a:latin typeface="Calibri"/>
                <a:cs typeface="Calibri"/>
              </a:rPr>
              <a:t> sites</a:t>
            </a:r>
          </a:p>
        </p:txBody>
      </p:sp>
      <p:pic>
        <p:nvPicPr>
          <p:cNvPr id="28" name="Imagen 19">
            <a:extLst>
              <a:ext uri="{FF2B5EF4-FFF2-40B4-BE49-F238E27FC236}">
                <a16:creationId xmlns:a16="http://schemas.microsoft.com/office/drawing/2014/main" id="{65D10353-3825-539D-F0E1-1EC1C9831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886" y="1034590"/>
            <a:ext cx="394893" cy="108638"/>
          </a:xfrm>
          <a:prstGeom prst="rect">
            <a:avLst/>
          </a:prstGeom>
        </p:spPr>
      </p:pic>
      <p:sp>
        <p:nvSpPr>
          <p:cNvPr id="29" name="Text 13">
            <a:extLst>
              <a:ext uri="{FF2B5EF4-FFF2-40B4-BE49-F238E27FC236}">
                <a16:creationId xmlns:a16="http://schemas.microsoft.com/office/drawing/2014/main" id="{405E513B-524F-EC92-800B-87E522A9004C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6299024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B91A-DAE6-6F7B-1812-AB06C9C5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A3AC578-69F2-445F-E73E-DE1938880D39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Short reads and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lrRNA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-seq support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24F9D-E7B6-E6BD-ABB4-F188D8E2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25</a:t>
            </a:fld>
            <a:endParaRPr lang="en-E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35869A-3A59-059B-513B-68C5A90DD940}"/>
              </a:ext>
            </a:extLst>
          </p:cNvPr>
          <p:cNvGrpSpPr/>
          <p:nvPr/>
        </p:nvGrpSpPr>
        <p:grpSpPr>
          <a:xfrm>
            <a:off x="375603" y="1052942"/>
            <a:ext cx="8704564" cy="3258708"/>
            <a:chOff x="312055" y="989056"/>
            <a:chExt cx="8574197" cy="3209903"/>
          </a:xfrm>
        </p:grpSpPr>
        <p:pic>
          <p:nvPicPr>
            <p:cNvPr id="3" name="Imagen 75">
              <a:extLst>
                <a:ext uri="{FF2B5EF4-FFF2-40B4-BE49-F238E27FC236}">
                  <a16:creationId xmlns:a16="http://schemas.microsoft.com/office/drawing/2014/main" id="{D48B2474-0096-D91E-B924-9023B5C545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27169" b="2573"/>
            <a:stretch/>
          </p:blipFill>
          <p:spPr>
            <a:xfrm>
              <a:off x="1530349" y="989056"/>
              <a:ext cx="6379119" cy="32099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DB938A-25DD-A73D-C3E6-642BFF1CAF06}"/>
                </a:ext>
              </a:extLst>
            </p:cNvPr>
            <p:cNvSpPr txBox="1"/>
            <p:nvPr/>
          </p:nvSpPr>
          <p:spPr>
            <a:xfrm>
              <a:off x="7918013" y="1094633"/>
              <a:ext cx="968239" cy="295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350" dirty="0">
                  <a:solidFill>
                    <a:schemeClr val="tx2">
                      <a:lumMod val="50000"/>
                    </a:schemeClr>
                  </a:solidFill>
                </a:rPr>
                <a:t>Reference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BE086AD-C80B-B98F-7138-6F2EC9423ADD}"/>
                </a:ext>
              </a:extLst>
            </p:cNvPr>
            <p:cNvSpPr/>
            <p:nvPr/>
          </p:nvSpPr>
          <p:spPr>
            <a:xfrm>
              <a:off x="7210176" y="3113816"/>
              <a:ext cx="707837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30B03AC-1FE5-04A4-13CA-88A230950A24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2703245"/>
              <a:ext cx="17776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F12973-2EF0-9953-3878-569F1E367547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210176" y="3252316"/>
              <a:ext cx="707837" cy="60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786078D-1C7B-2FDB-1E17-074E7EC73B11}"/>
                </a:ext>
              </a:extLst>
            </p:cNvPr>
            <p:cNvCxnSpPr>
              <a:cxnSpLocks/>
            </p:cNvCxnSpPr>
            <p:nvPr/>
          </p:nvCxnSpPr>
          <p:spPr>
            <a:xfrm>
              <a:off x="7905194" y="1263910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2EF15F-20A5-FD44-DEAC-479A78C48F91}"/>
                </a:ext>
              </a:extLst>
            </p:cNvPr>
            <p:cNvSpPr txBox="1"/>
            <p:nvPr/>
          </p:nvSpPr>
          <p:spPr>
            <a:xfrm>
              <a:off x="2279541" y="250326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917417-0AEF-4587-7755-6A8271162649}"/>
                </a:ext>
              </a:extLst>
            </p:cNvPr>
            <p:cNvSpPr txBox="1"/>
            <p:nvPr/>
          </p:nvSpPr>
          <p:spPr>
            <a:xfrm>
              <a:off x="7447929" y="304412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4A74625-3893-1EFC-4D7B-5C9382F9DABE}"/>
                </a:ext>
              </a:extLst>
            </p:cNvPr>
            <p:cNvSpPr/>
            <p:nvPr/>
          </p:nvSpPr>
          <p:spPr>
            <a:xfrm>
              <a:off x="1453550" y="3704605"/>
              <a:ext cx="433582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9B330D-DB5B-10B8-0653-966C5171F1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757" y="3857178"/>
              <a:ext cx="39219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6A4C83-EEA9-51AA-7EA4-F4B185D6A57C}"/>
                </a:ext>
              </a:extLst>
            </p:cNvPr>
            <p:cNvSpPr txBox="1"/>
            <p:nvPr/>
          </p:nvSpPr>
          <p:spPr>
            <a:xfrm>
              <a:off x="1614706" y="3657447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8CEDD0-40B1-7C5A-D8BE-67ABAD701E38}"/>
                </a:ext>
              </a:extLst>
            </p:cNvPr>
            <p:cNvSpPr txBox="1"/>
            <p:nvPr/>
          </p:nvSpPr>
          <p:spPr>
            <a:xfrm>
              <a:off x="312055" y="1393864"/>
              <a:ext cx="1215700" cy="19099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TSS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TTS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Splice site diff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CAGE support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PolyA support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 junctions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TSS ratio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SR expression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FL expression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Fractional expr.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C112BC-DEE0-0822-5358-66F627AE98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5277" y="3657447"/>
              <a:ext cx="2373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8AED4C7-5B93-7AAA-193B-6E7D5BE6B517}"/>
                </a:ext>
              </a:extLst>
            </p:cNvPr>
            <p:cNvSpPr txBox="1"/>
            <p:nvPr/>
          </p:nvSpPr>
          <p:spPr>
            <a:xfrm>
              <a:off x="3086623" y="3438289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1A9ECD0-718F-2B0A-B4EB-DCE5E4E18671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4" y="1094633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71EDF9C-BFE0-A769-C5B3-B3E7E208B4F3}"/>
                </a:ext>
              </a:extLst>
            </p:cNvPr>
            <p:cNvCxnSpPr>
              <a:cxnSpLocks/>
            </p:cNvCxnSpPr>
            <p:nvPr/>
          </p:nvCxnSpPr>
          <p:spPr>
            <a:xfrm>
              <a:off x="3065277" y="3469341"/>
              <a:ext cx="0" cy="387837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36C355D-ADF2-C2F7-A253-605C209F90B9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1393864"/>
              <a:ext cx="0" cy="2496818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riangle 3">
            <a:extLst>
              <a:ext uri="{FF2B5EF4-FFF2-40B4-BE49-F238E27FC236}">
                <a16:creationId xmlns:a16="http://schemas.microsoft.com/office/drawing/2014/main" id="{CA52BB7B-1D11-CF43-9041-61338B541E55}"/>
              </a:ext>
            </a:extLst>
          </p:cNvPr>
          <p:cNvSpPr/>
          <p:nvPr/>
        </p:nvSpPr>
        <p:spPr>
          <a:xfrm>
            <a:off x="1612420" y="1024613"/>
            <a:ext cx="119500" cy="155654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AFAF0CE9-92C9-0A45-59DA-CA8DC0F86057}"/>
              </a:ext>
            </a:extLst>
          </p:cNvPr>
          <p:cNvSpPr/>
          <p:nvPr/>
        </p:nvSpPr>
        <p:spPr>
          <a:xfrm>
            <a:off x="1921204" y="1024613"/>
            <a:ext cx="119500" cy="155654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79FC66-0B5F-7664-DA75-4D63A796C8A5}"/>
              </a:ext>
            </a:extLst>
          </p:cNvPr>
          <p:cNvSpPr/>
          <p:nvPr/>
        </p:nvSpPr>
        <p:spPr>
          <a:xfrm>
            <a:off x="1623268" y="1185004"/>
            <a:ext cx="96650" cy="2924132"/>
          </a:xfrm>
          <a:prstGeom prst="rect">
            <a:avLst/>
          </a:prstGeom>
          <a:solidFill>
            <a:schemeClr val="bg2">
              <a:lumMod val="5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B2D104-0F32-2ECA-F1D9-A461387F9544}"/>
              </a:ext>
            </a:extLst>
          </p:cNvPr>
          <p:cNvSpPr/>
          <p:nvPr/>
        </p:nvSpPr>
        <p:spPr>
          <a:xfrm>
            <a:off x="1933225" y="1190018"/>
            <a:ext cx="96650" cy="2918951"/>
          </a:xfrm>
          <a:prstGeom prst="rect">
            <a:avLst/>
          </a:prstGeom>
          <a:solidFill>
            <a:schemeClr val="bg2">
              <a:lumMod val="5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pic>
        <p:nvPicPr>
          <p:cNvPr id="26" name="Imagen 19">
            <a:extLst>
              <a:ext uri="{FF2B5EF4-FFF2-40B4-BE49-F238E27FC236}">
                <a16:creationId xmlns:a16="http://schemas.microsoft.com/office/drawing/2014/main" id="{BFA1086C-3A78-64EC-1EE8-D38DE5149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365" y="1051486"/>
            <a:ext cx="394893" cy="108638"/>
          </a:xfrm>
          <a:prstGeom prst="rect">
            <a:avLst/>
          </a:prstGeom>
        </p:spPr>
      </p:pic>
      <p:sp>
        <p:nvSpPr>
          <p:cNvPr id="27" name="CuadroTexto 134">
            <a:extLst>
              <a:ext uri="{FF2B5EF4-FFF2-40B4-BE49-F238E27FC236}">
                <a16:creationId xmlns:a16="http://schemas.microsoft.com/office/drawing/2014/main" id="{F8066478-4772-C9C2-EB6E-71FDB6EDE2B3}"/>
              </a:ext>
            </a:extLst>
          </p:cNvPr>
          <p:cNvSpPr txBox="1"/>
          <p:nvPr/>
        </p:nvSpPr>
        <p:spPr>
          <a:xfrm>
            <a:off x="7615157" y="791329"/>
            <a:ext cx="938070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25" dirty="0" err="1">
                <a:latin typeface="Calibri"/>
                <a:cs typeface="Calibri"/>
              </a:rPr>
              <a:t>polyA</a:t>
            </a:r>
            <a:r>
              <a:rPr lang="es-ES" sz="1125" dirty="0">
                <a:latin typeface="Calibri"/>
                <a:cs typeface="Calibri"/>
              </a:rPr>
              <a:t> sites</a:t>
            </a:r>
          </a:p>
        </p:txBody>
      </p:sp>
      <p:pic>
        <p:nvPicPr>
          <p:cNvPr id="28" name="Imagen 19">
            <a:extLst>
              <a:ext uri="{FF2B5EF4-FFF2-40B4-BE49-F238E27FC236}">
                <a16:creationId xmlns:a16="http://schemas.microsoft.com/office/drawing/2014/main" id="{5C1D5C4F-7C54-5C84-4499-5BC0C8651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886" y="1034590"/>
            <a:ext cx="394893" cy="10863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F5A0D3F-71AA-918A-0CA6-9CB6E7B7026D}"/>
              </a:ext>
            </a:extLst>
          </p:cNvPr>
          <p:cNvCxnSpPr>
            <a:cxnSpLocks/>
          </p:cNvCxnSpPr>
          <p:nvPr/>
        </p:nvCxnSpPr>
        <p:spPr>
          <a:xfrm>
            <a:off x="1974628" y="37617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23EAD52-0D2C-B8E6-90CF-2B1C0F69A26F}"/>
              </a:ext>
            </a:extLst>
          </p:cNvPr>
          <p:cNvCxnSpPr>
            <a:cxnSpLocks/>
          </p:cNvCxnSpPr>
          <p:nvPr/>
        </p:nvCxnSpPr>
        <p:spPr>
          <a:xfrm>
            <a:off x="1974628" y="3723483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9BB961-0769-8083-C9C8-34BBC6AECA44}"/>
              </a:ext>
            </a:extLst>
          </p:cNvPr>
          <p:cNvCxnSpPr>
            <a:cxnSpLocks/>
          </p:cNvCxnSpPr>
          <p:nvPr/>
        </p:nvCxnSpPr>
        <p:spPr>
          <a:xfrm>
            <a:off x="1974628" y="36965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CA2E8BF-8054-C6C2-E253-196954EB86BD}"/>
              </a:ext>
            </a:extLst>
          </p:cNvPr>
          <p:cNvCxnSpPr>
            <a:cxnSpLocks/>
          </p:cNvCxnSpPr>
          <p:nvPr/>
        </p:nvCxnSpPr>
        <p:spPr>
          <a:xfrm>
            <a:off x="1974628" y="3662970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74DEC50-FAF8-DDAD-C795-2F2E69F862B2}"/>
              </a:ext>
            </a:extLst>
          </p:cNvPr>
          <p:cNvCxnSpPr>
            <a:cxnSpLocks/>
          </p:cNvCxnSpPr>
          <p:nvPr/>
        </p:nvCxnSpPr>
        <p:spPr>
          <a:xfrm>
            <a:off x="1538708" y="37617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E6030C3-D075-4E4B-9E0B-7A62A046F959}"/>
              </a:ext>
            </a:extLst>
          </p:cNvPr>
          <p:cNvCxnSpPr>
            <a:cxnSpLocks/>
          </p:cNvCxnSpPr>
          <p:nvPr/>
        </p:nvCxnSpPr>
        <p:spPr>
          <a:xfrm>
            <a:off x="5076528" y="1067796"/>
            <a:ext cx="1167862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2E20AD-8C41-0913-4D91-3A16725471A8}"/>
              </a:ext>
            </a:extLst>
          </p:cNvPr>
          <p:cNvCxnSpPr>
            <a:cxnSpLocks/>
          </p:cNvCxnSpPr>
          <p:nvPr/>
        </p:nvCxnSpPr>
        <p:spPr>
          <a:xfrm>
            <a:off x="5959176" y="1067796"/>
            <a:ext cx="349207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1D262EB-7F57-52DC-BD6F-EF28A155BC50}"/>
              </a:ext>
            </a:extLst>
          </p:cNvPr>
          <p:cNvCxnSpPr>
            <a:cxnSpLocks/>
          </p:cNvCxnSpPr>
          <p:nvPr/>
        </p:nvCxnSpPr>
        <p:spPr>
          <a:xfrm>
            <a:off x="4934823" y="1067796"/>
            <a:ext cx="377070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90577A2-3F87-4B05-CE3D-EE5B90B29FD7}"/>
              </a:ext>
            </a:extLst>
          </p:cNvPr>
          <p:cNvCxnSpPr>
            <a:cxnSpLocks/>
          </p:cNvCxnSpPr>
          <p:nvPr/>
        </p:nvCxnSpPr>
        <p:spPr>
          <a:xfrm>
            <a:off x="4972009" y="948917"/>
            <a:ext cx="1134017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1A673BD-AA67-0AEC-3F57-EFE3FC6175BB}"/>
              </a:ext>
            </a:extLst>
          </p:cNvPr>
          <p:cNvCxnSpPr>
            <a:cxnSpLocks/>
          </p:cNvCxnSpPr>
          <p:nvPr/>
        </p:nvCxnSpPr>
        <p:spPr>
          <a:xfrm>
            <a:off x="5959177" y="948917"/>
            <a:ext cx="205265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A8785F7-90C6-1396-F39F-A305A4E9AB7C}"/>
              </a:ext>
            </a:extLst>
          </p:cNvPr>
          <p:cNvCxnSpPr>
            <a:cxnSpLocks/>
          </p:cNvCxnSpPr>
          <p:nvPr/>
        </p:nvCxnSpPr>
        <p:spPr>
          <a:xfrm>
            <a:off x="4818745" y="948917"/>
            <a:ext cx="493148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2ED0D3F-E280-C013-7A29-853DC5354154}"/>
              </a:ext>
            </a:extLst>
          </p:cNvPr>
          <p:cNvCxnSpPr>
            <a:cxnSpLocks/>
          </p:cNvCxnSpPr>
          <p:nvPr/>
        </p:nvCxnSpPr>
        <p:spPr>
          <a:xfrm>
            <a:off x="5362898" y="818403"/>
            <a:ext cx="945485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8A0301-F697-5F55-E287-A9292E175BA9}"/>
              </a:ext>
            </a:extLst>
          </p:cNvPr>
          <p:cNvCxnSpPr>
            <a:cxnSpLocks/>
          </p:cNvCxnSpPr>
          <p:nvPr/>
        </p:nvCxnSpPr>
        <p:spPr>
          <a:xfrm>
            <a:off x="5959176" y="818403"/>
            <a:ext cx="534385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A16317-356C-B1F7-B851-19C69A99ED9C}"/>
              </a:ext>
            </a:extLst>
          </p:cNvPr>
          <p:cNvCxnSpPr>
            <a:cxnSpLocks/>
          </p:cNvCxnSpPr>
          <p:nvPr/>
        </p:nvCxnSpPr>
        <p:spPr>
          <a:xfrm>
            <a:off x="5147865" y="818403"/>
            <a:ext cx="164029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13">
            <a:extLst>
              <a:ext uri="{FF2B5EF4-FFF2-40B4-BE49-F238E27FC236}">
                <a16:creationId xmlns:a16="http://schemas.microsoft.com/office/drawing/2014/main" id="{CB2CCE33-FD9C-45FA-99D3-120772408EE2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616834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7330-E613-E022-14A5-C2EFBB55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2FA0B981-2537-773A-7092-B737251D24AE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Canonical junction,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intraprimming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RT-switching </a:t>
            </a:r>
            <a:r>
              <a:rPr lang="en-US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etc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048E0F-C08A-9772-F15A-116CF590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26</a:t>
            </a:fld>
            <a:endParaRPr lang="en-E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46EB7F9-EE7E-474E-AAB2-0B2CAE3F5B0D}"/>
              </a:ext>
            </a:extLst>
          </p:cNvPr>
          <p:cNvGrpSpPr/>
          <p:nvPr/>
        </p:nvGrpSpPr>
        <p:grpSpPr>
          <a:xfrm>
            <a:off x="375603" y="1052942"/>
            <a:ext cx="8704564" cy="3457951"/>
            <a:chOff x="312055" y="989056"/>
            <a:chExt cx="8574197" cy="3406162"/>
          </a:xfrm>
        </p:grpSpPr>
        <p:pic>
          <p:nvPicPr>
            <p:cNvPr id="3" name="Imagen 75">
              <a:extLst>
                <a:ext uri="{FF2B5EF4-FFF2-40B4-BE49-F238E27FC236}">
                  <a16:creationId xmlns:a16="http://schemas.microsoft.com/office/drawing/2014/main" id="{598C5CF8-A124-B62A-7FB8-20C4B1418F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" r="27169" b="2573"/>
            <a:stretch/>
          </p:blipFill>
          <p:spPr>
            <a:xfrm>
              <a:off x="1530349" y="989056"/>
              <a:ext cx="6379119" cy="320990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3541FFD-FEA5-CA54-5374-E0C6569126A6}"/>
                </a:ext>
              </a:extLst>
            </p:cNvPr>
            <p:cNvSpPr txBox="1"/>
            <p:nvPr/>
          </p:nvSpPr>
          <p:spPr>
            <a:xfrm>
              <a:off x="7918013" y="1094633"/>
              <a:ext cx="968239" cy="2955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ES" sz="1350" dirty="0">
                  <a:solidFill>
                    <a:schemeClr val="tx2">
                      <a:lumMod val="50000"/>
                    </a:schemeClr>
                  </a:solidFill>
                </a:rPr>
                <a:t>Reference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AC78FA4-3AC4-7E44-2722-8E098FB7D951}"/>
                </a:ext>
              </a:extLst>
            </p:cNvPr>
            <p:cNvSpPr/>
            <p:nvPr/>
          </p:nvSpPr>
          <p:spPr>
            <a:xfrm>
              <a:off x="7210176" y="3113816"/>
              <a:ext cx="707837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420BF96-20D3-5DC6-4E66-7C42DD225CBA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2703245"/>
              <a:ext cx="177762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73F6762-1F77-D68A-5101-E4879C2032B2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7210176" y="3252316"/>
              <a:ext cx="707837" cy="601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F75C401-EA02-F634-315B-2CB2862FC372}"/>
                </a:ext>
              </a:extLst>
            </p:cNvPr>
            <p:cNvCxnSpPr>
              <a:cxnSpLocks/>
            </p:cNvCxnSpPr>
            <p:nvPr/>
          </p:nvCxnSpPr>
          <p:spPr>
            <a:xfrm>
              <a:off x="7905194" y="1263910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C01583-B8A6-E83F-8EA5-18204A19CACD}"/>
                </a:ext>
              </a:extLst>
            </p:cNvPr>
            <p:cNvSpPr txBox="1"/>
            <p:nvPr/>
          </p:nvSpPr>
          <p:spPr>
            <a:xfrm>
              <a:off x="2279541" y="250326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FE11333-F6DA-104E-24D4-89DC1BCBE360}"/>
                </a:ext>
              </a:extLst>
            </p:cNvPr>
            <p:cNvSpPr txBox="1"/>
            <p:nvPr/>
          </p:nvSpPr>
          <p:spPr>
            <a:xfrm>
              <a:off x="7447929" y="3044120"/>
              <a:ext cx="245060" cy="227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63DDBFA-CEFF-1CA6-8ACF-136DCEE9CBB0}"/>
                </a:ext>
              </a:extLst>
            </p:cNvPr>
            <p:cNvSpPr/>
            <p:nvPr/>
          </p:nvSpPr>
          <p:spPr>
            <a:xfrm>
              <a:off x="1453550" y="3704605"/>
              <a:ext cx="433582" cy="2769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9476D9-EEE9-C7BC-DAB8-2CD075BFE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1757" y="3857178"/>
              <a:ext cx="39219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5FC423-5960-0D87-A6EB-7664C1690F79}"/>
                </a:ext>
              </a:extLst>
            </p:cNvPr>
            <p:cNvSpPr txBox="1"/>
            <p:nvPr/>
          </p:nvSpPr>
          <p:spPr>
            <a:xfrm>
              <a:off x="1614706" y="3657447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63927B-2ECF-FC06-F036-C4EE2924D20B}"/>
                </a:ext>
              </a:extLst>
            </p:cNvPr>
            <p:cNvSpPr txBox="1"/>
            <p:nvPr/>
          </p:nvSpPr>
          <p:spPr>
            <a:xfrm>
              <a:off x="312055" y="1393864"/>
              <a:ext cx="1255617" cy="30013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TSS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TTS </a:t>
              </a:r>
              <a:r>
                <a:rPr lang="en-US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dist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Splice site diff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CAGE support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PolyA support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SR junctions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TSS ratio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SR expression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FL expression</a:t>
              </a:r>
            </a:p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Fractional expr.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Canonical </a:t>
              </a:r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junct</a:t>
              </a:r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Donor type</a:t>
              </a: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Acceptor type</a:t>
              </a:r>
            </a:p>
            <a:p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Intraprimming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12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RT-switching</a:t>
              </a:r>
            </a:p>
            <a:p>
              <a:r>
                <a:rPr lang="en-US" sz="1200" dirty="0" err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etc</a:t>
              </a:r>
              <a:endPara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386272C-9FF8-84AE-C6EC-069E0022A4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5277" y="3657447"/>
              <a:ext cx="23737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7F127C-865D-EC2E-1621-253A949855EA}"/>
                </a:ext>
              </a:extLst>
            </p:cNvPr>
            <p:cNvSpPr txBox="1"/>
            <p:nvPr/>
          </p:nvSpPr>
          <p:spPr>
            <a:xfrm>
              <a:off x="3086623" y="3438289"/>
              <a:ext cx="279244" cy="227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444B696-35C1-C05F-FCBA-93286BBFBBE0}"/>
                </a:ext>
              </a:extLst>
            </p:cNvPr>
            <p:cNvCxnSpPr>
              <a:cxnSpLocks/>
            </p:cNvCxnSpPr>
            <p:nvPr/>
          </p:nvCxnSpPr>
          <p:spPr>
            <a:xfrm>
              <a:off x="3284894" y="1094633"/>
              <a:ext cx="0" cy="2626772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654471-2988-2CD5-F9CC-9F0C2FF4AB95}"/>
                </a:ext>
              </a:extLst>
            </p:cNvPr>
            <p:cNvCxnSpPr>
              <a:cxnSpLocks/>
            </p:cNvCxnSpPr>
            <p:nvPr/>
          </p:nvCxnSpPr>
          <p:spPr>
            <a:xfrm>
              <a:off x="3065277" y="3469341"/>
              <a:ext cx="0" cy="387837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EEC71B5-081C-5F92-066D-33917D870C63}"/>
                </a:ext>
              </a:extLst>
            </p:cNvPr>
            <p:cNvCxnSpPr>
              <a:cxnSpLocks/>
            </p:cNvCxnSpPr>
            <p:nvPr/>
          </p:nvCxnSpPr>
          <p:spPr>
            <a:xfrm>
              <a:off x="1530349" y="1393864"/>
              <a:ext cx="0" cy="2496818"/>
            </a:xfrm>
            <a:prstGeom prst="line">
              <a:avLst/>
            </a:prstGeom>
            <a:ln>
              <a:solidFill>
                <a:schemeClr val="tx2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riangle 3">
            <a:extLst>
              <a:ext uri="{FF2B5EF4-FFF2-40B4-BE49-F238E27FC236}">
                <a16:creationId xmlns:a16="http://schemas.microsoft.com/office/drawing/2014/main" id="{CDA5C116-788D-F156-1998-950C6E7AEFFD}"/>
              </a:ext>
            </a:extLst>
          </p:cNvPr>
          <p:cNvSpPr/>
          <p:nvPr/>
        </p:nvSpPr>
        <p:spPr>
          <a:xfrm>
            <a:off x="1612420" y="1024613"/>
            <a:ext cx="119500" cy="155654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5" name="Triangle 4">
            <a:extLst>
              <a:ext uri="{FF2B5EF4-FFF2-40B4-BE49-F238E27FC236}">
                <a16:creationId xmlns:a16="http://schemas.microsoft.com/office/drawing/2014/main" id="{5A425FDB-08C8-FF87-9D55-69D220A0DFC9}"/>
              </a:ext>
            </a:extLst>
          </p:cNvPr>
          <p:cNvSpPr/>
          <p:nvPr/>
        </p:nvSpPr>
        <p:spPr>
          <a:xfrm>
            <a:off x="1921204" y="1024613"/>
            <a:ext cx="119500" cy="155654"/>
          </a:xfrm>
          <a:prstGeom prst="triangle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B6D408-442A-890C-34EE-6FDFC896B12D}"/>
              </a:ext>
            </a:extLst>
          </p:cNvPr>
          <p:cNvSpPr/>
          <p:nvPr/>
        </p:nvSpPr>
        <p:spPr>
          <a:xfrm>
            <a:off x="1623268" y="1185004"/>
            <a:ext cx="96650" cy="2924132"/>
          </a:xfrm>
          <a:prstGeom prst="rect">
            <a:avLst/>
          </a:prstGeom>
          <a:solidFill>
            <a:schemeClr val="bg2">
              <a:lumMod val="5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A4B303-1E12-6428-D0B3-76841625221F}"/>
              </a:ext>
            </a:extLst>
          </p:cNvPr>
          <p:cNvSpPr/>
          <p:nvPr/>
        </p:nvSpPr>
        <p:spPr>
          <a:xfrm>
            <a:off x="1933225" y="1190018"/>
            <a:ext cx="96650" cy="2918951"/>
          </a:xfrm>
          <a:prstGeom prst="rect">
            <a:avLst/>
          </a:prstGeom>
          <a:solidFill>
            <a:schemeClr val="bg2">
              <a:lumMod val="50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 sz="1350"/>
          </a:p>
        </p:txBody>
      </p:sp>
      <p:pic>
        <p:nvPicPr>
          <p:cNvPr id="26" name="Imagen 19">
            <a:extLst>
              <a:ext uri="{FF2B5EF4-FFF2-40B4-BE49-F238E27FC236}">
                <a16:creationId xmlns:a16="http://schemas.microsoft.com/office/drawing/2014/main" id="{BB81CC2C-B5DF-F852-E157-C87B90607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365" y="1051486"/>
            <a:ext cx="394893" cy="108638"/>
          </a:xfrm>
          <a:prstGeom prst="rect">
            <a:avLst/>
          </a:prstGeom>
        </p:spPr>
      </p:pic>
      <p:sp>
        <p:nvSpPr>
          <p:cNvPr id="27" name="CuadroTexto 134">
            <a:extLst>
              <a:ext uri="{FF2B5EF4-FFF2-40B4-BE49-F238E27FC236}">
                <a16:creationId xmlns:a16="http://schemas.microsoft.com/office/drawing/2014/main" id="{BDA94332-5B78-523D-4860-0F66517C1BD0}"/>
              </a:ext>
            </a:extLst>
          </p:cNvPr>
          <p:cNvSpPr txBox="1"/>
          <p:nvPr/>
        </p:nvSpPr>
        <p:spPr>
          <a:xfrm>
            <a:off x="7615157" y="791329"/>
            <a:ext cx="938070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25" dirty="0" err="1">
                <a:latin typeface="Calibri"/>
                <a:cs typeface="Calibri"/>
              </a:rPr>
              <a:t>polyA</a:t>
            </a:r>
            <a:r>
              <a:rPr lang="es-ES" sz="1125" dirty="0">
                <a:latin typeface="Calibri"/>
                <a:cs typeface="Calibri"/>
              </a:rPr>
              <a:t> sites</a:t>
            </a:r>
          </a:p>
        </p:txBody>
      </p:sp>
      <p:pic>
        <p:nvPicPr>
          <p:cNvPr id="28" name="Imagen 19">
            <a:extLst>
              <a:ext uri="{FF2B5EF4-FFF2-40B4-BE49-F238E27FC236}">
                <a16:creationId xmlns:a16="http://schemas.microsoft.com/office/drawing/2014/main" id="{03AF02CD-7C76-1E28-C028-4CDC41CEA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886" y="1034590"/>
            <a:ext cx="394893" cy="10863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59ADC4-3EF1-7711-A95F-90D59EB3CF66}"/>
              </a:ext>
            </a:extLst>
          </p:cNvPr>
          <p:cNvCxnSpPr>
            <a:cxnSpLocks/>
          </p:cNvCxnSpPr>
          <p:nvPr/>
        </p:nvCxnSpPr>
        <p:spPr>
          <a:xfrm>
            <a:off x="1974628" y="37617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349174-3F09-0E81-15BA-C3D511A4572A}"/>
              </a:ext>
            </a:extLst>
          </p:cNvPr>
          <p:cNvCxnSpPr>
            <a:cxnSpLocks/>
          </p:cNvCxnSpPr>
          <p:nvPr/>
        </p:nvCxnSpPr>
        <p:spPr>
          <a:xfrm>
            <a:off x="1974628" y="3723483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AB0CC1-4D2F-A9E1-5B11-DD03386E9A29}"/>
              </a:ext>
            </a:extLst>
          </p:cNvPr>
          <p:cNvCxnSpPr>
            <a:cxnSpLocks/>
          </p:cNvCxnSpPr>
          <p:nvPr/>
        </p:nvCxnSpPr>
        <p:spPr>
          <a:xfrm>
            <a:off x="1974628" y="36965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D718E5-5753-3E51-C35F-5355D12CCFA5}"/>
              </a:ext>
            </a:extLst>
          </p:cNvPr>
          <p:cNvCxnSpPr>
            <a:cxnSpLocks/>
          </p:cNvCxnSpPr>
          <p:nvPr/>
        </p:nvCxnSpPr>
        <p:spPr>
          <a:xfrm>
            <a:off x="1974628" y="3662970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206ED0D-2628-5D79-5EB2-6D28109DAB01}"/>
              </a:ext>
            </a:extLst>
          </p:cNvPr>
          <p:cNvCxnSpPr>
            <a:cxnSpLocks/>
          </p:cNvCxnSpPr>
          <p:nvPr/>
        </p:nvCxnSpPr>
        <p:spPr>
          <a:xfrm>
            <a:off x="1538708" y="3761789"/>
            <a:ext cx="402626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504CFC3-E995-8987-FD5F-2EF5DE5B669D}"/>
              </a:ext>
            </a:extLst>
          </p:cNvPr>
          <p:cNvCxnSpPr>
            <a:cxnSpLocks/>
          </p:cNvCxnSpPr>
          <p:nvPr/>
        </p:nvCxnSpPr>
        <p:spPr>
          <a:xfrm>
            <a:off x="5076528" y="1067796"/>
            <a:ext cx="1167862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251D042-9E30-A9C7-321B-2896CB41635A}"/>
              </a:ext>
            </a:extLst>
          </p:cNvPr>
          <p:cNvCxnSpPr>
            <a:cxnSpLocks/>
          </p:cNvCxnSpPr>
          <p:nvPr/>
        </p:nvCxnSpPr>
        <p:spPr>
          <a:xfrm>
            <a:off x="5959176" y="1067796"/>
            <a:ext cx="349207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0BB8254-2810-4E01-1B94-C5BB9E9B5997}"/>
              </a:ext>
            </a:extLst>
          </p:cNvPr>
          <p:cNvCxnSpPr>
            <a:cxnSpLocks/>
          </p:cNvCxnSpPr>
          <p:nvPr/>
        </p:nvCxnSpPr>
        <p:spPr>
          <a:xfrm>
            <a:off x="4934823" y="1067796"/>
            <a:ext cx="377070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C83CF1F-EFD2-7088-2772-F00DE287C4DB}"/>
              </a:ext>
            </a:extLst>
          </p:cNvPr>
          <p:cNvCxnSpPr>
            <a:cxnSpLocks/>
          </p:cNvCxnSpPr>
          <p:nvPr/>
        </p:nvCxnSpPr>
        <p:spPr>
          <a:xfrm>
            <a:off x="4972009" y="948917"/>
            <a:ext cx="1134017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278DF4-2FC1-940D-33E9-CA984587D672}"/>
              </a:ext>
            </a:extLst>
          </p:cNvPr>
          <p:cNvCxnSpPr>
            <a:cxnSpLocks/>
          </p:cNvCxnSpPr>
          <p:nvPr/>
        </p:nvCxnSpPr>
        <p:spPr>
          <a:xfrm>
            <a:off x="5959177" y="948917"/>
            <a:ext cx="205265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B241D5-542A-EC13-D965-7AFC4B43EA07}"/>
              </a:ext>
            </a:extLst>
          </p:cNvPr>
          <p:cNvCxnSpPr>
            <a:cxnSpLocks/>
          </p:cNvCxnSpPr>
          <p:nvPr/>
        </p:nvCxnSpPr>
        <p:spPr>
          <a:xfrm>
            <a:off x="4818745" y="948917"/>
            <a:ext cx="493148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56784AA-CCA0-7A67-A090-C331EAD5C5FC}"/>
              </a:ext>
            </a:extLst>
          </p:cNvPr>
          <p:cNvCxnSpPr>
            <a:cxnSpLocks/>
          </p:cNvCxnSpPr>
          <p:nvPr/>
        </p:nvCxnSpPr>
        <p:spPr>
          <a:xfrm>
            <a:off x="5362898" y="818403"/>
            <a:ext cx="945485" cy="0"/>
          </a:xfrm>
          <a:prstGeom prst="line">
            <a:avLst/>
          </a:prstGeom>
          <a:ln w="952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A31A6E4-B9CB-9899-E53A-68CEE2ECCE92}"/>
              </a:ext>
            </a:extLst>
          </p:cNvPr>
          <p:cNvCxnSpPr>
            <a:cxnSpLocks/>
          </p:cNvCxnSpPr>
          <p:nvPr/>
        </p:nvCxnSpPr>
        <p:spPr>
          <a:xfrm>
            <a:off x="5959176" y="818403"/>
            <a:ext cx="534385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B384458-12E9-E8AC-7E84-34AD99FB3153}"/>
              </a:ext>
            </a:extLst>
          </p:cNvPr>
          <p:cNvCxnSpPr>
            <a:cxnSpLocks/>
          </p:cNvCxnSpPr>
          <p:nvPr/>
        </p:nvCxnSpPr>
        <p:spPr>
          <a:xfrm>
            <a:off x="5147865" y="818403"/>
            <a:ext cx="164029" cy="0"/>
          </a:xfrm>
          <a:prstGeom prst="line">
            <a:avLst/>
          </a:prstGeom>
          <a:ln w="25400" cmpd="sng">
            <a:solidFill>
              <a:srgbClr val="7030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3C045A0-5B0C-D39D-CCA7-B037B1E9C668}"/>
              </a:ext>
            </a:extLst>
          </p:cNvPr>
          <p:cNvSpPr txBox="1"/>
          <p:nvPr/>
        </p:nvSpPr>
        <p:spPr>
          <a:xfrm>
            <a:off x="3767719" y="3252842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NN.               NN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347871-9551-EDD7-9B42-82A0DAF1AE18}"/>
              </a:ext>
            </a:extLst>
          </p:cNvPr>
          <p:cNvSpPr txBox="1"/>
          <p:nvPr/>
        </p:nvSpPr>
        <p:spPr>
          <a:xfrm>
            <a:off x="6720424" y="3249110"/>
            <a:ext cx="723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AAAAAAA</a:t>
            </a: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B9E77974-4594-38F4-F23A-9D18361FD720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4102602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9BE4-3826-D5D0-6D28-16B9B810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9D8079F6-F708-D785-E99A-929226AAEF1F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36B4A-1CB2-11A1-1544-3B6F62AE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27</a:t>
            </a:fld>
            <a:endParaRPr lang="en-E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4D3A75-1542-6007-B3CC-65F532C08FCA}"/>
              </a:ext>
            </a:extLst>
          </p:cNvPr>
          <p:cNvGrpSpPr/>
          <p:nvPr/>
        </p:nvGrpSpPr>
        <p:grpSpPr>
          <a:xfrm>
            <a:off x="438631" y="537019"/>
            <a:ext cx="8114717" cy="4263581"/>
            <a:chOff x="584841" y="716026"/>
            <a:chExt cx="7737776" cy="4065531"/>
          </a:xfrm>
        </p:grpSpPr>
        <p:pic>
          <p:nvPicPr>
            <p:cNvPr id="3" name="Picture 2" descr="total_maize_report 2.pdf">
              <a:extLst>
                <a:ext uri="{FF2B5EF4-FFF2-40B4-BE49-F238E27FC236}">
                  <a16:creationId xmlns:a16="http://schemas.microsoft.com/office/drawing/2014/main" id="{6515AC96-3FD6-2C03-13D7-F6311D6B9F8B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3"/>
                <a:srcRect t="6057"/>
                <a:stretch>
                  <a:fillRect/>
                </a:stretch>
              </p:blipFill>
            </mc:Choice>
            <mc:Fallback>
              <p:blipFill>
                <a:blip r:embed="rId4"/>
                <a:srcRect t="6057"/>
                <a:stretch>
                  <a:fillRect/>
                </a:stretch>
              </p:blipFill>
            </mc:Fallback>
          </mc:AlternateContent>
          <p:spPr>
            <a:xfrm>
              <a:off x="615606" y="716026"/>
              <a:ext cx="1367627" cy="12847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" name="Picture 3" descr="total_maize_report 4.pdf">
              <a:extLst>
                <a:ext uri="{FF2B5EF4-FFF2-40B4-BE49-F238E27FC236}">
                  <a16:creationId xmlns:a16="http://schemas.microsoft.com/office/drawing/2014/main" id="{F31A136C-C9E1-EBB0-A332-985A26B21E7F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5"/>
                <a:srcRect t="9085"/>
                <a:stretch>
                  <a:fillRect/>
                </a:stretch>
              </p:blipFill>
            </mc:Choice>
            <mc:Fallback>
              <p:blipFill>
                <a:blip r:embed="rId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703046" y="2088600"/>
              <a:ext cx="1413172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5" name="Picture 4" descr="total_maize_report 5.pdf">
              <a:extLst>
                <a:ext uri="{FF2B5EF4-FFF2-40B4-BE49-F238E27FC236}">
                  <a16:creationId xmlns:a16="http://schemas.microsoft.com/office/drawing/2014/main" id="{1961E06B-F80A-E6A6-8378-5E8027ABFBAA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7"/>
                <a:srcRect t="9085"/>
                <a:stretch>
                  <a:fillRect/>
                </a:stretch>
              </p:blipFill>
            </mc:Choice>
            <mc:Fallback>
              <p:blipFill>
                <a:blip r:embed="rId8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697813" y="716026"/>
              <a:ext cx="1413178" cy="1284787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6" name="Picture 5" descr="total_maize_report 7.pdf">
              <a:extLst>
                <a:ext uri="{FF2B5EF4-FFF2-40B4-BE49-F238E27FC236}">
                  <a16:creationId xmlns:a16="http://schemas.microsoft.com/office/drawing/2014/main" id="{9168F30C-78AE-18E4-58F9-A1A9754790B4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9"/>
                <a:srcRect t="9085"/>
                <a:stretch>
                  <a:fillRect/>
                </a:stretch>
              </p:blipFill>
            </mc:Choice>
            <mc:Fallback>
              <p:blipFill>
                <a:blip r:embed="rId1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33393" y="2104530"/>
              <a:ext cx="1413177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7" name="Picture 6" descr="total_maize_report 8.pdf">
              <a:extLst>
                <a:ext uri="{FF2B5EF4-FFF2-40B4-BE49-F238E27FC236}">
                  <a16:creationId xmlns:a16="http://schemas.microsoft.com/office/drawing/2014/main" id="{43D03A6A-F35F-D604-5847-7C52E74CC13B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1"/>
                <a:srcRect t="9085"/>
                <a:stretch>
                  <a:fillRect/>
                </a:stretch>
              </p:blipFill>
            </mc:Choice>
            <mc:Fallback>
              <p:blipFill>
                <a:blip r:embed="rId12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93082" y="2104530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9" name="Picture 8" descr="total_maize_report 11.pdf">
              <a:extLst>
                <a:ext uri="{FF2B5EF4-FFF2-40B4-BE49-F238E27FC236}">
                  <a16:creationId xmlns:a16="http://schemas.microsoft.com/office/drawing/2014/main" id="{6008521B-4878-731B-D884-9B7A92BB7154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3"/>
                <a:srcRect t="9085"/>
                <a:stretch>
                  <a:fillRect/>
                </a:stretch>
              </p:blipFill>
            </mc:Choice>
            <mc:Fallback>
              <p:blipFill>
                <a:blip r:embed="rId14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15478" y="716026"/>
              <a:ext cx="1413178" cy="1284786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0" name="Picture 9" descr="total_maize_report 13.pdf">
              <a:extLst>
                <a:ext uri="{FF2B5EF4-FFF2-40B4-BE49-F238E27FC236}">
                  <a16:creationId xmlns:a16="http://schemas.microsoft.com/office/drawing/2014/main" id="{EBAC5846-4E82-2C59-C259-09D24A10B24F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5"/>
                <a:srcRect t="9085"/>
                <a:stretch>
                  <a:fillRect/>
                </a:stretch>
              </p:blipFill>
            </mc:Choice>
            <mc:Fallback>
              <p:blipFill>
                <a:blip r:embed="rId1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2133393" y="3493033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1" name="Picture 10" descr="total_maize_report 14.pdf">
              <a:extLst>
                <a:ext uri="{FF2B5EF4-FFF2-40B4-BE49-F238E27FC236}">
                  <a16:creationId xmlns:a16="http://schemas.microsoft.com/office/drawing/2014/main" id="{9BDD776C-BEC1-47D0-9763-70E7E5DAC69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7"/>
                <a:srcRect t="9085"/>
                <a:stretch>
                  <a:fillRect/>
                </a:stretch>
              </p:blipFill>
            </mc:Choice>
            <mc:Fallback>
              <p:blipFill>
                <a:blip r:embed="rId18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84841" y="3496772"/>
              <a:ext cx="1413176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2" name="Picture 11" descr="total_maize_report 19.pdf">
              <a:extLst>
                <a:ext uri="{FF2B5EF4-FFF2-40B4-BE49-F238E27FC236}">
                  <a16:creationId xmlns:a16="http://schemas.microsoft.com/office/drawing/2014/main" id="{82B440A6-6F81-CD8A-37D8-D6D9C5C76520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19"/>
                <a:srcRect t="9085"/>
                <a:stretch>
                  <a:fillRect/>
                </a:stretch>
              </p:blipFill>
            </mc:Choice>
            <mc:Fallback>
              <p:blipFill>
                <a:blip r:embed="rId2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287308" y="729217"/>
              <a:ext cx="1398664" cy="127159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3" name="Picture 12" descr="total_maize_report 22.pdf">
              <a:extLst>
                <a:ext uri="{FF2B5EF4-FFF2-40B4-BE49-F238E27FC236}">
                  <a16:creationId xmlns:a16="http://schemas.microsoft.com/office/drawing/2014/main" id="{31706DD2-4B65-F431-B298-CA6B289C133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1"/>
                <a:srcRect t="9085"/>
                <a:stretch>
                  <a:fillRect/>
                </a:stretch>
              </p:blipFill>
            </mc:Choice>
            <mc:Fallback>
              <p:blipFill>
                <a:blip r:embed="rId22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317741" y="3481976"/>
              <a:ext cx="1413171" cy="1284780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4" name="Picture 13" descr="total_maize_report 24.pdf">
              <a:extLst>
                <a:ext uri="{FF2B5EF4-FFF2-40B4-BE49-F238E27FC236}">
                  <a16:creationId xmlns:a16="http://schemas.microsoft.com/office/drawing/2014/main" id="{DE91F835-9202-7B37-4784-A4D76EBBC5FC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3"/>
                <a:srcRect t="9085"/>
                <a:stretch>
                  <a:fillRect/>
                </a:stretch>
              </p:blipFill>
            </mc:Choice>
            <mc:Fallback>
              <p:blipFill>
                <a:blip r:embed="rId24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6878362" y="729217"/>
              <a:ext cx="1413179" cy="1284791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5" name="Picture 14" descr="total_maize_report 26.pdf">
              <a:extLst>
                <a:ext uri="{FF2B5EF4-FFF2-40B4-BE49-F238E27FC236}">
                  <a16:creationId xmlns:a16="http://schemas.microsoft.com/office/drawing/2014/main" id="{7EFF6276-4F40-4F58-F6F5-2B3D5338BDF5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5"/>
                <a:srcRect t="9085"/>
                <a:stretch>
                  <a:fillRect/>
                </a:stretch>
              </p:blipFill>
            </mc:Choice>
            <mc:Fallback>
              <p:blipFill>
                <a:blip r:embed="rId26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3697819" y="3481976"/>
              <a:ext cx="1413172" cy="128478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6" name="Picture 15" descr="total_maize_report 29.pdf">
              <a:extLst>
                <a:ext uri="{FF2B5EF4-FFF2-40B4-BE49-F238E27FC236}">
                  <a16:creationId xmlns:a16="http://schemas.microsoft.com/office/drawing/2014/main" id="{DE97F9DF-80D7-2B28-7A9A-4964F64D3402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7"/>
                <a:srcRect t="9085" b="6057"/>
                <a:stretch>
                  <a:fillRect/>
                </a:stretch>
              </p:blipFill>
            </mc:Choice>
            <mc:Fallback>
              <p:blipFill>
                <a:blip r:embed="rId28"/>
                <a:srcRect t="9085" b="6057"/>
                <a:stretch>
                  <a:fillRect/>
                </a:stretch>
              </p:blipFill>
            </mc:Fallback>
          </mc:AlternateContent>
          <p:spPr>
            <a:xfrm>
              <a:off x="6827349" y="2104530"/>
              <a:ext cx="1495268" cy="1268855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7" name="Picture 16" descr="total_maize_report 31.pdf">
              <a:extLst>
                <a:ext uri="{FF2B5EF4-FFF2-40B4-BE49-F238E27FC236}">
                  <a16:creationId xmlns:a16="http://schemas.microsoft.com/office/drawing/2014/main" id="{8849AF8B-EEBE-3C9D-0C97-25D192AC00FD}"/>
                </a:ext>
              </a:extLst>
            </p:cNvPr>
            <p:cNvPicPr>
              <a:picLocks noChangeAspect="1"/>
            </p:cNvPicPr>
            <p:nvPr/>
          </p:nvPicPr>
          <mc:AlternateContent xmlns:mc="http://schemas.openxmlformats.org/markup-compatibility/2006">
            <mc:Choice xmlns:ma="http://schemas.microsoft.com/office/mac/drawingml/2008/main" xmlns:mv="urn:schemas-microsoft-com:mac:vml" xmlns="" Requires="ma">
              <p:blipFill>
                <a:blip r:embed="rId29"/>
                <a:srcRect t="9085"/>
                <a:stretch>
                  <a:fillRect/>
                </a:stretch>
              </p:blipFill>
            </mc:Choice>
            <mc:Fallback>
              <p:blipFill>
                <a:blip r:embed="rId30"/>
                <a:srcRect t="9085"/>
                <a:stretch>
                  <a:fillRect/>
                </a:stretch>
              </p:blipFill>
            </mc:Fallback>
          </mc:AlternateContent>
          <p:spPr>
            <a:xfrm>
              <a:off x="5312560" y="2112208"/>
              <a:ext cx="1387211" cy="1261178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F32B80-0E07-64FD-EC08-B424BF45CE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275" t="12739" r="2275" b="5579"/>
            <a:stretch/>
          </p:blipFill>
          <p:spPr>
            <a:xfrm>
              <a:off x="6834873" y="3463907"/>
              <a:ext cx="1456668" cy="1313911"/>
            </a:xfrm>
            <a:prstGeom prst="rect">
              <a:avLst/>
            </a:prstGeom>
            <a:ln>
              <a:solidFill>
                <a:srgbClr val="000000"/>
              </a:solidFill>
            </a:ln>
          </p:spPr>
        </p:pic>
      </p:grpSp>
      <p:sp>
        <p:nvSpPr>
          <p:cNvPr id="20" name="Text 13">
            <a:extLst>
              <a:ext uri="{FF2B5EF4-FFF2-40B4-BE49-F238E27FC236}">
                <a16:creationId xmlns:a16="http://schemas.microsoft.com/office/drawing/2014/main" id="{1EA8862D-343D-3E50-4C1B-8CF7E14C72B4}"/>
              </a:ext>
            </a:extLst>
          </p:cNvPr>
          <p:cNvSpPr/>
          <p:nvPr/>
        </p:nvSpPr>
        <p:spPr>
          <a:xfrm>
            <a:off x="6061655" y="4832870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54161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3E37-8A11-977B-33D9-A6F4FC38C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B189028A-5160-517A-11DF-FAEE3D992013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Important conclusions from SQANTI3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22C21-0B0A-9144-A667-8C83CCCC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28</a:t>
            </a:fld>
            <a:endParaRPr lang="en-E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13AC63-DBAA-76CC-EF17-ECE87831A098}"/>
              </a:ext>
            </a:extLst>
          </p:cNvPr>
          <p:cNvGrpSpPr/>
          <p:nvPr/>
        </p:nvGrpSpPr>
        <p:grpSpPr>
          <a:xfrm>
            <a:off x="24431" y="1076535"/>
            <a:ext cx="8926151" cy="2875839"/>
            <a:chOff x="32575" y="1435380"/>
            <a:chExt cx="8543422" cy="27525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3E3B66-CF83-B993-1DDB-7486A86A8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017" b="8807"/>
            <a:stretch/>
          </p:blipFill>
          <p:spPr>
            <a:xfrm>
              <a:off x="5773634" y="1881297"/>
              <a:ext cx="2802363" cy="221882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CE81DC-FD4B-C0E9-F92D-170ED2DB94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23" b="5170"/>
            <a:stretch/>
          </p:blipFill>
          <p:spPr>
            <a:xfrm>
              <a:off x="32575" y="1845768"/>
              <a:ext cx="2758491" cy="234214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5BE993-5440-CC6D-D71A-CEF0208777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55" b="10704"/>
            <a:stretch/>
          </p:blipFill>
          <p:spPr>
            <a:xfrm>
              <a:off x="2853454" y="1845768"/>
              <a:ext cx="2857791" cy="221882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6D244B-0B9D-244C-3D3E-4D1554A6DD89}"/>
                </a:ext>
              </a:extLst>
            </p:cNvPr>
            <p:cNvSpPr txBox="1"/>
            <p:nvPr/>
          </p:nvSpPr>
          <p:spPr>
            <a:xfrm>
              <a:off x="956879" y="1452791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579253-2343-F3D1-4FF2-6A900E43BD5B}"/>
                </a:ext>
              </a:extLst>
            </p:cNvPr>
            <p:cNvSpPr txBox="1"/>
            <p:nvPr/>
          </p:nvSpPr>
          <p:spPr>
            <a:xfrm>
              <a:off x="3824119" y="1435380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4F72334-9C49-82C1-CC11-C8C6C3E0F88B}"/>
                </a:ext>
              </a:extLst>
            </p:cNvPr>
            <p:cNvSpPr txBox="1"/>
            <p:nvPr/>
          </p:nvSpPr>
          <p:spPr>
            <a:xfrm>
              <a:off x="6757987" y="1476436"/>
              <a:ext cx="903992" cy="287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tx2">
                      <a:lumMod val="50000"/>
                    </a:schemeClr>
                  </a:solidFill>
                </a:rPr>
                <a:t>Pipeline 3</a:t>
              </a:r>
            </a:p>
          </p:txBody>
        </p:sp>
      </p:grpSp>
      <p:sp>
        <p:nvSpPr>
          <p:cNvPr id="11" name="Text 13">
            <a:extLst>
              <a:ext uri="{FF2B5EF4-FFF2-40B4-BE49-F238E27FC236}">
                <a16:creationId xmlns:a16="http://schemas.microsoft.com/office/drawing/2014/main" id="{BC701309-FA58-1934-7589-55BE06ED0097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801033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DBB4-302C-BBD8-1252-AED73B991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C8C3F5F2-3755-D746-C53B-B7F04AFCA3D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CAGE data may support FSM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CC5ADA-E8F3-79BF-A33C-9CF3C181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29</a:t>
            </a:fld>
            <a:endParaRPr lang="en-E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2F3C96-6ADF-9044-0CFD-8FA8FC6A565E}"/>
              </a:ext>
            </a:extLst>
          </p:cNvPr>
          <p:cNvGrpSpPr/>
          <p:nvPr/>
        </p:nvGrpSpPr>
        <p:grpSpPr>
          <a:xfrm>
            <a:off x="182460" y="535291"/>
            <a:ext cx="8511955" cy="3868268"/>
            <a:chOff x="243280" y="713721"/>
            <a:chExt cx="8177022" cy="371605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28D8EB9-B3A8-4C9D-C64F-C27D36BE4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4246" y="713722"/>
              <a:ext cx="3716056" cy="371605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203578-6B0F-9111-9F52-EABE8C180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280" y="713721"/>
              <a:ext cx="3716057" cy="3716057"/>
            </a:xfrm>
            <a:prstGeom prst="rect">
              <a:avLst/>
            </a:prstGeom>
          </p:spPr>
        </p:pic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F9121A-4163-B418-BA1D-F4BE3B85576F}"/>
                </a:ext>
              </a:extLst>
            </p:cNvPr>
            <p:cNvSpPr/>
            <p:nvPr/>
          </p:nvSpPr>
          <p:spPr>
            <a:xfrm>
              <a:off x="3300254" y="1106565"/>
              <a:ext cx="518062" cy="457200"/>
            </a:xfrm>
            <a:prstGeom prst="ellipse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7F6DBCF-06FC-0263-A79C-1752A99A2BDC}"/>
                </a:ext>
              </a:extLst>
            </p:cNvPr>
            <p:cNvSpPr/>
            <p:nvPr/>
          </p:nvSpPr>
          <p:spPr>
            <a:xfrm>
              <a:off x="7740876" y="1106565"/>
              <a:ext cx="518062" cy="457200"/>
            </a:xfrm>
            <a:prstGeom prst="ellipse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" name="Left Arrow 6">
              <a:extLst>
                <a:ext uri="{FF2B5EF4-FFF2-40B4-BE49-F238E27FC236}">
                  <a16:creationId xmlns:a16="http://schemas.microsoft.com/office/drawing/2014/main" id="{89FDBD78-18CB-D556-05A1-1165CDA6BCE1}"/>
                </a:ext>
              </a:extLst>
            </p:cNvPr>
            <p:cNvSpPr/>
            <p:nvPr/>
          </p:nvSpPr>
          <p:spPr>
            <a:xfrm>
              <a:off x="5468779" y="2304744"/>
              <a:ext cx="621103" cy="26700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Left Arrow 8">
              <a:extLst>
                <a:ext uri="{FF2B5EF4-FFF2-40B4-BE49-F238E27FC236}">
                  <a16:creationId xmlns:a16="http://schemas.microsoft.com/office/drawing/2014/main" id="{D72939EE-B91B-F380-6F02-7944631241F3}"/>
                </a:ext>
              </a:extLst>
            </p:cNvPr>
            <p:cNvSpPr/>
            <p:nvPr/>
          </p:nvSpPr>
          <p:spPr>
            <a:xfrm>
              <a:off x="6977014" y="2713639"/>
              <a:ext cx="621103" cy="26700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1" name="Text 13">
            <a:extLst>
              <a:ext uri="{FF2B5EF4-FFF2-40B4-BE49-F238E27FC236}">
                <a16:creationId xmlns:a16="http://schemas.microsoft.com/office/drawing/2014/main" id="{FA0F4497-366A-37AB-1552-C01E625D552F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1476046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20A5-73AB-A20B-A289-8875883A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38DBC33C-48DC-43C4-162A-360A4DDD8C2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Bad quality features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A67841-499D-62CB-F2DE-F5BDF357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30</a:t>
            </a:fld>
            <a:endParaRPr lang="en-ES" dirty="0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CC1DF0F9-05C5-1991-7A4A-52FCAD2A66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72" y="570697"/>
            <a:ext cx="5572976" cy="4290698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 13">
            <a:extLst>
              <a:ext uri="{FF2B5EF4-FFF2-40B4-BE49-F238E27FC236}">
                <a16:creationId xmlns:a16="http://schemas.microsoft.com/office/drawing/2014/main" id="{085BAE8C-8759-47E2-9171-1F0D78F0A86E}"/>
              </a:ext>
            </a:extLst>
          </p:cNvPr>
          <p:cNvSpPr/>
          <p:nvPr/>
        </p:nvSpPr>
        <p:spPr>
          <a:xfrm>
            <a:off x="6115798" y="4809458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1068918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5F4AF-702F-D36F-F1F7-3E330FA2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6220947E-AEAE-81A3-1A16-D0A127C5D55A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Solving problems: SQANTI-filter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FC89A3-9CAB-5CEB-6F55-6A7DE9B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31</a:t>
            </a:fld>
            <a:endParaRPr lang="en-E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BD4AB1-7A39-9440-BBD0-68ADA863BC80}"/>
              </a:ext>
            </a:extLst>
          </p:cNvPr>
          <p:cNvGrpSpPr/>
          <p:nvPr/>
        </p:nvGrpSpPr>
        <p:grpSpPr>
          <a:xfrm>
            <a:off x="678697" y="728126"/>
            <a:ext cx="8126684" cy="3801764"/>
            <a:chOff x="904928" y="970835"/>
            <a:chExt cx="7261905" cy="3397209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C1325504-70C9-8873-4388-D31D15539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928" y="970835"/>
              <a:ext cx="4435245" cy="339720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B218-56C3-B6B2-7E7B-E322B08C954D}"/>
                </a:ext>
              </a:extLst>
            </p:cNvPr>
            <p:cNvSpPr txBox="1"/>
            <p:nvPr/>
          </p:nvSpPr>
          <p:spPr>
            <a:xfrm>
              <a:off x="2820407" y="2704274"/>
              <a:ext cx="345501" cy="226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QC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AEE7B3-9664-DE50-82F3-8C95A72CDEE4}"/>
                </a:ext>
              </a:extLst>
            </p:cNvPr>
            <p:cNvGrpSpPr/>
            <p:nvPr/>
          </p:nvGrpSpPr>
          <p:grpSpPr>
            <a:xfrm>
              <a:off x="1022776" y="1045286"/>
              <a:ext cx="7144057" cy="1920145"/>
              <a:chOff x="1022776" y="1045286"/>
              <a:chExt cx="7144057" cy="1920145"/>
            </a:xfrm>
          </p:grpSpPr>
          <p:pic>
            <p:nvPicPr>
              <p:cNvPr id="7" name="Picture 6" descr="Diagram&#10;&#10;Description automatically generated">
                <a:extLst>
                  <a:ext uri="{FF2B5EF4-FFF2-40B4-BE49-F238E27FC236}">
                    <a16:creationId xmlns:a16="http://schemas.microsoft.com/office/drawing/2014/main" id="{5B192978-01F4-D902-BEF6-CBE0475ECA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031" t="35335" r="37155" b="40643"/>
              <a:stretch/>
            </p:blipFill>
            <p:spPr>
              <a:xfrm>
                <a:off x="5340173" y="2149353"/>
                <a:ext cx="1366684" cy="816078"/>
              </a:xfrm>
              <a:prstGeom prst="rect">
                <a:avLst/>
              </a:prstGeom>
            </p:spPr>
          </p:pic>
          <p:pic>
            <p:nvPicPr>
              <p:cNvPr id="9" name="Picture 8" descr="Diagram&#10;&#10;Description automatically generated">
                <a:extLst>
                  <a:ext uri="{FF2B5EF4-FFF2-40B4-BE49-F238E27FC236}">
                    <a16:creationId xmlns:a16="http://schemas.microsoft.com/office/drawing/2014/main" id="{D21ACB22-C4D0-0285-8C7E-5E8C3F7FFE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7082" b="69730"/>
              <a:stretch/>
            </p:blipFill>
            <p:spPr>
              <a:xfrm>
                <a:off x="6706857" y="1919949"/>
                <a:ext cx="1459976" cy="102833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92CCDD-1672-8B93-B991-7BB6A2D33B69}"/>
                  </a:ext>
                </a:extLst>
              </p:cNvPr>
              <p:cNvSpPr txBox="1"/>
              <p:nvPr/>
            </p:nvSpPr>
            <p:spPr>
              <a:xfrm>
                <a:off x="7065359" y="2113375"/>
                <a:ext cx="765202" cy="24752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00" b="1" dirty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CURATED </a:t>
                </a:r>
              </a:p>
              <a:p>
                <a:pPr algn="ctr"/>
                <a:r>
                  <a:rPr lang="en-US" sz="600" b="1" dirty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TRANSCRIPTOME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BD4D696-FC4C-1752-EB02-2B7FE830E013}"/>
                  </a:ext>
                </a:extLst>
              </p:cNvPr>
              <p:cNvSpPr/>
              <p:nvPr/>
            </p:nvSpPr>
            <p:spPr>
              <a:xfrm>
                <a:off x="6908389" y="2561802"/>
                <a:ext cx="623742" cy="1689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3BA8669B-2210-9258-58DF-59526B92D721}"/>
                  </a:ext>
                </a:extLst>
              </p:cNvPr>
              <p:cNvSpPr/>
              <p:nvPr/>
            </p:nvSpPr>
            <p:spPr>
              <a:xfrm>
                <a:off x="1022776" y="1096357"/>
                <a:ext cx="1240972" cy="879451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1CCF2939-7620-DBE9-CDC1-1549C8405B72}"/>
                  </a:ext>
                </a:extLst>
              </p:cNvPr>
              <p:cNvSpPr/>
              <p:nvPr/>
            </p:nvSpPr>
            <p:spPr>
              <a:xfrm>
                <a:off x="3794807" y="1045286"/>
                <a:ext cx="1409259" cy="93052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81342C69-BF93-A6EB-F6DD-24CA043EB503}"/>
                  </a:ext>
                </a:extLst>
              </p:cNvPr>
              <p:cNvSpPr/>
              <p:nvPr/>
            </p:nvSpPr>
            <p:spPr>
              <a:xfrm>
                <a:off x="3800026" y="2034909"/>
                <a:ext cx="1409259" cy="930522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ED50FCE3-E2D4-3C27-E196-201D446497CE}"/>
                  </a:ext>
                </a:extLst>
              </p:cNvPr>
              <p:cNvSpPr/>
              <p:nvPr/>
            </p:nvSpPr>
            <p:spPr>
              <a:xfrm>
                <a:off x="6826012" y="2060409"/>
                <a:ext cx="1247529" cy="845599"/>
              </a:xfrm>
              <a:prstGeom prst="roundRect">
                <a:avLst/>
              </a:prstGeom>
              <a:noFill/>
              <a:ln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1F89E-32C3-DDF3-D71C-D73AC04BC7CA}"/>
                  </a:ext>
                </a:extLst>
              </p:cNvPr>
              <p:cNvSpPr txBox="1"/>
              <p:nvPr/>
            </p:nvSpPr>
            <p:spPr>
              <a:xfrm>
                <a:off x="5768973" y="2704274"/>
                <a:ext cx="458662" cy="22689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74C57F-FF1A-6E0A-003C-1F3AC3708F1E}"/>
                </a:ext>
              </a:extLst>
            </p:cNvPr>
            <p:cNvSpPr txBox="1"/>
            <p:nvPr/>
          </p:nvSpPr>
          <p:spPr>
            <a:xfrm>
              <a:off x="5475195" y="3143517"/>
              <a:ext cx="679255" cy="37128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Machine </a:t>
              </a:r>
            </a:p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Learning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F733CFC-C8CB-2877-37C0-7CB20C972DC2}"/>
                </a:ext>
              </a:extLst>
            </p:cNvPr>
            <p:cNvSpPr txBox="1"/>
            <p:nvPr/>
          </p:nvSpPr>
          <p:spPr>
            <a:xfrm>
              <a:off x="6325879" y="3162196"/>
              <a:ext cx="493041" cy="22689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Rules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CCC9A07-049C-1148-1523-44CD6C72443D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5814823" y="2931170"/>
              <a:ext cx="183482" cy="212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55C35D8-D706-76CB-942F-009AC36AA73C}"/>
                </a:ext>
              </a:extLst>
            </p:cNvPr>
            <p:cNvCxnSpPr>
              <a:cxnSpLocks/>
            </p:cNvCxnSpPr>
            <p:nvPr/>
          </p:nvCxnSpPr>
          <p:spPr>
            <a:xfrm>
              <a:off x="6184981" y="2972287"/>
              <a:ext cx="232152" cy="1712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 13">
            <a:extLst>
              <a:ext uri="{FF2B5EF4-FFF2-40B4-BE49-F238E27FC236}">
                <a16:creationId xmlns:a16="http://schemas.microsoft.com/office/drawing/2014/main" id="{493F67DF-D38A-6E1E-FDB6-7D1951C5C8CF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3094057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88CD-0D88-A584-CC94-2E4B33EE2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7D5AB528-E49B-CDF8-84D6-0D21547A67A6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Solving problems: SQANTI-filter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B074C1-C514-6CC3-2362-FC3D6635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32</a:t>
            </a:fld>
            <a:endParaRPr lang="en-ES" dirty="0"/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01E98A1-1002-0FB9-DCD2-A533D0B910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00" t="-5224" r="42489" b="5224"/>
          <a:stretch/>
        </p:blipFill>
        <p:spPr>
          <a:xfrm>
            <a:off x="214312" y="1247072"/>
            <a:ext cx="3785378" cy="302008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3347EE6-C36F-C0C1-0C5F-500BA2071396}"/>
              </a:ext>
            </a:extLst>
          </p:cNvPr>
          <p:cNvSpPr txBox="1"/>
          <p:nvPr/>
        </p:nvSpPr>
        <p:spPr>
          <a:xfrm>
            <a:off x="1612232" y="727910"/>
            <a:ext cx="91723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Rules</a:t>
            </a:r>
            <a:endParaRPr lang="en-ES" sz="135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5DCBE4-6873-4939-4BEA-1A9A48138528}"/>
              </a:ext>
            </a:extLst>
          </p:cNvPr>
          <p:cNvSpPr txBox="1"/>
          <p:nvPr/>
        </p:nvSpPr>
        <p:spPr>
          <a:xfrm>
            <a:off x="6457950" y="727910"/>
            <a:ext cx="57419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ML</a:t>
            </a:r>
            <a:endParaRPr lang="en-ES" sz="135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F37189-3394-E35F-283D-92D2B3106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485" y="1517934"/>
            <a:ext cx="1886465" cy="20005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81A70C-8AA3-0BC5-BF5C-2B186A35C80A}"/>
              </a:ext>
            </a:extLst>
          </p:cNvPr>
          <p:cNvSpPr txBox="1"/>
          <p:nvPr/>
        </p:nvSpPr>
        <p:spPr>
          <a:xfrm>
            <a:off x="4778006" y="1013959"/>
            <a:ext cx="163698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SQANTI variables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55A861-F43E-4760-1FE2-34EBE6DCD5BA}"/>
              </a:ext>
            </a:extLst>
          </p:cNvPr>
          <p:cNvSpPr txBox="1"/>
          <p:nvPr/>
        </p:nvSpPr>
        <p:spPr>
          <a:xfrm>
            <a:off x="7075758" y="1027941"/>
            <a:ext cx="181017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True &amp; Negative Set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076CA1-4A4D-B217-0291-2C951427AB8E}"/>
              </a:ext>
            </a:extLst>
          </p:cNvPr>
          <p:cNvSpPr txBox="1"/>
          <p:nvPr/>
        </p:nvSpPr>
        <p:spPr>
          <a:xfrm>
            <a:off x="6914736" y="1536481"/>
            <a:ext cx="229421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True: FSM reference match</a:t>
            </a:r>
          </a:p>
        </p:txBody>
      </p:sp>
      <p:pic>
        <p:nvPicPr>
          <p:cNvPr id="28" name="Imagen 75">
            <a:extLst>
              <a:ext uri="{FF2B5EF4-FFF2-40B4-BE49-F238E27FC236}">
                <a16:creationId xmlns:a16="http://schemas.microsoft.com/office/drawing/2014/main" id="{A14C466A-1CAE-283D-02B0-279984D889C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3657" b="58170"/>
          <a:stretch/>
        </p:blipFill>
        <p:spPr>
          <a:xfrm>
            <a:off x="6938443" y="1910422"/>
            <a:ext cx="1970387" cy="40611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4753E15-47B8-4485-595A-D85118B3F4E9}"/>
              </a:ext>
            </a:extLst>
          </p:cNvPr>
          <p:cNvSpPr txBox="1"/>
          <p:nvPr/>
        </p:nvSpPr>
        <p:spPr>
          <a:xfrm>
            <a:off x="6766028" y="2542600"/>
            <a:ext cx="25987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Negative: NNC – non canonical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16A86D4-E2E8-315B-8C9B-E4C2B5DC8DD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454" r="32893"/>
          <a:stretch/>
        </p:blipFill>
        <p:spPr>
          <a:xfrm>
            <a:off x="6853386" y="3188256"/>
            <a:ext cx="2182342" cy="21175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C84E49E-41FD-9FFA-B3FC-38B9E3C7C2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4615" r="32893" b="73984"/>
          <a:stretch/>
        </p:blipFill>
        <p:spPr>
          <a:xfrm>
            <a:off x="6967686" y="3010099"/>
            <a:ext cx="2182342" cy="165968"/>
          </a:xfrm>
          <a:prstGeom prst="rect">
            <a:avLst/>
          </a:prstGeom>
        </p:spPr>
      </p:pic>
      <p:sp>
        <p:nvSpPr>
          <p:cNvPr id="32" name="Up Arrow 31">
            <a:extLst>
              <a:ext uri="{FF2B5EF4-FFF2-40B4-BE49-F238E27FC236}">
                <a16:creationId xmlns:a16="http://schemas.microsoft.com/office/drawing/2014/main" id="{6AFD7584-2DA2-A5EE-CEDB-0CE6872CFA90}"/>
              </a:ext>
            </a:extLst>
          </p:cNvPr>
          <p:cNvSpPr/>
          <p:nvPr/>
        </p:nvSpPr>
        <p:spPr>
          <a:xfrm>
            <a:off x="7221329" y="3403539"/>
            <a:ext cx="210575" cy="175617"/>
          </a:xfrm>
          <a:prstGeom prst="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909880-48AF-462C-A936-DB0C0FA7C7F6}"/>
              </a:ext>
            </a:extLst>
          </p:cNvPr>
          <p:cNvSpPr txBox="1"/>
          <p:nvPr/>
        </p:nvSpPr>
        <p:spPr>
          <a:xfrm>
            <a:off x="7017837" y="3584000"/>
            <a:ext cx="79380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" dirty="0"/>
              <a:t>Non-canonical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A54E5B-CCF7-6E57-624E-096164AD51B5}"/>
              </a:ext>
            </a:extLst>
          </p:cNvPr>
          <p:cNvSpPr txBox="1"/>
          <p:nvPr/>
        </p:nvSpPr>
        <p:spPr>
          <a:xfrm>
            <a:off x="4848326" y="4070409"/>
            <a:ext cx="150233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Random Forest </a:t>
            </a:r>
          </a:p>
        </p:txBody>
      </p:sp>
      <p:pic>
        <p:nvPicPr>
          <p:cNvPr id="35" name="Picture 2" descr="Icono De La Rueda Del Diente Símbolo De Ajustes O Del Engranaje Elemento  Del Diseño Moderno Del Esquema Muestra Plana Negra Simpl Ilustración del  Vector - Ilustración de diente, icono: 109569096">
            <a:extLst>
              <a:ext uri="{FF2B5EF4-FFF2-40B4-BE49-F238E27FC236}">
                <a16:creationId xmlns:a16="http://schemas.microsoft.com/office/drawing/2014/main" id="{A533AF5A-C206-BA55-EF1D-8D4259C74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74" y="3865844"/>
            <a:ext cx="921863" cy="92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8C10086-B961-39F3-9EDD-239AA36A7649}"/>
              </a:ext>
            </a:extLst>
          </p:cNvPr>
          <p:cNvSpPr txBox="1"/>
          <p:nvPr/>
        </p:nvSpPr>
        <p:spPr>
          <a:xfrm>
            <a:off x="4878038" y="4363753"/>
            <a:ext cx="133241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ALL transcripts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37DA67-6931-5F27-9C2F-4BF4326D9EC1}"/>
              </a:ext>
            </a:extLst>
          </p:cNvPr>
          <p:cNvSpPr txBox="1"/>
          <p:nvPr/>
        </p:nvSpPr>
        <p:spPr>
          <a:xfrm>
            <a:off x="7685461" y="3906355"/>
            <a:ext cx="8483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Isoforms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1DCF4-5E19-1C1F-2F0D-57257A0DB27E}"/>
              </a:ext>
            </a:extLst>
          </p:cNvPr>
          <p:cNvSpPr txBox="1"/>
          <p:nvPr/>
        </p:nvSpPr>
        <p:spPr>
          <a:xfrm>
            <a:off x="7716585" y="4498954"/>
            <a:ext cx="8098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Artifacts</a:t>
            </a:r>
          </a:p>
        </p:txBody>
      </p:sp>
      <p:pic>
        <p:nvPicPr>
          <p:cNvPr id="39" name="Picture 4" descr="Horquilla En El Icono De La Carretera, Dirección, Flecha, Señalización  Ilustración del Vector - Ilustración de calle, confuso: 170758196">
            <a:extLst>
              <a:ext uri="{FF2B5EF4-FFF2-40B4-BE49-F238E27FC236}">
                <a16:creationId xmlns:a16="http://schemas.microsoft.com/office/drawing/2014/main" id="{D1551BC3-D46A-5522-28B8-6E7B479CFF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93" t="18716" r="21092" b="26978"/>
          <a:stretch/>
        </p:blipFill>
        <p:spPr bwMode="auto">
          <a:xfrm rot="5400000">
            <a:off x="6974205" y="3928313"/>
            <a:ext cx="761062" cy="723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13">
            <a:extLst>
              <a:ext uri="{FF2B5EF4-FFF2-40B4-BE49-F238E27FC236}">
                <a16:creationId xmlns:a16="http://schemas.microsoft.com/office/drawing/2014/main" id="{A747C400-BE4B-D6ED-EB64-840A2A05EA71}"/>
              </a:ext>
            </a:extLst>
          </p:cNvPr>
          <p:cNvSpPr/>
          <p:nvPr/>
        </p:nvSpPr>
        <p:spPr>
          <a:xfrm>
            <a:off x="6141138" y="4794556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257734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18AF-DF29-2B27-C5E8-9EC74133A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379A7687-297B-40E1-DA63-F88DD6F3552D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Clean transcriptome! And SQANTI-filter report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89C1CF-61D5-64CE-6F3E-1BCAFD6F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33</a:t>
            </a:fld>
            <a:endParaRPr lang="en-ES" dirty="0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3350FB06-6B22-B29E-5B32-D9E0D99E5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9" y="731671"/>
            <a:ext cx="4096759" cy="3433298"/>
          </a:xfrm>
          <a:prstGeom prst="rect">
            <a:avLst/>
          </a:prstGeom>
        </p:spPr>
      </p:pic>
      <p:pic>
        <p:nvPicPr>
          <p:cNvPr id="6" name="Picture 5" descr="Chart, funnel chart&#10;&#10;Description automatically generated">
            <a:extLst>
              <a:ext uri="{FF2B5EF4-FFF2-40B4-BE49-F238E27FC236}">
                <a16:creationId xmlns:a16="http://schemas.microsoft.com/office/drawing/2014/main" id="{93CF3979-8C05-0FC4-B1F0-1AB83D69F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723" y="926454"/>
            <a:ext cx="4947099" cy="3043731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3D17BE23-EBA9-53E1-FF49-6337EE6D61ED}"/>
              </a:ext>
            </a:extLst>
          </p:cNvPr>
          <p:cNvSpPr/>
          <p:nvPr/>
        </p:nvSpPr>
        <p:spPr>
          <a:xfrm>
            <a:off x="6061655" y="4680573"/>
            <a:ext cx="2880639" cy="10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675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Pardo-Palacios. 2024. 10.1038/s41592-024-02298-3</a:t>
            </a:r>
          </a:p>
        </p:txBody>
      </p:sp>
    </p:spTree>
    <p:extLst>
      <p:ext uri="{BB962C8B-B14F-4D97-AF65-F5344CB8AC3E}">
        <p14:creationId xmlns:p14="http://schemas.microsoft.com/office/powerpoint/2010/main" val="2312969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31D2-79B1-B33A-3182-8854454FF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4E03E2F0-3AFC-4B48-0876-35B4D8C104E9}"/>
              </a:ext>
            </a:extLst>
          </p:cNvPr>
          <p:cNvSpPr/>
          <p:nvPr/>
        </p:nvSpPr>
        <p:spPr>
          <a:xfrm>
            <a:off x="214312" y="118709"/>
            <a:ext cx="8727983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Bonus!! SQANTI-verse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45F02-9694-09B7-D5B2-449EC0D2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861395"/>
            <a:ext cx="2057400" cy="273844"/>
          </a:xfrm>
        </p:spPr>
        <p:txBody>
          <a:bodyPr/>
          <a:lstStyle/>
          <a:p>
            <a:fld id="{51953819-CDAE-4B49-8708-AAC5C83D7CFB}" type="slidenum">
              <a:rPr lang="en-ES" smtClean="0"/>
              <a:t>34</a:t>
            </a:fld>
            <a:endParaRPr lang="en-E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9D1F2A2-E8B5-E597-302D-E84445355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60" y="665317"/>
            <a:ext cx="4225868" cy="411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81A7E-EFB0-3558-94F1-A208C29206C1}"/>
              </a:ext>
            </a:extLst>
          </p:cNvPr>
          <p:cNvSpPr txBox="1"/>
          <p:nvPr/>
        </p:nvSpPr>
        <p:spPr>
          <a:xfrm>
            <a:off x="6090557" y="1164416"/>
            <a:ext cx="2146742" cy="3185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S" sz="2100" b="1" dirty="0"/>
              <a:t>SQANTI3</a:t>
            </a:r>
            <a:endParaRPr lang="en-ES" b="1" dirty="0"/>
          </a:p>
          <a:p>
            <a:r>
              <a:rPr lang="en-ES" dirty="0"/>
              <a:t>SQANTI-filter</a:t>
            </a:r>
          </a:p>
          <a:p>
            <a:r>
              <a:rPr lang="en-ES" dirty="0"/>
              <a:t>SQANTI-rescue</a:t>
            </a:r>
          </a:p>
          <a:p>
            <a:r>
              <a:rPr lang="en-ES" dirty="0"/>
              <a:t>SQANTI-reads</a:t>
            </a:r>
          </a:p>
          <a:p>
            <a:r>
              <a:rPr lang="en-ES" dirty="0"/>
              <a:t>SQANTI-tusco</a:t>
            </a:r>
          </a:p>
          <a:p>
            <a:r>
              <a:rPr lang="en-ES" dirty="0"/>
              <a:t>SQANTI-single-cell</a:t>
            </a:r>
          </a:p>
          <a:p>
            <a:r>
              <a:rPr lang="en-ES" dirty="0"/>
              <a:t>SQANTI-browser</a:t>
            </a:r>
          </a:p>
          <a:p>
            <a:r>
              <a:rPr lang="en-ES" dirty="0"/>
              <a:t>SQANTI-proteins</a:t>
            </a:r>
          </a:p>
          <a:p>
            <a:r>
              <a:rPr lang="en-ES" dirty="0"/>
              <a:t>IsoAnnot</a:t>
            </a:r>
          </a:p>
          <a:p>
            <a:r>
              <a:rPr lang="en-ES" dirty="0"/>
              <a:t>TappAS</a:t>
            </a:r>
          </a:p>
          <a:p>
            <a:r>
              <a:rPr lang="en-E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70091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AB1813-70AC-C937-2749-948533586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FB3DE5-0BF2-9949-8E8E-62041A1EAFC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6F849DC-29D6-DE9B-6D83-47D3AFE42142}"/>
              </a:ext>
            </a:extLst>
          </p:cNvPr>
          <p:cNvSpPr/>
          <p:nvPr/>
        </p:nvSpPr>
        <p:spPr>
          <a:xfrm>
            <a:off x="285750" y="107156"/>
            <a:ext cx="215403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5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Results</a:t>
            </a:r>
            <a:endParaRPr lang="en-US" sz="1575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8106398-7A76-A58E-1AFC-AD34746F815E}"/>
              </a:ext>
            </a:extLst>
          </p:cNvPr>
          <p:cNvSpPr/>
          <p:nvPr/>
        </p:nvSpPr>
        <p:spPr>
          <a:xfrm>
            <a:off x="285750" y="728663"/>
            <a:ext cx="5143500" cy="31432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9567464-1C66-36CE-5DED-69C65C3DFC5D}"/>
              </a:ext>
            </a:extLst>
          </p:cNvPr>
          <p:cNvSpPr/>
          <p:nvPr/>
        </p:nvSpPr>
        <p:spPr>
          <a:xfrm>
            <a:off x="428625" y="871538"/>
            <a:ext cx="492918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[Chart Area: Insert data visualization here]</a:t>
            </a:r>
            <a:endParaRPr lang="en-US" sz="1125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3C76729-9995-BC36-F495-4D26E275F657}"/>
              </a:ext>
            </a:extLst>
          </p:cNvPr>
          <p:cNvSpPr/>
          <p:nvPr/>
        </p:nvSpPr>
        <p:spPr>
          <a:xfrm>
            <a:off x="5857875" y="898327"/>
            <a:ext cx="1858296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 demonstrates the</a:t>
            </a:r>
            <a:endParaRPr lang="en-US" sz="1125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389FCA3-8E13-4908-3D35-931FCE88A6CC}"/>
              </a:ext>
            </a:extLst>
          </p:cNvPr>
          <p:cNvSpPr/>
          <p:nvPr/>
        </p:nvSpPr>
        <p:spPr>
          <a:xfrm>
            <a:off x="7644733" y="898327"/>
            <a:ext cx="113568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0047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1125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E201A1-62C5-0BB4-30BB-F20C08631760}"/>
              </a:ext>
            </a:extLst>
          </p:cNvPr>
          <p:cNvSpPr/>
          <p:nvPr/>
        </p:nvSpPr>
        <p:spPr>
          <a:xfrm>
            <a:off x="5857875" y="1112639"/>
            <a:ext cx="284326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long-read sequencing compared to short-read technologies:</a:t>
            </a:r>
            <a:endParaRPr lang="en-US" sz="1125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5B98442-7FE5-7DE6-EF22-8AAD882230F0}"/>
              </a:ext>
            </a:extLst>
          </p:cNvPr>
          <p:cNvSpPr/>
          <p:nvPr/>
        </p:nvSpPr>
        <p:spPr>
          <a:xfrm>
            <a:off x="5857875" y="1714500"/>
            <a:ext cx="71438" cy="71438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1C2AD50-B69F-4D07-5A6C-E8BC926158BB}"/>
              </a:ext>
            </a:extLst>
          </p:cNvPr>
          <p:cNvSpPr/>
          <p:nvPr/>
        </p:nvSpPr>
        <p:spPr>
          <a:xfrm>
            <a:off x="6036469" y="1657350"/>
            <a:ext cx="17946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isoform detection</a:t>
            </a:r>
            <a:endParaRPr lang="en-US" sz="1125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1BC70BB2-FEF8-FF3F-E900-307172B91866}"/>
              </a:ext>
            </a:extLst>
          </p:cNvPr>
          <p:cNvSpPr/>
          <p:nvPr/>
        </p:nvSpPr>
        <p:spPr>
          <a:xfrm>
            <a:off x="5857875" y="2035969"/>
            <a:ext cx="71438" cy="71438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A494695-DF70-6067-420E-787CCA8A378D}"/>
              </a:ext>
            </a:extLst>
          </p:cNvPr>
          <p:cNvSpPr/>
          <p:nvPr/>
        </p:nvSpPr>
        <p:spPr>
          <a:xfrm>
            <a:off x="6036469" y="1978819"/>
            <a:ext cx="231915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handling of repetitive regions</a:t>
            </a:r>
            <a:endParaRPr lang="en-US" sz="1125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AE628B1A-1491-551D-BCA7-6A9296CBD4E8}"/>
              </a:ext>
            </a:extLst>
          </p:cNvPr>
          <p:cNvSpPr/>
          <p:nvPr/>
        </p:nvSpPr>
        <p:spPr>
          <a:xfrm>
            <a:off x="5857875" y="2357438"/>
            <a:ext cx="71438" cy="71438"/>
          </a:xfrm>
          <a:prstGeom prst="ellipse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C6D1F04-4E1C-021A-46E4-795459452031}"/>
              </a:ext>
            </a:extLst>
          </p:cNvPr>
          <p:cNvSpPr/>
          <p:nvPr/>
        </p:nvSpPr>
        <p:spPr>
          <a:xfrm>
            <a:off x="6036469" y="2300288"/>
            <a:ext cx="209646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detection of modifications</a:t>
            </a:r>
            <a:endParaRPr lang="en-US" sz="1125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11B7000-CFC2-EAD2-83A6-CB5C42DE6808}"/>
              </a:ext>
            </a:extLst>
          </p:cNvPr>
          <p:cNvSpPr/>
          <p:nvPr/>
        </p:nvSpPr>
        <p:spPr>
          <a:xfrm>
            <a:off x="5857875" y="2728913"/>
            <a:ext cx="307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source: LongTREC consortium research, 2024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993811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7903" y="1207936"/>
            <a:ext cx="205960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9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925" dirty="0"/>
          </a:p>
        </p:txBody>
      </p:sp>
      <p:sp>
        <p:nvSpPr>
          <p:cNvPr id="4" name="Shape 1"/>
          <p:cNvSpPr/>
          <p:nvPr/>
        </p:nvSpPr>
        <p:spPr>
          <a:xfrm>
            <a:off x="4143375" y="1908023"/>
            <a:ext cx="857250" cy="28575"/>
          </a:xfrm>
          <a:prstGeom prst="rect">
            <a:avLst/>
          </a:prstGeom>
          <a:solidFill>
            <a:srgbClr val="FF8C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2222348"/>
            <a:ext cx="1428750" cy="6988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9739" y="3135464"/>
            <a:ext cx="46359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 about the LongTREC Summer School: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824278" y="3535514"/>
            <a:ext cx="156685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https://longtrec.eu</a:t>
            </a: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ongTREC_PowerPoint_Template" id="{CC4E40BC-BE01-B34D-9C90-CC136DB86376}" vid="{B3F24151-5428-BE4A-9FF9-141C8CA6E3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LongTREC_PowerPoint_Template</Template>
  <TotalTime>4032</TotalTime>
  <Words>949</Words>
  <Application>Microsoft Office PowerPoint</Application>
  <PresentationFormat>On-screen Show (16:9)</PresentationFormat>
  <Paragraphs>267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Noto Sans Symbols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However, sequencing is not a perfect process…</vt:lpstr>
      <vt:lpstr>How ever, sequencing is not a perfect process…</vt:lpstr>
      <vt:lpstr>Retrotranscriptase Template Switching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Pablo Atienza</dc:creator>
  <cp:lastModifiedBy>Pablo Atienza</cp:lastModifiedBy>
  <cp:revision>3</cp:revision>
  <dcterms:created xsi:type="dcterms:W3CDTF">2026-05-29T12:56:38Z</dcterms:created>
  <dcterms:modified xsi:type="dcterms:W3CDTF">2026-06-01T08:09:19Z</dcterms:modified>
</cp:coreProperties>
</file>