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handoutMasterIdLst>
    <p:handoutMasterId r:id="rId28"/>
  </p:handoutMasterIdLst>
  <p:sldIdLst>
    <p:sldId id="267" r:id="rId2"/>
    <p:sldId id="268" r:id="rId3"/>
    <p:sldId id="269" r:id="rId4"/>
    <p:sldId id="273" r:id="rId5"/>
    <p:sldId id="271" r:id="rId6"/>
    <p:sldId id="272" r:id="rId7"/>
    <p:sldId id="274" r:id="rId8"/>
    <p:sldId id="275" r:id="rId9"/>
    <p:sldId id="270" r:id="rId10"/>
    <p:sldId id="276" r:id="rId11"/>
    <p:sldId id="277" r:id="rId12"/>
    <p:sldId id="280" r:id="rId13"/>
    <p:sldId id="281" r:id="rId14"/>
    <p:sldId id="282" r:id="rId15"/>
    <p:sldId id="283" r:id="rId16"/>
    <p:sldId id="284" r:id="rId17"/>
    <p:sldId id="285" r:id="rId18"/>
    <p:sldId id="279" r:id="rId19"/>
    <p:sldId id="278" r:id="rId20"/>
    <p:sldId id="286" r:id="rId21"/>
    <p:sldId id="287" r:id="rId22"/>
    <p:sldId id="288" r:id="rId23"/>
    <p:sldId id="289" r:id="rId24"/>
    <p:sldId id="290" r:id="rId25"/>
    <p:sldId id="291" r:id="rId2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8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79" autoAdjust="0"/>
    <p:restoredTop sz="80861" autoAdjust="0"/>
  </p:normalViewPr>
  <p:slideViewPr>
    <p:cSldViewPr snapToGrid="0" snapToObjects="1">
      <p:cViewPr varScale="1">
        <p:scale>
          <a:sx n="116" d="100"/>
          <a:sy n="116" d="100"/>
        </p:scale>
        <p:origin x="696" y="114"/>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snapToObjects="1">
      <p:cViewPr varScale="1">
        <p:scale>
          <a:sx n="83" d="100"/>
          <a:sy n="83" d="100"/>
        </p:scale>
        <p:origin x="1410" y="10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160CDE8-68A4-D466-2870-B365690BBA4A}"/>
              </a:ext>
            </a:extLst>
          </p:cNvPr>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804A44A2-CAC7-FA7F-9D27-685C0627272E}"/>
              </a:ext>
            </a:extLst>
          </p:cNvPr>
          <p:cNvSpPr>
            <a:spLocks noGrp="1"/>
          </p:cNvSpPr>
          <p:nvPr>
            <p:ph type="dt" sz="quarter" idx="1"/>
          </p:nvPr>
        </p:nvSpPr>
        <p:spPr>
          <a:xfrm>
            <a:off x="2913063" y="0"/>
            <a:ext cx="2228850" cy="458788"/>
          </a:xfrm>
          <a:prstGeom prst="rect">
            <a:avLst/>
          </a:prstGeom>
        </p:spPr>
        <p:txBody>
          <a:bodyPr vert="horz" lIns="91440" tIns="45720" rIns="91440" bIns="45720" rtlCol="0"/>
          <a:lstStyle>
            <a:lvl1pPr algn="r">
              <a:defRPr sz="1200"/>
            </a:lvl1pPr>
          </a:lstStyle>
          <a:p>
            <a:fld id="{121B9064-293E-4E2C-81A6-5826235924E4}" type="datetimeFigureOut">
              <a:rPr lang="en-GB" smtClean="0"/>
              <a:t>12/06/2026</a:t>
            </a:fld>
            <a:endParaRPr lang="en-GB"/>
          </a:p>
        </p:txBody>
      </p:sp>
      <p:sp>
        <p:nvSpPr>
          <p:cNvPr id="4" name="Footer Placeholder 3">
            <a:extLst>
              <a:ext uri="{FF2B5EF4-FFF2-40B4-BE49-F238E27FC236}">
                <a16:creationId xmlns:a16="http://schemas.microsoft.com/office/drawing/2014/main" id="{A2A1ED25-336C-3A72-84BF-A5D74266C5BB}"/>
              </a:ext>
            </a:extLst>
          </p:cNvPr>
          <p:cNvSpPr>
            <a:spLocks noGrp="1"/>
          </p:cNvSpPr>
          <p:nvPr>
            <p:ph type="ftr" sz="quarter" idx="2"/>
          </p:nvPr>
        </p:nvSpPr>
        <p:spPr>
          <a:xfrm>
            <a:off x="0" y="8685213"/>
            <a:ext cx="222885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91C01CA5-1221-1F95-56B0-B4B7FC5396CF}"/>
              </a:ext>
            </a:extLst>
          </p:cNvPr>
          <p:cNvSpPr>
            <a:spLocks noGrp="1"/>
          </p:cNvSpPr>
          <p:nvPr>
            <p:ph type="sldNum" sz="quarter" idx="3"/>
          </p:nvPr>
        </p:nvSpPr>
        <p:spPr>
          <a:xfrm>
            <a:off x="2913063" y="8685213"/>
            <a:ext cx="2228850" cy="458787"/>
          </a:xfrm>
          <a:prstGeom prst="rect">
            <a:avLst/>
          </a:prstGeom>
        </p:spPr>
        <p:txBody>
          <a:bodyPr vert="horz" lIns="91440" tIns="45720" rIns="91440" bIns="45720" rtlCol="0" anchor="b"/>
          <a:lstStyle>
            <a:lvl1pPr algn="r">
              <a:defRPr sz="1200"/>
            </a:lvl1pPr>
          </a:lstStyle>
          <a:p>
            <a:fld id="{1F4D13AE-2F84-4360-AB6A-DD19FC0BFDC6}" type="slidenum">
              <a:rPr lang="en-GB" smtClean="0"/>
              <a:t>‹#›</a:t>
            </a:fld>
            <a:endParaRPr lang="en-GB"/>
          </a:p>
        </p:txBody>
      </p:sp>
    </p:spTree>
    <p:extLst>
      <p:ext uri="{BB962C8B-B14F-4D97-AF65-F5344CB8AC3E}">
        <p14:creationId xmlns:p14="http://schemas.microsoft.com/office/powerpoint/2010/main" val="19090794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04254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s-ES"/>
              <a:t>Here, the house metaphor works great. One thing is to identigy the parts of a house: the walls, the ceiling, the light cables, the plumbing, but a different thing is to look at the whole picture and trying to find which are the main walls and which are not, what is the living room and what is the bedroom, etc. </a:t>
            </a:r>
            <a:br>
              <a:rPr lang="es-ES"/>
            </a:br>
            <a:br>
              <a:rPr lang="es-ES"/>
            </a:br>
            <a:r>
              <a:rPr lang="es-ES"/>
              <a:t>Thisshould be fused with the preivous slide</a:t>
            </a:r>
            <a:endParaRPr lang="en-GB"/>
          </a:p>
        </p:txBody>
      </p:sp>
    </p:spTree>
    <p:extLst>
      <p:ext uri="{BB962C8B-B14F-4D97-AF65-F5344CB8AC3E}">
        <p14:creationId xmlns:p14="http://schemas.microsoft.com/office/powerpoint/2010/main" val="3763386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s-ES"/>
              <a:t>Used to be very resuource and time expensive. Nowadays, just two people can assemble and annotate and do it. YOU can do it</a:t>
            </a:r>
            <a:endParaRPr lang="en-GB"/>
          </a:p>
        </p:txBody>
      </p:sp>
    </p:spTree>
    <p:extLst>
      <p:ext uri="{BB962C8B-B14F-4D97-AF65-F5344CB8AC3E}">
        <p14:creationId xmlns:p14="http://schemas.microsoft.com/office/powerpoint/2010/main" val="27448599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s-ES"/>
              <a:t>Add images on the  squares with the things. Just say what they represent</a:t>
            </a:r>
            <a:endParaRPr lang="en-GB"/>
          </a:p>
        </p:txBody>
      </p:sp>
    </p:spTree>
    <p:extLst>
      <p:ext uri="{BB962C8B-B14F-4D97-AF65-F5344CB8AC3E}">
        <p14:creationId xmlns:p14="http://schemas.microsoft.com/office/powerpoint/2010/main" val="30672234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s-ES"/>
              <a:t>Similar diagram idea as the one that Katarina did to explain what a hidden markov model is</a:t>
            </a:r>
            <a:endParaRPr lang="en-GB"/>
          </a:p>
        </p:txBody>
      </p:sp>
    </p:spTree>
    <p:extLst>
      <p:ext uri="{BB962C8B-B14F-4D97-AF65-F5344CB8AC3E}">
        <p14:creationId xmlns:p14="http://schemas.microsoft.com/office/powerpoint/2010/main" val="18832229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04CBBC-B1EB-7389-DA00-46D158C0B1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026AA3-17BF-9C47-457F-A737AA289252}"/>
              </a:ext>
            </a:extLst>
          </p:cNvPr>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EF0DAAC5-2FE8-9F60-B903-1982625322BC}"/>
              </a:ext>
            </a:extLst>
          </p:cNvPr>
          <p:cNvSpPr>
            <a:spLocks noGrp="1"/>
          </p:cNvSpPr>
          <p:nvPr>
            <p:ph type="body" idx="1"/>
          </p:nvPr>
        </p:nvSpPr>
        <p:spPr>
          <a:xfrm>
            <a:off x="514350" y="4400550"/>
            <a:ext cx="4114800" cy="3600450"/>
          </a:xfrm>
          <a:prstGeom prst="rect">
            <a:avLst/>
          </a:prstGeom>
        </p:spPr>
        <p:txBody>
          <a:bodyPr/>
          <a:lstStyle/>
          <a:p>
            <a:r>
              <a:rPr lang="es-ES"/>
              <a:t>Similar diagram idea as the one that Katarina did to explain what a hidden markov model is</a:t>
            </a:r>
            <a:endParaRPr lang="en-GB"/>
          </a:p>
        </p:txBody>
      </p:sp>
    </p:spTree>
    <p:extLst>
      <p:ext uri="{BB962C8B-B14F-4D97-AF65-F5344CB8AC3E}">
        <p14:creationId xmlns:p14="http://schemas.microsoft.com/office/powerpoint/2010/main" val="8691658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44FFC-4405-394F-B666-40FFD6C9DA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C8B4D0-A0A2-9E9D-ADA6-57C6D0A80E23}"/>
              </a:ext>
            </a:extLst>
          </p:cNvPr>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2E46BBB0-BB27-DEB2-88F1-F81467F02B88}"/>
              </a:ext>
            </a:extLst>
          </p:cNvPr>
          <p:cNvSpPr>
            <a:spLocks noGrp="1"/>
          </p:cNvSpPr>
          <p:nvPr>
            <p:ph type="body" idx="1"/>
          </p:nvPr>
        </p:nvSpPr>
        <p:spPr>
          <a:xfrm>
            <a:off x="514350" y="4400550"/>
            <a:ext cx="4114800" cy="3600450"/>
          </a:xfrm>
          <a:prstGeom prst="rect">
            <a:avLst/>
          </a:prstGeom>
        </p:spPr>
        <p:txBody>
          <a:bodyPr/>
          <a:lstStyle/>
          <a:p>
            <a:r>
              <a:rPr lang="es-ES"/>
              <a:t>Similar diagram idea as the one that Katarina did to explain what a hidden markov model is</a:t>
            </a:r>
            <a:endParaRPr lang="en-GB"/>
          </a:p>
        </p:txBody>
      </p:sp>
    </p:spTree>
    <p:extLst>
      <p:ext uri="{BB962C8B-B14F-4D97-AF65-F5344CB8AC3E}">
        <p14:creationId xmlns:p14="http://schemas.microsoft.com/office/powerpoint/2010/main" val="41664464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64351-0086-324A-2BF0-C157C9B689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F34BB2-E82D-0B07-1A7F-1B08E6DA7AEE}"/>
              </a:ext>
            </a:extLst>
          </p:cNvPr>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5D921328-9AAD-0FCD-A62D-7A70A53B986C}"/>
              </a:ext>
            </a:extLst>
          </p:cNvPr>
          <p:cNvSpPr>
            <a:spLocks noGrp="1"/>
          </p:cNvSpPr>
          <p:nvPr>
            <p:ph type="body" idx="1"/>
          </p:nvPr>
        </p:nvSpPr>
        <p:spPr>
          <a:xfrm>
            <a:off x="514350" y="4400550"/>
            <a:ext cx="4114800" cy="3600450"/>
          </a:xfrm>
          <a:prstGeom prst="rect">
            <a:avLst/>
          </a:prstGeom>
        </p:spPr>
        <p:txBody>
          <a:bodyPr/>
          <a:lstStyle/>
          <a:p>
            <a:r>
              <a:rPr lang="es-ES"/>
              <a:t>Similar diagram idea as the one that Katarina did to explain what a hidden markov model is</a:t>
            </a:r>
            <a:endParaRPr lang="en-GB"/>
          </a:p>
        </p:txBody>
      </p:sp>
    </p:spTree>
    <p:extLst>
      <p:ext uri="{BB962C8B-B14F-4D97-AF65-F5344CB8AC3E}">
        <p14:creationId xmlns:p14="http://schemas.microsoft.com/office/powerpoint/2010/main" val="21854487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F6C4B-3C1F-0DB1-677F-2D60C6B78E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9B6259-4ED8-42C8-283C-27E3023D8212}"/>
              </a:ext>
            </a:extLst>
          </p:cNvPr>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2F9BE4A7-3F11-CF86-2529-0728642C53D4}"/>
              </a:ext>
            </a:extLst>
          </p:cNvPr>
          <p:cNvSpPr>
            <a:spLocks noGrp="1"/>
          </p:cNvSpPr>
          <p:nvPr>
            <p:ph type="body" idx="1"/>
          </p:nvPr>
        </p:nvSpPr>
        <p:spPr>
          <a:xfrm>
            <a:off x="514350" y="4400550"/>
            <a:ext cx="4114800" cy="3600450"/>
          </a:xfrm>
          <a:prstGeom prst="rect">
            <a:avLst/>
          </a:prstGeom>
        </p:spPr>
        <p:txBody>
          <a:bodyPr/>
          <a:lstStyle/>
          <a:p>
            <a:r>
              <a:rPr lang="es-ES"/>
              <a:t>Similar diagram idea as the one that Katarina did to explain what a hidden markov model is</a:t>
            </a:r>
            <a:endParaRPr lang="en-GB"/>
          </a:p>
        </p:txBody>
      </p:sp>
    </p:spTree>
    <p:extLst>
      <p:ext uri="{BB962C8B-B14F-4D97-AF65-F5344CB8AC3E}">
        <p14:creationId xmlns:p14="http://schemas.microsoft.com/office/powerpoint/2010/main" val="21954332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6A323-07F0-3F00-204B-EDD1FE7231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667F4A-AE8A-F432-4E0C-D5F74A8B903F}"/>
              </a:ext>
            </a:extLst>
          </p:cNvPr>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5F00B049-CA6D-FEE3-515D-10BA6C92AB6F}"/>
              </a:ext>
            </a:extLst>
          </p:cNvPr>
          <p:cNvSpPr>
            <a:spLocks noGrp="1"/>
          </p:cNvSpPr>
          <p:nvPr>
            <p:ph type="body" idx="1"/>
          </p:nvPr>
        </p:nvSpPr>
        <p:spPr>
          <a:xfrm>
            <a:off x="514350" y="4400550"/>
            <a:ext cx="4114800" cy="3600450"/>
          </a:xfrm>
          <a:prstGeom prst="rect">
            <a:avLst/>
          </a:prstGeom>
        </p:spPr>
        <p:txBody>
          <a:bodyPr/>
          <a:lstStyle/>
          <a:p>
            <a:r>
              <a:rPr lang="es-ES"/>
              <a:t>Similar diagram idea as the one that Katarina did to explain what a hidden markov model is</a:t>
            </a:r>
            <a:endParaRPr lang="en-GB"/>
          </a:p>
        </p:txBody>
      </p:sp>
    </p:spTree>
    <p:extLst>
      <p:ext uri="{BB962C8B-B14F-4D97-AF65-F5344CB8AC3E}">
        <p14:creationId xmlns:p14="http://schemas.microsoft.com/office/powerpoint/2010/main" val="30062774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D45723-AEE8-8378-07F3-31B8BA1324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8E66C5-877B-6E8F-9582-2F8E7AB17E9C}"/>
              </a:ext>
            </a:extLst>
          </p:cNvPr>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C88DA392-1D21-2596-2529-ADC421FC3ACE}"/>
              </a:ext>
            </a:extLst>
          </p:cNvPr>
          <p:cNvSpPr>
            <a:spLocks noGrp="1"/>
          </p:cNvSpPr>
          <p:nvPr>
            <p:ph type="body" idx="1"/>
          </p:nvPr>
        </p:nvSpPr>
        <p:spPr>
          <a:xfrm>
            <a:off x="514350" y="4400550"/>
            <a:ext cx="4114800" cy="3600450"/>
          </a:xfrm>
          <a:prstGeom prst="rect">
            <a:avLst/>
          </a:prstGeom>
        </p:spPr>
        <p:txBody>
          <a:bodyPr/>
          <a:lstStyle/>
          <a:p>
            <a:r>
              <a:rPr lang="es-ES"/>
              <a:t>Now the things get a bit more complicated, because in reality, we do not now the hidden states, we only know the visible observation, and the chance of a hidden state producing a visible observation is called the emission probability</a:t>
            </a:r>
            <a:endParaRPr lang="en-GB"/>
          </a:p>
        </p:txBody>
      </p:sp>
    </p:spTree>
    <p:extLst>
      <p:ext uri="{BB962C8B-B14F-4D97-AF65-F5344CB8AC3E}">
        <p14:creationId xmlns:p14="http://schemas.microsoft.com/office/powerpoint/2010/main" val="31936492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s-ES"/>
              <a:t>Aquí meter un grafico que sea la combinacion de RNA y el genoma, mapeandolo y luego de ahí se saca la evidencia. A lo mejor un gráfico similar al de Katerina, que se vaya viendo la integración!</a:t>
            </a:r>
          </a:p>
        </p:txBody>
      </p:sp>
    </p:spTree>
    <p:extLst>
      <p:ext uri="{BB962C8B-B14F-4D97-AF65-F5344CB8AC3E}">
        <p14:creationId xmlns:p14="http://schemas.microsoft.com/office/powerpoint/2010/main" val="33374472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s-ES"/>
              <a:t>Hacer un cuestario en el que digan que columnas de SQANTI-classification nos sirven si no nos podemos fiar de la referencia</a:t>
            </a:r>
            <a:endParaRPr lang="en-GB"/>
          </a:p>
        </p:txBody>
      </p:sp>
    </p:spTree>
    <p:extLst>
      <p:ext uri="{BB962C8B-B14F-4D97-AF65-F5344CB8AC3E}">
        <p14:creationId xmlns:p14="http://schemas.microsoft.com/office/powerpoint/2010/main" val="4615851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s-ES"/>
              <a:t>Una explicacion sobre el pipeline, contando como funciona la prediccion incial de genes.</a:t>
            </a:r>
            <a:endParaRPr lang="en-GB"/>
          </a:p>
        </p:txBody>
      </p:sp>
    </p:spTree>
    <p:extLst>
      <p:ext uri="{BB962C8B-B14F-4D97-AF65-F5344CB8AC3E}">
        <p14:creationId xmlns:p14="http://schemas.microsoft.com/office/powerpoint/2010/main" val="180852518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irst_last_page">
    <p:spTree>
      <p:nvGrpSpPr>
        <p:cNvPr id="1" name=""/>
        <p:cNvGrpSpPr/>
        <p:nvPr/>
      </p:nvGrpSpPr>
      <p:grpSpPr>
        <a:xfrm>
          <a:off x="0" y="0"/>
          <a:ext cx="0" cy="0"/>
          <a:chOff x="0" y="0"/>
          <a:chExt cx="0" cy="0"/>
        </a:xfrm>
      </p:grpSpPr>
      <p:pic>
        <p:nvPicPr>
          <p:cNvPr id="3" name="Image 0" descr="preencoded.png">
            <a:extLst>
              <a:ext uri="{FF2B5EF4-FFF2-40B4-BE49-F238E27FC236}">
                <a16:creationId xmlns:a16="http://schemas.microsoft.com/office/drawing/2014/main" id="{76D3A1BF-6F1C-B281-8ED0-F5681273C62C}"/>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27107373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p:bg>
      <p:bgRef idx="1001">
        <a:schemeClr val="bg1"/>
      </p:bgRef>
    </p:bg>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EB86AE03-3878-2139-4099-A4BE803FBB0E}"/>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3" name="Shape 2">
            <a:extLst>
              <a:ext uri="{FF2B5EF4-FFF2-40B4-BE49-F238E27FC236}">
                <a16:creationId xmlns:a16="http://schemas.microsoft.com/office/drawing/2014/main" id="{834A7C44-3189-2592-E83C-B4D6B367BA93}"/>
              </a:ext>
            </a:extLst>
          </p:cNvPr>
          <p:cNvSpPr/>
          <p:nvPr userDrawn="1"/>
        </p:nvSpPr>
        <p:spPr>
          <a:xfrm>
            <a:off x="4143375" y="2982516"/>
            <a:ext cx="857250" cy="28575"/>
          </a:xfrm>
          <a:prstGeom prst="rect">
            <a:avLst/>
          </a:prstGeom>
          <a:solidFill>
            <a:srgbClr val="FF8C00"/>
          </a:solidFill>
          <a:ln/>
        </p:spPr>
        <p:txBody>
          <a:bodyPr/>
          <a:lstStyle/>
          <a:p>
            <a:endParaRPr lang="en-US"/>
          </a:p>
        </p:txBody>
      </p:sp>
    </p:spTree>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oc">
    <p:spTree>
      <p:nvGrpSpPr>
        <p:cNvPr id="1" name=""/>
        <p:cNvGrpSpPr/>
        <p:nvPr/>
      </p:nvGrpSpPr>
      <p:grpSpPr>
        <a:xfrm>
          <a:off x="0" y="0"/>
          <a:ext cx="0" cy="0"/>
          <a:chOff x="0" y="0"/>
          <a:chExt cx="0" cy="0"/>
        </a:xfrm>
      </p:grpSpPr>
      <p:pic>
        <p:nvPicPr>
          <p:cNvPr id="3" name="Image 0" descr="preencoded.png">
            <a:extLst>
              <a:ext uri="{FF2B5EF4-FFF2-40B4-BE49-F238E27FC236}">
                <a16:creationId xmlns:a16="http://schemas.microsoft.com/office/drawing/2014/main" id="{7333900A-0A21-91D6-0BC6-72F9C3601BA1}"/>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8" name="Shape 0">
            <a:extLst>
              <a:ext uri="{FF2B5EF4-FFF2-40B4-BE49-F238E27FC236}">
                <a16:creationId xmlns:a16="http://schemas.microsoft.com/office/drawing/2014/main" id="{0656EB34-8BEF-729F-C7A4-B3F1264C1A7B}"/>
              </a:ext>
            </a:extLst>
          </p:cNvPr>
          <p:cNvSpPr/>
          <p:nvPr userDrawn="1"/>
        </p:nvSpPr>
        <p:spPr>
          <a:xfrm>
            <a:off x="0" y="0"/>
            <a:ext cx="9144000" cy="514350"/>
          </a:xfrm>
          <a:prstGeom prst="rect">
            <a:avLst/>
          </a:prstGeom>
          <a:solidFill>
            <a:srgbClr val="0047AB"/>
          </a:solidFill>
          <a:ln/>
        </p:spPr>
        <p:txBody>
          <a:bodyPr/>
          <a:lstStyle/>
          <a:p>
            <a:endParaRPr lang="en-US"/>
          </a:p>
        </p:txBody>
      </p:sp>
      <p:sp>
        <p:nvSpPr>
          <p:cNvPr id="14" name="Text 15">
            <a:extLst>
              <a:ext uri="{FF2B5EF4-FFF2-40B4-BE49-F238E27FC236}">
                <a16:creationId xmlns:a16="http://schemas.microsoft.com/office/drawing/2014/main" id="{22566EAF-8BB7-C913-B2B0-C1CA21CADFB2}"/>
              </a:ext>
            </a:extLst>
          </p:cNvPr>
          <p:cNvSpPr/>
          <p:nvPr userDrawn="1"/>
        </p:nvSpPr>
        <p:spPr>
          <a:xfrm>
            <a:off x="278977" y="4966527"/>
            <a:ext cx="1305437" cy="123111"/>
          </a:xfrm>
          <a:prstGeom prst="rect">
            <a:avLst/>
          </a:prstGeom>
          <a:noFill/>
          <a:ln/>
        </p:spPr>
        <p:txBody>
          <a:bodyPr wrap="square" lIns="0" tIns="0" rIns="0" bIns="0" rtlCol="0" anchor="ctr">
            <a:spAutoFit/>
          </a:bodyPr>
          <a:lstStyle/>
          <a:p>
            <a:pPr marL="0" indent="0">
              <a:buNone/>
            </a:pPr>
            <a:r>
              <a:rPr lang="en-US" sz="800" dirty="0">
                <a:solidFill>
                  <a:srgbClr val="666666"/>
                </a:solidFill>
                <a:latin typeface="Arial" pitchFamily="34" charset="0"/>
                <a:ea typeface="Arial" pitchFamily="34" charset="-122"/>
                <a:cs typeface="Arial" pitchFamily="34" charset="-120"/>
              </a:rPr>
              <a:t>Long-reads Transcriptomics</a:t>
            </a:r>
            <a:endParaRPr lang="en-US" sz="800" dirty="0"/>
          </a:p>
        </p:txBody>
      </p:sp>
      <p:sp>
        <p:nvSpPr>
          <p:cNvPr id="15" name="Slide Number Placeholder 8">
            <a:extLst>
              <a:ext uri="{FF2B5EF4-FFF2-40B4-BE49-F238E27FC236}">
                <a16:creationId xmlns:a16="http://schemas.microsoft.com/office/drawing/2014/main" id="{63DEA6DA-0035-52E8-C3CD-8F955E96538E}"/>
              </a:ext>
            </a:extLst>
          </p:cNvPr>
          <p:cNvSpPr>
            <a:spLocks noGrp="1"/>
          </p:cNvSpPr>
          <p:nvPr>
            <p:ph type="sldNum" sz="quarter" idx="4"/>
          </p:nvPr>
        </p:nvSpPr>
        <p:spPr>
          <a:xfrm>
            <a:off x="6807623" y="4890857"/>
            <a:ext cx="2057400" cy="274637"/>
          </a:xfrm>
          <a:prstGeom prst="rect">
            <a:avLst/>
          </a:prstGeom>
        </p:spPr>
        <p:txBody>
          <a:bodyPr vert="horz" lIns="91440" tIns="45720" rIns="91440" bIns="45720" rtlCol="0" anchor="ctr"/>
          <a:lstStyle>
            <a:lvl1pPr algn="r">
              <a:defRPr sz="800">
                <a:solidFill>
                  <a:schemeClr val="tx1">
                    <a:tint val="82000"/>
                  </a:schemeClr>
                </a:solidFill>
              </a:defRPr>
            </a:lvl1pPr>
          </a:lstStyle>
          <a:p>
            <a:fld id="{38FB3DE5-0BF2-9949-8E8E-62041A1EAFCC}" type="slidenum">
              <a:rPr lang="en-US" smtClean="0"/>
              <a:pPr/>
              <a:t>‹#›</a:t>
            </a:fld>
            <a:endParaRPr lang="en-US"/>
          </a:p>
        </p:txBody>
      </p:sp>
      <p:sp>
        <p:nvSpPr>
          <p:cNvPr id="16" name="Title 9">
            <a:extLst>
              <a:ext uri="{FF2B5EF4-FFF2-40B4-BE49-F238E27FC236}">
                <a16:creationId xmlns:a16="http://schemas.microsoft.com/office/drawing/2014/main" id="{84A4C2B4-7358-EEA5-8321-7784F71C7A39}"/>
              </a:ext>
            </a:extLst>
          </p:cNvPr>
          <p:cNvSpPr>
            <a:spLocks noGrp="1"/>
          </p:cNvSpPr>
          <p:nvPr>
            <p:ph type="title"/>
          </p:nvPr>
        </p:nvSpPr>
        <p:spPr>
          <a:xfrm>
            <a:off x="195861" y="110192"/>
            <a:ext cx="7700364" cy="340289"/>
          </a:xfrm>
          <a:prstGeom prst="rect">
            <a:avLst/>
          </a:prstGeom>
        </p:spPr>
        <p:txBody>
          <a:bodyPr/>
          <a:lstStyle>
            <a:lvl1pPr algn="l">
              <a:defRPr sz="1600" b="1">
                <a:solidFill>
                  <a:schemeClr val="bg1"/>
                </a:solidFill>
              </a:defRPr>
            </a:lvl1pPr>
          </a:lstStyle>
          <a:p>
            <a:r>
              <a:rPr lang="en-US"/>
              <a:t>Click to edit Master title style</a:t>
            </a:r>
            <a:endParaRPr lang="en-US" dirty="0"/>
          </a:p>
        </p:txBody>
      </p:sp>
      <p:grpSp>
        <p:nvGrpSpPr>
          <p:cNvPr id="6" name="Group 5">
            <a:extLst>
              <a:ext uri="{FF2B5EF4-FFF2-40B4-BE49-F238E27FC236}">
                <a16:creationId xmlns:a16="http://schemas.microsoft.com/office/drawing/2014/main" id="{3F10C08A-E6BC-A722-FBF3-B52E8703FE02}"/>
              </a:ext>
            </a:extLst>
          </p:cNvPr>
          <p:cNvGrpSpPr/>
          <p:nvPr userDrawn="1"/>
        </p:nvGrpSpPr>
        <p:grpSpPr>
          <a:xfrm>
            <a:off x="8040089" y="88760"/>
            <a:ext cx="1021557" cy="320814"/>
            <a:chOff x="7196137" y="110192"/>
            <a:chExt cx="1021557" cy="320814"/>
          </a:xfrm>
        </p:grpSpPr>
        <p:sp>
          <p:nvSpPr>
            <p:cNvPr id="7" name="Rectangle 6">
              <a:extLst>
                <a:ext uri="{FF2B5EF4-FFF2-40B4-BE49-F238E27FC236}">
                  <a16:creationId xmlns:a16="http://schemas.microsoft.com/office/drawing/2014/main" id="{ABF1035B-D32D-6596-5264-71C0A0811BE2}"/>
                </a:ext>
              </a:extLst>
            </p:cNvPr>
            <p:cNvSpPr/>
            <p:nvPr userDrawn="1"/>
          </p:nvSpPr>
          <p:spPr>
            <a:xfrm>
              <a:off x="7196137" y="110192"/>
              <a:ext cx="1021557" cy="3208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 name="Picture 9">
              <a:extLst>
                <a:ext uri="{FF2B5EF4-FFF2-40B4-BE49-F238E27FC236}">
                  <a16:creationId xmlns:a16="http://schemas.microsoft.com/office/drawing/2014/main" id="{712F8541-EC97-A601-3A51-84E5D7226E21}"/>
                </a:ext>
              </a:extLst>
            </p:cNvPr>
            <p:cNvPicPr>
              <a:picLocks noChangeAspect="1"/>
            </p:cNvPicPr>
            <p:nvPr userDrawn="1"/>
          </p:nvPicPr>
          <p:blipFill>
            <a:blip r:embed="rId3"/>
            <a:stretch>
              <a:fillRect/>
            </a:stretch>
          </p:blipFill>
          <p:spPr>
            <a:xfrm>
              <a:off x="7215185" y="121443"/>
              <a:ext cx="974457" cy="298125"/>
            </a:xfrm>
            <a:prstGeom prst="rect">
              <a:avLst/>
            </a:prstGeom>
          </p:spPr>
        </p:pic>
      </p:grpSp>
    </p:spTree>
    <p:extLst>
      <p:ext uri="{BB962C8B-B14F-4D97-AF65-F5344CB8AC3E}">
        <p14:creationId xmlns:p14="http://schemas.microsoft.com/office/powerpoint/2010/main" val="158340271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ain">
    <p:spTree>
      <p:nvGrpSpPr>
        <p:cNvPr id="1" name=""/>
        <p:cNvGrpSpPr/>
        <p:nvPr/>
      </p:nvGrpSpPr>
      <p:grpSpPr>
        <a:xfrm>
          <a:off x="0" y="0"/>
          <a:ext cx="0" cy="0"/>
          <a:chOff x="0" y="0"/>
          <a:chExt cx="0" cy="0"/>
        </a:xfrm>
      </p:grpSpPr>
      <p:pic>
        <p:nvPicPr>
          <p:cNvPr id="3" name="Image 0" descr="preencoded.png">
            <a:extLst>
              <a:ext uri="{FF2B5EF4-FFF2-40B4-BE49-F238E27FC236}">
                <a16:creationId xmlns:a16="http://schemas.microsoft.com/office/drawing/2014/main" id="{DBDB3EC4-127B-8DB8-0B65-11DFC2A243AE}"/>
              </a:ext>
            </a:extLst>
          </p:cNvPr>
          <p:cNvPicPr>
            <a:picLocks noChangeAspect="1"/>
          </p:cNvPicPr>
          <p:nvPr userDrawn="1"/>
        </p:nvPicPr>
        <p:blipFill>
          <a:blip r:embed="rId2"/>
          <a:stretch>
            <a:fillRect/>
          </a:stretch>
        </p:blipFill>
        <p:spPr>
          <a:xfrm>
            <a:off x="0" y="-19050"/>
            <a:ext cx="9144000" cy="5143500"/>
          </a:xfrm>
          <a:prstGeom prst="rect">
            <a:avLst/>
          </a:prstGeom>
        </p:spPr>
      </p:pic>
      <p:sp>
        <p:nvSpPr>
          <p:cNvPr id="4" name="Shape 0">
            <a:extLst>
              <a:ext uri="{FF2B5EF4-FFF2-40B4-BE49-F238E27FC236}">
                <a16:creationId xmlns:a16="http://schemas.microsoft.com/office/drawing/2014/main" id="{D52A0FAE-5DD7-9140-68BC-11C57A5E7F25}"/>
              </a:ext>
            </a:extLst>
          </p:cNvPr>
          <p:cNvSpPr/>
          <p:nvPr userDrawn="1"/>
        </p:nvSpPr>
        <p:spPr>
          <a:xfrm>
            <a:off x="0" y="-38100"/>
            <a:ext cx="9144000" cy="558800"/>
          </a:xfrm>
          <a:prstGeom prst="rect">
            <a:avLst/>
          </a:prstGeom>
          <a:solidFill>
            <a:srgbClr val="0047AB"/>
          </a:solidFill>
          <a:ln/>
        </p:spPr>
        <p:txBody>
          <a:bodyPr/>
          <a:lstStyle/>
          <a:p>
            <a:endParaRPr lang="en-US"/>
          </a:p>
        </p:txBody>
      </p:sp>
      <p:sp>
        <p:nvSpPr>
          <p:cNvPr id="6" name="Shape 13">
            <a:extLst>
              <a:ext uri="{FF2B5EF4-FFF2-40B4-BE49-F238E27FC236}">
                <a16:creationId xmlns:a16="http://schemas.microsoft.com/office/drawing/2014/main" id="{9F487DB7-7893-6F35-257B-69A287402663}"/>
              </a:ext>
            </a:extLst>
          </p:cNvPr>
          <p:cNvSpPr/>
          <p:nvPr userDrawn="1"/>
        </p:nvSpPr>
        <p:spPr>
          <a:xfrm>
            <a:off x="0" y="4850606"/>
            <a:ext cx="9144000" cy="292894"/>
          </a:xfrm>
          <a:prstGeom prst="rect">
            <a:avLst/>
          </a:prstGeom>
          <a:solidFill>
            <a:srgbClr val="F5F5F5"/>
          </a:solidFill>
          <a:ln/>
        </p:spPr>
        <p:txBody>
          <a:bodyPr/>
          <a:lstStyle/>
          <a:p>
            <a:endParaRPr lang="en-US"/>
          </a:p>
        </p:txBody>
      </p:sp>
      <p:sp>
        <p:nvSpPr>
          <p:cNvPr id="7" name="Text 15">
            <a:extLst>
              <a:ext uri="{FF2B5EF4-FFF2-40B4-BE49-F238E27FC236}">
                <a16:creationId xmlns:a16="http://schemas.microsoft.com/office/drawing/2014/main" id="{44F95E02-841A-592C-6ED8-65F90CAC75EB}"/>
              </a:ext>
            </a:extLst>
          </p:cNvPr>
          <p:cNvSpPr/>
          <p:nvPr userDrawn="1"/>
        </p:nvSpPr>
        <p:spPr>
          <a:xfrm>
            <a:off x="278977" y="4935497"/>
            <a:ext cx="1305437" cy="123111"/>
          </a:xfrm>
          <a:prstGeom prst="rect">
            <a:avLst/>
          </a:prstGeom>
          <a:noFill/>
          <a:ln/>
        </p:spPr>
        <p:txBody>
          <a:bodyPr wrap="square" lIns="0" tIns="0" rIns="0" bIns="0" rtlCol="0" anchor="ctr">
            <a:spAutoFit/>
          </a:bodyPr>
          <a:lstStyle/>
          <a:p>
            <a:pPr marL="0" indent="0">
              <a:buNone/>
            </a:pPr>
            <a:r>
              <a:rPr lang="en-US" sz="800" dirty="0">
                <a:solidFill>
                  <a:srgbClr val="666666"/>
                </a:solidFill>
                <a:latin typeface="Arial" pitchFamily="34" charset="0"/>
                <a:ea typeface="Arial" pitchFamily="34" charset="-122"/>
                <a:cs typeface="Arial" pitchFamily="34" charset="-120"/>
              </a:rPr>
              <a:t>Long-reads Transcriptomics</a:t>
            </a:r>
            <a:endParaRPr lang="en-US" sz="800" dirty="0"/>
          </a:p>
        </p:txBody>
      </p:sp>
      <p:sp>
        <p:nvSpPr>
          <p:cNvPr id="8" name="Slide Number Placeholder 8">
            <a:extLst>
              <a:ext uri="{FF2B5EF4-FFF2-40B4-BE49-F238E27FC236}">
                <a16:creationId xmlns:a16="http://schemas.microsoft.com/office/drawing/2014/main" id="{24796D1D-577A-6319-1CA1-19E59E8A967F}"/>
              </a:ext>
            </a:extLst>
          </p:cNvPr>
          <p:cNvSpPr>
            <a:spLocks noGrp="1"/>
          </p:cNvSpPr>
          <p:nvPr>
            <p:ph type="sldNum" sz="quarter" idx="4"/>
          </p:nvPr>
        </p:nvSpPr>
        <p:spPr>
          <a:xfrm>
            <a:off x="6807623" y="4890857"/>
            <a:ext cx="2057400" cy="274637"/>
          </a:xfrm>
          <a:prstGeom prst="rect">
            <a:avLst/>
          </a:prstGeom>
        </p:spPr>
        <p:txBody>
          <a:bodyPr vert="horz" lIns="91440" tIns="45720" rIns="91440" bIns="45720" rtlCol="0" anchor="ctr"/>
          <a:lstStyle>
            <a:lvl1pPr algn="r">
              <a:defRPr sz="800">
                <a:solidFill>
                  <a:schemeClr val="tx1">
                    <a:tint val="82000"/>
                  </a:schemeClr>
                </a:solidFill>
              </a:defRPr>
            </a:lvl1pPr>
          </a:lstStyle>
          <a:p>
            <a:fld id="{38FB3DE5-0BF2-9949-8E8E-62041A1EAFCC}" type="slidenum">
              <a:rPr lang="en-US" smtClean="0"/>
              <a:pPr/>
              <a:t>‹#›</a:t>
            </a:fld>
            <a:endParaRPr lang="en-US"/>
          </a:p>
        </p:txBody>
      </p:sp>
      <p:sp>
        <p:nvSpPr>
          <p:cNvPr id="10" name="Title 9">
            <a:extLst>
              <a:ext uri="{FF2B5EF4-FFF2-40B4-BE49-F238E27FC236}">
                <a16:creationId xmlns:a16="http://schemas.microsoft.com/office/drawing/2014/main" id="{F971F105-4880-47AF-28B3-B781B2D4E309}"/>
              </a:ext>
            </a:extLst>
          </p:cNvPr>
          <p:cNvSpPr>
            <a:spLocks noGrp="1"/>
          </p:cNvSpPr>
          <p:nvPr>
            <p:ph type="title"/>
          </p:nvPr>
        </p:nvSpPr>
        <p:spPr>
          <a:xfrm>
            <a:off x="195861" y="110192"/>
            <a:ext cx="7585660" cy="340289"/>
          </a:xfrm>
          <a:prstGeom prst="rect">
            <a:avLst/>
          </a:prstGeom>
        </p:spPr>
        <p:txBody>
          <a:bodyPr/>
          <a:lstStyle>
            <a:lvl1pPr algn="l">
              <a:defRPr sz="1600" b="1">
                <a:solidFill>
                  <a:schemeClr val="bg1"/>
                </a:solidFill>
              </a:defRPr>
            </a:lvl1pPr>
          </a:lstStyle>
          <a:p>
            <a:r>
              <a:rPr lang="en-US"/>
              <a:t>Click to edit Master title style</a:t>
            </a:r>
            <a:endParaRPr lang="en-US" dirty="0"/>
          </a:p>
        </p:txBody>
      </p:sp>
      <p:grpSp>
        <p:nvGrpSpPr>
          <p:cNvPr id="12" name="Group 11">
            <a:extLst>
              <a:ext uri="{FF2B5EF4-FFF2-40B4-BE49-F238E27FC236}">
                <a16:creationId xmlns:a16="http://schemas.microsoft.com/office/drawing/2014/main" id="{2E339892-B791-D066-9350-A03321DF52AE}"/>
              </a:ext>
            </a:extLst>
          </p:cNvPr>
          <p:cNvGrpSpPr/>
          <p:nvPr userDrawn="1"/>
        </p:nvGrpSpPr>
        <p:grpSpPr>
          <a:xfrm>
            <a:off x="8040089" y="76060"/>
            <a:ext cx="1021557" cy="320814"/>
            <a:chOff x="7196137" y="110192"/>
            <a:chExt cx="1021557" cy="320814"/>
          </a:xfrm>
        </p:grpSpPr>
        <p:sp>
          <p:nvSpPr>
            <p:cNvPr id="11" name="Rectangle 10">
              <a:extLst>
                <a:ext uri="{FF2B5EF4-FFF2-40B4-BE49-F238E27FC236}">
                  <a16:creationId xmlns:a16="http://schemas.microsoft.com/office/drawing/2014/main" id="{B54A2F80-CA63-7783-37A7-DC707427E03D}"/>
                </a:ext>
              </a:extLst>
            </p:cNvPr>
            <p:cNvSpPr/>
            <p:nvPr userDrawn="1"/>
          </p:nvSpPr>
          <p:spPr>
            <a:xfrm>
              <a:off x="7196137" y="110192"/>
              <a:ext cx="1021557" cy="3208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Picture 8">
              <a:extLst>
                <a:ext uri="{FF2B5EF4-FFF2-40B4-BE49-F238E27FC236}">
                  <a16:creationId xmlns:a16="http://schemas.microsoft.com/office/drawing/2014/main" id="{BBA3CA9B-B80D-3B4C-4476-10CFEC57F377}"/>
                </a:ext>
              </a:extLst>
            </p:cNvPr>
            <p:cNvPicPr>
              <a:picLocks noChangeAspect="1"/>
            </p:cNvPicPr>
            <p:nvPr userDrawn="1"/>
          </p:nvPicPr>
          <p:blipFill>
            <a:blip r:embed="rId3"/>
            <a:stretch>
              <a:fillRect/>
            </a:stretch>
          </p:blipFill>
          <p:spPr>
            <a:xfrm>
              <a:off x="7215185" y="121443"/>
              <a:ext cx="974457" cy="298125"/>
            </a:xfrm>
            <a:prstGeom prst="rect">
              <a:avLst/>
            </a:prstGeom>
          </p:spPr>
        </p:pic>
      </p:grpSp>
      <p:sp>
        <p:nvSpPr>
          <p:cNvPr id="14" name="Text Placeholder 13">
            <a:extLst>
              <a:ext uri="{FF2B5EF4-FFF2-40B4-BE49-F238E27FC236}">
                <a16:creationId xmlns:a16="http://schemas.microsoft.com/office/drawing/2014/main" id="{61649F5D-37E4-10F0-7C80-BF823A4738F6}"/>
              </a:ext>
            </a:extLst>
          </p:cNvPr>
          <p:cNvSpPr>
            <a:spLocks noGrp="1"/>
          </p:cNvSpPr>
          <p:nvPr>
            <p:ph type="body" sz="quarter" idx="10"/>
          </p:nvPr>
        </p:nvSpPr>
        <p:spPr>
          <a:xfrm>
            <a:off x="195263" y="762000"/>
            <a:ext cx="8669337" cy="3952875"/>
          </a:xfrm>
          <a:prstGeom prst="rect">
            <a:avLst/>
          </a:prstGeom>
        </p:spPr>
        <p:txBody>
          <a:bodyPr/>
          <a:lstStyle>
            <a:lvl1pPr>
              <a:buClr>
                <a:srgbClr val="FF8C00"/>
              </a:buClr>
              <a:buSzPct val="150000"/>
              <a:defRPr sz="1800"/>
            </a:lvl1pPr>
            <a:lvl2pPr>
              <a:buClr>
                <a:srgbClr val="FF8C00"/>
              </a:buClr>
              <a:buSzPct val="100000"/>
              <a:defRPr sz="1600"/>
            </a:lvl2pPr>
            <a:lvl3pPr>
              <a:buClr>
                <a:srgbClr val="FF8C00"/>
              </a:buClr>
              <a:defRPr sz="1400"/>
            </a:lvl3pPr>
            <a:lvl4pPr>
              <a:buClr>
                <a:srgbClr val="FF8C00"/>
              </a:buClr>
              <a:defRPr sz="1200"/>
            </a:lvl4pPr>
            <a:lvl5pPr>
              <a:buClr>
                <a:srgbClr val="FF8C00"/>
              </a:buCl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236065995"/>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8B9355-80E0-E8A2-0643-D64EE918CBF6}"/>
              </a:ext>
            </a:extLst>
          </p:cNvPr>
          <p:cNvSpPr>
            <a:spLocks noGrp="1"/>
          </p:cNvSpPr>
          <p:nvPr>
            <p:ph type="title"/>
          </p:nvPr>
        </p:nvSpPr>
        <p:spPr/>
        <p:txBody>
          <a:bodyPr/>
          <a:lstStyle/>
          <a:p>
            <a:r>
              <a:rPr lang="en-US"/>
              <a:t>Click to edit Master title style</a:t>
            </a:r>
            <a:endParaRPr lang="en-ES"/>
          </a:p>
        </p:txBody>
      </p:sp>
      <p:sp>
        <p:nvSpPr>
          <p:cNvPr id="3" name="Content Placeholder 2">
            <a:extLst>
              <a:ext uri="{FF2B5EF4-FFF2-40B4-BE49-F238E27FC236}">
                <a16:creationId xmlns:a16="http://schemas.microsoft.com/office/drawing/2014/main" id="{E5AE7AB8-82E3-FA98-D238-DC6AFCCD701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ES"/>
          </a:p>
        </p:txBody>
      </p:sp>
      <p:sp>
        <p:nvSpPr>
          <p:cNvPr id="4" name="Date Placeholder 3">
            <a:extLst>
              <a:ext uri="{FF2B5EF4-FFF2-40B4-BE49-F238E27FC236}">
                <a16:creationId xmlns:a16="http://schemas.microsoft.com/office/drawing/2014/main" id="{E72E8C85-B6F8-3097-20C9-A578CCFA0D87}"/>
              </a:ext>
            </a:extLst>
          </p:cNvPr>
          <p:cNvSpPr>
            <a:spLocks noGrp="1"/>
          </p:cNvSpPr>
          <p:nvPr>
            <p:ph type="dt" sz="half" idx="10"/>
          </p:nvPr>
        </p:nvSpPr>
        <p:spPr/>
        <p:txBody>
          <a:bodyPr/>
          <a:lstStyle/>
          <a:p>
            <a:fld id="{C9E71E39-0EDF-BF42-931C-AF617959138A}" type="datetime1">
              <a:rPr lang="es-ES_tradnl" smtClean="0"/>
              <a:t>12/06/2026</a:t>
            </a:fld>
            <a:endParaRPr lang="en-ES"/>
          </a:p>
        </p:txBody>
      </p:sp>
      <p:sp>
        <p:nvSpPr>
          <p:cNvPr id="5" name="Footer Placeholder 4">
            <a:extLst>
              <a:ext uri="{FF2B5EF4-FFF2-40B4-BE49-F238E27FC236}">
                <a16:creationId xmlns:a16="http://schemas.microsoft.com/office/drawing/2014/main" id="{FAD73887-385D-1193-5A43-7CD3E9C9128A}"/>
              </a:ext>
            </a:extLst>
          </p:cNvPr>
          <p:cNvSpPr>
            <a:spLocks noGrp="1"/>
          </p:cNvSpPr>
          <p:nvPr>
            <p:ph type="ftr" sz="quarter" idx="11"/>
          </p:nvPr>
        </p:nvSpPr>
        <p:spPr/>
        <p:txBody>
          <a:bodyPr/>
          <a:lstStyle/>
          <a:p>
            <a:endParaRPr lang="en-ES"/>
          </a:p>
        </p:txBody>
      </p:sp>
      <p:sp>
        <p:nvSpPr>
          <p:cNvPr id="6" name="Slide Number Placeholder 5">
            <a:extLst>
              <a:ext uri="{FF2B5EF4-FFF2-40B4-BE49-F238E27FC236}">
                <a16:creationId xmlns:a16="http://schemas.microsoft.com/office/drawing/2014/main" id="{EC3540F6-B38A-05F2-0CB8-4DDEF9089533}"/>
              </a:ext>
            </a:extLst>
          </p:cNvPr>
          <p:cNvSpPr>
            <a:spLocks noGrp="1"/>
          </p:cNvSpPr>
          <p:nvPr>
            <p:ph type="sldNum" sz="quarter" idx="12"/>
          </p:nvPr>
        </p:nvSpPr>
        <p:spPr/>
        <p:txBody>
          <a:bodyPr/>
          <a:lstStyle/>
          <a:p>
            <a:fld id="{51953819-CDAE-4B49-8708-AAC5C83D7CFB}" type="slidenum">
              <a:rPr lang="en-ES" smtClean="0"/>
              <a:t>‹#›</a:t>
            </a:fld>
            <a:endParaRPr lang="en-ES"/>
          </a:p>
        </p:txBody>
      </p:sp>
    </p:spTree>
    <p:extLst>
      <p:ext uri="{BB962C8B-B14F-4D97-AF65-F5344CB8AC3E}">
        <p14:creationId xmlns:p14="http://schemas.microsoft.com/office/powerpoint/2010/main" val="38527768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49" r:id="rId2"/>
    <p:sldLayoutId id="2147483650" r:id="rId3"/>
    <p:sldLayoutId id="2147483652" r:id="rId4"/>
    <p:sldLayoutId id="2147483654" r:id="rId5"/>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11.jpe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descr="preencoded.png">
            <a:extLst>
              <a:ext uri="{FF2B5EF4-FFF2-40B4-BE49-F238E27FC236}">
                <a16:creationId xmlns:a16="http://schemas.microsoft.com/office/drawing/2014/main" id="{FE02196B-C3EF-E373-12A8-ABBD288A7F39}"/>
              </a:ext>
            </a:extLst>
          </p:cNvPr>
          <p:cNvPicPr>
            <a:picLocks noChangeAspect="1"/>
          </p:cNvPicPr>
          <p:nvPr/>
        </p:nvPicPr>
        <p:blipFill>
          <a:blip r:embed="rId2"/>
          <a:stretch>
            <a:fillRect/>
          </a:stretch>
        </p:blipFill>
        <p:spPr>
          <a:xfrm>
            <a:off x="5986538" y="366256"/>
            <a:ext cx="3157461" cy="666131"/>
          </a:xfrm>
          <a:prstGeom prst="rect">
            <a:avLst/>
          </a:prstGeom>
        </p:spPr>
      </p:pic>
      <p:sp>
        <p:nvSpPr>
          <p:cNvPr id="3" name="Text 0">
            <a:extLst>
              <a:ext uri="{FF2B5EF4-FFF2-40B4-BE49-F238E27FC236}">
                <a16:creationId xmlns:a16="http://schemas.microsoft.com/office/drawing/2014/main" id="{437D2A66-D3EB-75E4-B05B-CB20DB265198}"/>
              </a:ext>
            </a:extLst>
          </p:cNvPr>
          <p:cNvSpPr/>
          <p:nvPr/>
        </p:nvSpPr>
        <p:spPr>
          <a:xfrm>
            <a:off x="1983116" y="2314575"/>
            <a:ext cx="5177768" cy="514350"/>
          </a:xfrm>
          <a:prstGeom prst="rect">
            <a:avLst/>
          </a:prstGeom>
          <a:noFill/>
          <a:ln/>
        </p:spPr>
        <p:txBody>
          <a:bodyPr wrap="square" lIns="0" tIns="0" rIns="0" bIns="0" rtlCol="0" anchor="ctr">
            <a:spAutoFit/>
          </a:bodyPr>
          <a:lstStyle/>
          <a:p>
            <a:pPr marL="0" indent="0" algn="ctr">
              <a:buNone/>
            </a:pPr>
            <a:r>
              <a:rPr lang="en-US" sz="2700" b="1" dirty="0">
                <a:solidFill>
                  <a:srgbClr val="FFFFFF"/>
                </a:solidFill>
                <a:latin typeface="Arial" pitchFamily="34" charset="0"/>
                <a:ea typeface="Arial" pitchFamily="34" charset="-122"/>
                <a:cs typeface="Arial" pitchFamily="34" charset="-120"/>
              </a:rPr>
              <a:t>Bioinformatics Summer School</a:t>
            </a:r>
            <a:endParaRPr lang="en-US" sz="2700" dirty="0"/>
          </a:p>
        </p:txBody>
      </p:sp>
      <p:sp>
        <p:nvSpPr>
          <p:cNvPr id="4" name="Text 1">
            <a:extLst>
              <a:ext uri="{FF2B5EF4-FFF2-40B4-BE49-F238E27FC236}">
                <a16:creationId xmlns:a16="http://schemas.microsoft.com/office/drawing/2014/main" id="{5A2A2202-2830-5D69-0C87-70AD17AE61BB}"/>
              </a:ext>
            </a:extLst>
          </p:cNvPr>
          <p:cNvSpPr/>
          <p:nvPr/>
        </p:nvSpPr>
        <p:spPr>
          <a:xfrm>
            <a:off x="2807061" y="2788080"/>
            <a:ext cx="3529878" cy="623248"/>
          </a:xfrm>
          <a:prstGeom prst="rect">
            <a:avLst/>
          </a:prstGeom>
          <a:noFill/>
          <a:ln/>
        </p:spPr>
        <p:txBody>
          <a:bodyPr wrap="square" lIns="0" tIns="0" rIns="0" bIns="0" rtlCol="0" anchor="ctr">
            <a:spAutoFit/>
          </a:bodyPr>
          <a:lstStyle/>
          <a:p>
            <a:pPr marL="0" indent="0" algn="ctr">
              <a:buNone/>
            </a:pPr>
            <a:r>
              <a:rPr lang="en-US" sz="2025" b="1">
                <a:solidFill>
                  <a:srgbClr val="FFFFFF"/>
                </a:solidFill>
                <a:latin typeface="Arial" pitchFamily="34" charset="0"/>
                <a:cs typeface="Arial" pitchFamily="34" charset="-120"/>
              </a:rPr>
              <a:t>Structural Genome Annotation</a:t>
            </a:r>
            <a:endParaRPr lang="en-US" sz="2025" dirty="0"/>
          </a:p>
        </p:txBody>
      </p:sp>
      <p:sp>
        <p:nvSpPr>
          <p:cNvPr id="5" name="Text 2">
            <a:extLst>
              <a:ext uri="{FF2B5EF4-FFF2-40B4-BE49-F238E27FC236}">
                <a16:creationId xmlns:a16="http://schemas.microsoft.com/office/drawing/2014/main" id="{46DAA440-B861-0240-74B2-DB786C53F3BA}"/>
              </a:ext>
            </a:extLst>
          </p:cNvPr>
          <p:cNvSpPr/>
          <p:nvPr/>
        </p:nvSpPr>
        <p:spPr>
          <a:xfrm>
            <a:off x="3845587" y="3579357"/>
            <a:ext cx="1452835" cy="190501"/>
          </a:xfrm>
          <a:prstGeom prst="rect">
            <a:avLst/>
          </a:prstGeom>
          <a:noFill/>
          <a:ln/>
        </p:spPr>
        <p:txBody>
          <a:bodyPr wrap="none" lIns="0" tIns="0" rIns="0" bIns="0" rtlCol="0" anchor="ctr">
            <a:spAutoFit/>
          </a:bodyPr>
          <a:lstStyle/>
          <a:p>
            <a:pPr marL="0" indent="0" algn="ctr">
              <a:buNone/>
            </a:pPr>
            <a:r>
              <a:rPr lang="en-US" sz="1238" i="1">
                <a:solidFill>
                  <a:srgbClr val="FFFFFF"/>
                </a:solidFill>
                <a:latin typeface="Arial" pitchFamily="34" charset="0"/>
                <a:ea typeface="Arial" pitchFamily="34" charset="-122"/>
                <a:cs typeface="Arial" pitchFamily="34" charset="-120"/>
              </a:rPr>
              <a:t>Pablo Atienza López</a:t>
            </a:r>
            <a:endParaRPr lang="en-US" sz="1238" dirty="0"/>
          </a:p>
        </p:txBody>
      </p:sp>
      <p:grpSp>
        <p:nvGrpSpPr>
          <p:cNvPr id="10" name="Group 9">
            <a:extLst>
              <a:ext uri="{FF2B5EF4-FFF2-40B4-BE49-F238E27FC236}">
                <a16:creationId xmlns:a16="http://schemas.microsoft.com/office/drawing/2014/main" id="{0D300135-E5CE-8230-C572-3A6A3176462E}"/>
              </a:ext>
            </a:extLst>
          </p:cNvPr>
          <p:cNvGrpSpPr/>
          <p:nvPr/>
        </p:nvGrpSpPr>
        <p:grpSpPr>
          <a:xfrm>
            <a:off x="3420726" y="3976178"/>
            <a:ext cx="2302548" cy="518091"/>
            <a:chOff x="3827195" y="4043366"/>
            <a:chExt cx="2302548" cy="518091"/>
          </a:xfrm>
        </p:grpSpPr>
        <p:sp>
          <p:nvSpPr>
            <p:cNvPr id="11" name="Snip Diagonal Corner Rectangle 10">
              <a:extLst>
                <a:ext uri="{FF2B5EF4-FFF2-40B4-BE49-F238E27FC236}">
                  <a16:creationId xmlns:a16="http://schemas.microsoft.com/office/drawing/2014/main" id="{D92FC9AA-F839-F6FB-F65D-70E0C0E0A36A}"/>
                </a:ext>
              </a:extLst>
            </p:cNvPr>
            <p:cNvSpPr/>
            <p:nvPr/>
          </p:nvSpPr>
          <p:spPr>
            <a:xfrm rot="10800000">
              <a:off x="3862915" y="4123817"/>
              <a:ext cx="2231109" cy="357188"/>
            </a:xfrm>
            <a:prstGeom prst="snip2DiagRect">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 4">
              <a:extLst>
                <a:ext uri="{FF2B5EF4-FFF2-40B4-BE49-F238E27FC236}">
                  <a16:creationId xmlns:a16="http://schemas.microsoft.com/office/drawing/2014/main" id="{DDBDE0B7-627D-613E-ED45-017301D63A48}"/>
                </a:ext>
              </a:extLst>
            </p:cNvPr>
            <p:cNvSpPr/>
            <p:nvPr/>
          </p:nvSpPr>
          <p:spPr>
            <a:xfrm>
              <a:off x="3827195" y="4043366"/>
              <a:ext cx="2302548" cy="518091"/>
            </a:xfrm>
            <a:prstGeom prst="rect">
              <a:avLst/>
            </a:prstGeom>
            <a:noFill/>
            <a:ln/>
          </p:spPr>
          <p:txBody>
            <a:bodyPr wrap="square" lIns="170053" tIns="85090" rIns="170053" bIns="85090" rtlCol="0" anchor="ctr">
              <a:spAutoFit/>
            </a:bodyPr>
            <a:lstStyle/>
            <a:p>
              <a:pPr marL="0" indent="0" algn="ctr">
                <a:buNone/>
              </a:pPr>
              <a:r>
                <a:rPr lang="en-US" sz="1125">
                  <a:solidFill>
                    <a:srgbClr val="FFFFFF"/>
                  </a:solidFill>
                  <a:latin typeface="Arial" pitchFamily="34" charset="0"/>
                  <a:ea typeface="Arial" pitchFamily="34" charset="-122"/>
                  <a:cs typeface="Arial" pitchFamily="34" charset="-120"/>
                </a:rPr>
                <a:t>Genomics of Gene Expression Lab</a:t>
              </a:r>
              <a:endParaRPr lang="en-US" sz="1125" dirty="0"/>
            </a:p>
          </p:txBody>
        </p:sp>
      </p:grpSp>
      <p:grpSp>
        <p:nvGrpSpPr>
          <p:cNvPr id="16" name="Group 15">
            <a:extLst>
              <a:ext uri="{FF2B5EF4-FFF2-40B4-BE49-F238E27FC236}">
                <a16:creationId xmlns:a16="http://schemas.microsoft.com/office/drawing/2014/main" id="{674796DB-EBB4-1AAF-C246-87500A43EF27}"/>
              </a:ext>
            </a:extLst>
          </p:cNvPr>
          <p:cNvGrpSpPr/>
          <p:nvPr/>
        </p:nvGrpSpPr>
        <p:grpSpPr>
          <a:xfrm>
            <a:off x="252934" y="366256"/>
            <a:ext cx="2253890" cy="682529"/>
            <a:chOff x="252934" y="366256"/>
            <a:chExt cx="2253890" cy="682529"/>
          </a:xfrm>
        </p:grpSpPr>
        <p:sp>
          <p:nvSpPr>
            <p:cNvPr id="15" name="Rectangle 14">
              <a:extLst>
                <a:ext uri="{FF2B5EF4-FFF2-40B4-BE49-F238E27FC236}">
                  <a16:creationId xmlns:a16="http://schemas.microsoft.com/office/drawing/2014/main" id="{F50A463E-50DA-07B4-EEF6-762EB1B8E847}"/>
                </a:ext>
              </a:extLst>
            </p:cNvPr>
            <p:cNvSpPr/>
            <p:nvPr/>
          </p:nvSpPr>
          <p:spPr>
            <a:xfrm>
              <a:off x="252934" y="374455"/>
              <a:ext cx="2253890" cy="6743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4" name="Picture 13">
              <a:extLst>
                <a:ext uri="{FF2B5EF4-FFF2-40B4-BE49-F238E27FC236}">
                  <a16:creationId xmlns:a16="http://schemas.microsoft.com/office/drawing/2014/main" id="{5FE207EF-2788-19AE-09A3-6D385D79EE0A}"/>
                </a:ext>
              </a:extLst>
            </p:cNvPr>
            <p:cNvPicPr>
              <a:picLocks noChangeAspect="1"/>
            </p:cNvPicPr>
            <p:nvPr/>
          </p:nvPicPr>
          <p:blipFill>
            <a:blip r:embed="rId3"/>
            <a:stretch>
              <a:fillRect/>
            </a:stretch>
          </p:blipFill>
          <p:spPr>
            <a:xfrm>
              <a:off x="252934" y="366256"/>
              <a:ext cx="2204127" cy="674330"/>
            </a:xfrm>
            <a:prstGeom prst="rect">
              <a:avLst/>
            </a:prstGeom>
          </p:spPr>
        </p:pic>
      </p:grpSp>
    </p:spTree>
    <p:extLst>
      <p:ext uri="{BB962C8B-B14F-4D97-AF65-F5344CB8AC3E}">
        <p14:creationId xmlns:p14="http://schemas.microsoft.com/office/powerpoint/2010/main" val="35389202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37744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3D6B68E-1CF5-476B-AF79-48DF1477F7FF}"/>
              </a:ext>
            </a:extLst>
          </p:cNvPr>
          <p:cNvSpPr>
            <a:spLocks noGrp="1"/>
          </p:cNvSpPr>
          <p:nvPr>
            <p:ph type="sldNum" sz="quarter" idx="4"/>
          </p:nvPr>
        </p:nvSpPr>
        <p:spPr/>
        <p:txBody>
          <a:bodyPr/>
          <a:lstStyle/>
          <a:p>
            <a:fld id="{38FB3DE5-0BF2-9949-8E8E-62041A1EAFCC}" type="slidenum">
              <a:rPr lang="en-US" smtClean="0"/>
              <a:pPr/>
              <a:t>3</a:t>
            </a:fld>
            <a:endParaRPr lang="en-US"/>
          </a:p>
        </p:txBody>
      </p:sp>
      <p:sp>
        <p:nvSpPr>
          <p:cNvPr id="3" name="Title 2">
            <a:extLst>
              <a:ext uri="{FF2B5EF4-FFF2-40B4-BE49-F238E27FC236}">
                <a16:creationId xmlns:a16="http://schemas.microsoft.com/office/drawing/2014/main" id="{685D346E-47D0-DB4D-89D6-A34929D44285}"/>
              </a:ext>
            </a:extLst>
          </p:cNvPr>
          <p:cNvSpPr>
            <a:spLocks noGrp="1"/>
          </p:cNvSpPr>
          <p:nvPr>
            <p:ph type="title"/>
          </p:nvPr>
        </p:nvSpPr>
        <p:spPr/>
        <p:txBody>
          <a:bodyPr/>
          <a:lstStyle/>
          <a:p>
            <a:r>
              <a:rPr lang="es-ES"/>
              <a:t>What is an annotation?</a:t>
            </a:r>
            <a:endParaRPr lang="en-GB"/>
          </a:p>
        </p:txBody>
      </p:sp>
      <p:sp>
        <p:nvSpPr>
          <p:cNvPr id="4" name="Text Placeholder 3">
            <a:extLst>
              <a:ext uri="{FF2B5EF4-FFF2-40B4-BE49-F238E27FC236}">
                <a16:creationId xmlns:a16="http://schemas.microsoft.com/office/drawing/2014/main" id="{D40C74C3-290F-B679-33E0-BF902A3B4216}"/>
              </a:ext>
            </a:extLst>
          </p:cNvPr>
          <p:cNvSpPr>
            <a:spLocks noGrp="1"/>
          </p:cNvSpPr>
          <p:nvPr>
            <p:ph type="body" sz="quarter" idx="10"/>
          </p:nvPr>
        </p:nvSpPr>
        <p:spPr/>
        <p:txBody>
          <a:bodyPr/>
          <a:lstStyle/>
          <a:p>
            <a:r>
              <a:rPr lang="es-ES"/>
              <a:t>The process of annotating a genome is to find the structures that the genome encodes</a:t>
            </a:r>
          </a:p>
          <a:p>
            <a:pPr lvl="1"/>
            <a:r>
              <a:rPr lang="es-ES"/>
              <a:t>Genes</a:t>
            </a:r>
          </a:p>
          <a:p>
            <a:pPr lvl="1"/>
            <a:r>
              <a:rPr lang="es-ES"/>
              <a:t>Regulatory elements</a:t>
            </a:r>
          </a:p>
          <a:p>
            <a:pPr lvl="1"/>
            <a:r>
              <a:rPr lang="es-ES"/>
              <a:t>Transposons</a:t>
            </a:r>
          </a:p>
          <a:p>
            <a:pPr lvl="1"/>
            <a:r>
              <a:rPr lang="es-ES"/>
              <a:t>Binding sites</a:t>
            </a:r>
          </a:p>
          <a:p>
            <a:pPr lvl="1"/>
            <a:r>
              <a:rPr lang="es-ES"/>
              <a:t>Functional domains</a:t>
            </a:r>
          </a:p>
          <a:p>
            <a:r>
              <a:rPr lang="es-ES"/>
              <a:t>For now, we will focus on gene finding</a:t>
            </a:r>
          </a:p>
          <a:p>
            <a:pPr lvl="1"/>
            <a:endParaRPr lang="es-ES"/>
          </a:p>
          <a:p>
            <a:endParaRPr lang="en-GB"/>
          </a:p>
        </p:txBody>
      </p:sp>
      <p:pic>
        <p:nvPicPr>
          <p:cNvPr id="5" name="Picture 4">
            <a:extLst>
              <a:ext uri="{FF2B5EF4-FFF2-40B4-BE49-F238E27FC236}">
                <a16:creationId xmlns:a16="http://schemas.microsoft.com/office/drawing/2014/main" id="{204F9435-634C-C05B-861D-FE4A86DF8DB5}"/>
              </a:ext>
            </a:extLst>
          </p:cNvPr>
          <p:cNvPicPr>
            <a:picLocks noChangeAspect="1"/>
          </p:cNvPicPr>
          <p:nvPr/>
        </p:nvPicPr>
        <p:blipFill rotWithShape="1">
          <a:blip r:embed="rId2"/>
          <a:srcRect t="16204"/>
          <a:stretch/>
        </p:blipFill>
        <p:spPr>
          <a:xfrm>
            <a:off x="3270281" y="1452354"/>
            <a:ext cx="5873719" cy="2768602"/>
          </a:xfrm>
          <a:prstGeom prst="rect">
            <a:avLst/>
          </a:prstGeom>
        </p:spPr>
      </p:pic>
    </p:spTree>
    <p:extLst>
      <p:ext uri="{BB962C8B-B14F-4D97-AF65-F5344CB8AC3E}">
        <p14:creationId xmlns:p14="http://schemas.microsoft.com/office/powerpoint/2010/main" val="19696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D8DC739-8CC1-CE42-5F6C-BC59CADA9B0B}"/>
              </a:ext>
            </a:extLst>
          </p:cNvPr>
          <p:cNvSpPr>
            <a:spLocks noGrp="1"/>
          </p:cNvSpPr>
          <p:nvPr>
            <p:ph type="sldNum" sz="quarter" idx="4"/>
          </p:nvPr>
        </p:nvSpPr>
        <p:spPr/>
        <p:txBody>
          <a:bodyPr/>
          <a:lstStyle/>
          <a:p>
            <a:fld id="{38FB3DE5-0BF2-9949-8E8E-62041A1EAFCC}" type="slidenum">
              <a:rPr lang="en-US" smtClean="0"/>
              <a:pPr/>
              <a:t>4</a:t>
            </a:fld>
            <a:endParaRPr lang="en-US"/>
          </a:p>
        </p:txBody>
      </p:sp>
      <p:sp>
        <p:nvSpPr>
          <p:cNvPr id="3" name="Title 2">
            <a:extLst>
              <a:ext uri="{FF2B5EF4-FFF2-40B4-BE49-F238E27FC236}">
                <a16:creationId xmlns:a16="http://schemas.microsoft.com/office/drawing/2014/main" id="{EF272A56-B8BB-C7E9-2DA5-70A6F83951C8}"/>
              </a:ext>
            </a:extLst>
          </p:cNvPr>
          <p:cNvSpPr>
            <a:spLocks noGrp="1"/>
          </p:cNvSpPr>
          <p:nvPr>
            <p:ph type="title"/>
          </p:nvPr>
        </p:nvSpPr>
        <p:spPr/>
        <p:txBody>
          <a:bodyPr/>
          <a:lstStyle/>
          <a:p>
            <a:r>
              <a:rPr lang="es-ES"/>
              <a:t>Structural vs Functional</a:t>
            </a:r>
            <a:endParaRPr lang="en-GB"/>
          </a:p>
        </p:txBody>
      </p:sp>
      <p:sp>
        <p:nvSpPr>
          <p:cNvPr id="4" name="Text Placeholder 3">
            <a:extLst>
              <a:ext uri="{FF2B5EF4-FFF2-40B4-BE49-F238E27FC236}">
                <a16:creationId xmlns:a16="http://schemas.microsoft.com/office/drawing/2014/main" id="{EA943314-33F1-6305-6F72-DE9FE82395AC}"/>
              </a:ext>
            </a:extLst>
          </p:cNvPr>
          <p:cNvSpPr>
            <a:spLocks noGrp="1"/>
          </p:cNvSpPr>
          <p:nvPr>
            <p:ph type="body" sz="quarter" idx="10"/>
          </p:nvPr>
        </p:nvSpPr>
        <p:spPr/>
        <p:txBody>
          <a:bodyPr/>
          <a:lstStyle/>
          <a:p>
            <a:r>
              <a:rPr lang="es-ES"/>
              <a:t>There are two ways to annotate a genome:</a:t>
            </a:r>
          </a:p>
          <a:p>
            <a:pPr lvl="1"/>
            <a:r>
              <a:rPr lang="es-ES"/>
              <a:t>Structural </a:t>
            </a:r>
            <a:r>
              <a:rPr lang="es-ES">
                <a:sym typeface="Wingdings" panose="05000000000000000000" pitchFamily="2" charset="2"/>
              </a:rPr>
              <a:t> What are the physical elements of the genome?</a:t>
            </a:r>
            <a:endParaRPr lang="es-ES"/>
          </a:p>
          <a:p>
            <a:pPr lvl="1"/>
            <a:r>
              <a:rPr lang="es-ES"/>
              <a:t>Funcional </a:t>
            </a:r>
            <a:r>
              <a:rPr lang="es-ES">
                <a:sym typeface="Wingdings" panose="05000000000000000000" pitchFamily="2" charset="2"/>
              </a:rPr>
              <a:t> What is the biological meaning of them?</a:t>
            </a:r>
            <a:endParaRPr lang="en-GB"/>
          </a:p>
        </p:txBody>
      </p:sp>
    </p:spTree>
    <p:extLst>
      <p:ext uri="{BB962C8B-B14F-4D97-AF65-F5344CB8AC3E}">
        <p14:creationId xmlns:p14="http://schemas.microsoft.com/office/powerpoint/2010/main" val="31425637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877289D-3A3D-96DF-2262-375F4960ABEB}"/>
              </a:ext>
            </a:extLst>
          </p:cNvPr>
          <p:cNvSpPr>
            <a:spLocks noGrp="1"/>
          </p:cNvSpPr>
          <p:nvPr>
            <p:ph type="sldNum" sz="quarter" idx="4"/>
          </p:nvPr>
        </p:nvSpPr>
        <p:spPr/>
        <p:txBody>
          <a:bodyPr/>
          <a:lstStyle/>
          <a:p>
            <a:fld id="{38FB3DE5-0BF2-9949-8E8E-62041A1EAFCC}" type="slidenum">
              <a:rPr lang="en-US" smtClean="0"/>
              <a:pPr/>
              <a:t>5</a:t>
            </a:fld>
            <a:endParaRPr lang="en-US"/>
          </a:p>
        </p:txBody>
      </p:sp>
      <p:sp>
        <p:nvSpPr>
          <p:cNvPr id="3" name="Title 2">
            <a:extLst>
              <a:ext uri="{FF2B5EF4-FFF2-40B4-BE49-F238E27FC236}">
                <a16:creationId xmlns:a16="http://schemas.microsoft.com/office/drawing/2014/main" id="{0A29ECE7-0600-A60B-0249-DF3D61461E7F}"/>
              </a:ext>
            </a:extLst>
          </p:cNvPr>
          <p:cNvSpPr>
            <a:spLocks noGrp="1"/>
          </p:cNvSpPr>
          <p:nvPr>
            <p:ph type="title"/>
          </p:nvPr>
        </p:nvSpPr>
        <p:spPr/>
        <p:txBody>
          <a:bodyPr/>
          <a:lstStyle/>
          <a:p>
            <a:r>
              <a:rPr lang="es-ES"/>
              <a:t>A bit of history</a:t>
            </a:r>
            <a:endParaRPr lang="en-GB"/>
          </a:p>
        </p:txBody>
      </p:sp>
      <p:sp>
        <p:nvSpPr>
          <p:cNvPr id="4" name="Text Placeholder 3">
            <a:extLst>
              <a:ext uri="{FF2B5EF4-FFF2-40B4-BE49-F238E27FC236}">
                <a16:creationId xmlns:a16="http://schemas.microsoft.com/office/drawing/2014/main" id="{E730C50C-299E-A30F-F511-85901AE31243}"/>
              </a:ext>
            </a:extLst>
          </p:cNvPr>
          <p:cNvSpPr>
            <a:spLocks noGrp="1"/>
          </p:cNvSpPr>
          <p:nvPr>
            <p:ph type="body" sz="quarter" idx="10"/>
          </p:nvPr>
        </p:nvSpPr>
        <p:spPr/>
        <p:txBody>
          <a:bodyPr/>
          <a:lstStyle/>
          <a:p>
            <a:r>
              <a:rPr lang="es-ES"/>
              <a:t>History of genome annotation</a:t>
            </a:r>
          </a:p>
          <a:p>
            <a:r>
              <a:rPr lang="es-ES"/>
              <a:t>Manual</a:t>
            </a:r>
          </a:p>
          <a:p>
            <a:r>
              <a:rPr lang="es-ES"/>
              <a:t>Ab initio methods</a:t>
            </a:r>
          </a:p>
          <a:p>
            <a:r>
              <a:rPr lang="es-ES"/>
              <a:t>Evidence based</a:t>
            </a:r>
          </a:p>
          <a:p>
            <a:r>
              <a:rPr lang="es-ES"/>
              <a:t>Evidence driven</a:t>
            </a:r>
          </a:p>
          <a:p>
            <a:r>
              <a:rPr lang="es-ES"/>
              <a:t>AI…</a:t>
            </a:r>
            <a:endParaRPr lang="en-GB"/>
          </a:p>
        </p:txBody>
      </p:sp>
    </p:spTree>
    <p:extLst>
      <p:ext uri="{BB962C8B-B14F-4D97-AF65-F5344CB8AC3E}">
        <p14:creationId xmlns:p14="http://schemas.microsoft.com/office/powerpoint/2010/main" val="41010350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51A6DEE-4177-39D6-64AA-96E044840DCA}"/>
              </a:ext>
            </a:extLst>
          </p:cNvPr>
          <p:cNvSpPr>
            <a:spLocks noGrp="1"/>
          </p:cNvSpPr>
          <p:nvPr>
            <p:ph type="sldNum" sz="quarter" idx="4"/>
          </p:nvPr>
        </p:nvSpPr>
        <p:spPr/>
        <p:txBody>
          <a:bodyPr/>
          <a:lstStyle/>
          <a:p>
            <a:fld id="{38FB3DE5-0BF2-9949-8E8E-62041A1EAFCC}" type="slidenum">
              <a:rPr lang="en-US" smtClean="0"/>
              <a:pPr/>
              <a:t>6</a:t>
            </a:fld>
            <a:endParaRPr lang="en-US"/>
          </a:p>
        </p:txBody>
      </p:sp>
      <p:sp>
        <p:nvSpPr>
          <p:cNvPr id="3" name="Title 2">
            <a:extLst>
              <a:ext uri="{FF2B5EF4-FFF2-40B4-BE49-F238E27FC236}">
                <a16:creationId xmlns:a16="http://schemas.microsoft.com/office/drawing/2014/main" id="{0C828F8C-38AF-602D-CC21-54046C354249}"/>
              </a:ext>
            </a:extLst>
          </p:cNvPr>
          <p:cNvSpPr>
            <a:spLocks noGrp="1"/>
          </p:cNvSpPr>
          <p:nvPr>
            <p:ph type="title"/>
          </p:nvPr>
        </p:nvSpPr>
        <p:spPr/>
        <p:txBody>
          <a:bodyPr/>
          <a:lstStyle/>
          <a:p>
            <a:r>
              <a:rPr lang="es-ES"/>
              <a:t>A bit of history</a:t>
            </a:r>
            <a:endParaRPr lang="en-GB"/>
          </a:p>
        </p:txBody>
      </p:sp>
      <p:sp>
        <p:nvSpPr>
          <p:cNvPr id="4" name="Text Placeholder 3">
            <a:extLst>
              <a:ext uri="{FF2B5EF4-FFF2-40B4-BE49-F238E27FC236}">
                <a16:creationId xmlns:a16="http://schemas.microsoft.com/office/drawing/2014/main" id="{A0B9E9F1-8B58-DCF0-B7EE-13E455871D96}"/>
              </a:ext>
            </a:extLst>
          </p:cNvPr>
          <p:cNvSpPr>
            <a:spLocks noGrp="1"/>
          </p:cNvSpPr>
          <p:nvPr>
            <p:ph type="body" sz="quarter" idx="10"/>
          </p:nvPr>
        </p:nvSpPr>
        <p:spPr/>
        <p:txBody>
          <a:bodyPr/>
          <a:lstStyle/>
          <a:p>
            <a:r>
              <a:rPr lang="es-ES"/>
              <a:t>The first way to find genes on organisms was through evidence alone</a:t>
            </a:r>
          </a:p>
          <a:p>
            <a:r>
              <a:rPr lang="es-ES"/>
              <a:t>Align expressed sequence tags (ESTs) directly to genome assemblies</a:t>
            </a:r>
          </a:p>
          <a:p>
            <a:r>
              <a:rPr lang="es-ES"/>
              <a:t>Large team of experts to annotate a single genome:</a:t>
            </a:r>
          </a:p>
          <a:p>
            <a:endParaRPr lang="en-GB"/>
          </a:p>
        </p:txBody>
      </p:sp>
      <p:grpSp>
        <p:nvGrpSpPr>
          <p:cNvPr id="8" name="Group 7">
            <a:extLst>
              <a:ext uri="{FF2B5EF4-FFF2-40B4-BE49-F238E27FC236}">
                <a16:creationId xmlns:a16="http://schemas.microsoft.com/office/drawing/2014/main" id="{A7FC3A54-F2BB-0688-0C5E-F7444945ACD4}"/>
              </a:ext>
            </a:extLst>
          </p:cNvPr>
          <p:cNvGrpSpPr/>
          <p:nvPr/>
        </p:nvGrpSpPr>
        <p:grpSpPr>
          <a:xfrm>
            <a:off x="540799" y="2042408"/>
            <a:ext cx="3989132" cy="1448815"/>
            <a:chOff x="540799" y="2042408"/>
            <a:chExt cx="3989132" cy="1448815"/>
          </a:xfrm>
        </p:grpSpPr>
        <p:pic>
          <p:nvPicPr>
            <p:cNvPr id="6" name="Picture 5">
              <a:extLst>
                <a:ext uri="{FF2B5EF4-FFF2-40B4-BE49-F238E27FC236}">
                  <a16:creationId xmlns:a16="http://schemas.microsoft.com/office/drawing/2014/main" id="{082EDFD8-EA49-F999-9A91-635FB5755527}"/>
                </a:ext>
              </a:extLst>
            </p:cNvPr>
            <p:cNvPicPr>
              <a:picLocks noChangeAspect="1"/>
            </p:cNvPicPr>
            <p:nvPr/>
          </p:nvPicPr>
          <p:blipFill>
            <a:blip r:embed="rId3"/>
            <a:stretch>
              <a:fillRect/>
            </a:stretch>
          </p:blipFill>
          <p:spPr>
            <a:xfrm>
              <a:off x="540799" y="2382833"/>
              <a:ext cx="3989132" cy="1108390"/>
            </a:xfrm>
            <a:prstGeom prst="rect">
              <a:avLst/>
            </a:prstGeom>
          </p:spPr>
        </p:pic>
        <p:sp>
          <p:nvSpPr>
            <p:cNvPr id="7" name="TextBox 6">
              <a:extLst>
                <a:ext uri="{FF2B5EF4-FFF2-40B4-BE49-F238E27FC236}">
                  <a16:creationId xmlns:a16="http://schemas.microsoft.com/office/drawing/2014/main" id="{A5175252-6D79-8F60-10A0-5F131D915471}"/>
                </a:ext>
              </a:extLst>
            </p:cNvPr>
            <p:cNvSpPr txBox="1"/>
            <p:nvPr/>
          </p:nvSpPr>
          <p:spPr>
            <a:xfrm>
              <a:off x="1216152" y="2042408"/>
              <a:ext cx="1402948" cy="369332"/>
            </a:xfrm>
            <a:prstGeom prst="rect">
              <a:avLst/>
            </a:prstGeom>
            <a:noFill/>
          </p:spPr>
          <p:txBody>
            <a:bodyPr wrap="none" rtlCol="0">
              <a:spAutoFit/>
            </a:bodyPr>
            <a:lstStyle/>
            <a:p>
              <a:r>
                <a:rPr lang="es-ES"/>
                <a:t>248 authors</a:t>
              </a:r>
              <a:endParaRPr lang="en-GB"/>
            </a:p>
          </p:txBody>
        </p:sp>
      </p:grpSp>
      <p:pic>
        <p:nvPicPr>
          <p:cNvPr id="10" name="Picture 9">
            <a:extLst>
              <a:ext uri="{FF2B5EF4-FFF2-40B4-BE49-F238E27FC236}">
                <a16:creationId xmlns:a16="http://schemas.microsoft.com/office/drawing/2014/main" id="{D2A9DEE4-CC5C-FCEF-3478-6A2D6DB3AC6A}"/>
              </a:ext>
            </a:extLst>
          </p:cNvPr>
          <p:cNvPicPr>
            <a:picLocks noChangeAspect="1"/>
          </p:cNvPicPr>
          <p:nvPr/>
        </p:nvPicPr>
        <p:blipFill>
          <a:blip r:embed="rId4"/>
          <a:stretch>
            <a:fillRect/>
          </a:stretch>
        </p:blipFill>
        <p:spPr>
          <a:xfrm>
            <a:off x="4716461" y="2536922"/>
            <a:ext cx="3886740" cy="800211"/>
          </a:xfrm>
          <a:prstGeom prst="rect">
            <a:avLst/>
          </a:prstGeom>
        </p:spPr>
      </p:pic>
      <p:sp>
        <p:nvSpPr>
          <p:cNvPr id="11" name="TextBox 10">
            <a:extLst>
              <a:ext uri="{FF2B5EF4-FFF2-40B4-BE49-F238E27FC236}">
                <a16:creationId xmlns:a16="http://schemas.microsoft.com/office/drawing/2014/main" id="{61CAF31E-93B8-B790-A3D8-A9095AC2E166}"/>
              </a:ext>
            </a:extLst>
          </p:cNvPr>
          <p:cNvSpPr txBox="1"/>
          <p:nvPr/>
        </p:nvSpPr>
        <p:spPr>
          <a:xfrm>
            <a:off x="5958357" y="2160732"/>
            <a:ext cx="1274708" cy="369332"/>
          </a:xfrm>
          <a:prstGeom prst="rect">
            <a:avLst/>
          </a:prstGeom>
          <a:noFill/>
        </p:spPr>
        <p:txBody>
          <a:bodyPr wrap="none" rtlCol="0">
            <a:spAutoFit/>
          </a:bodyPr>
          <a:lstStyle/>
          <a:p>
            <a:r>
              <a:rPr lang="es-ES"/>
              <a:t>95 authors</a:t>
            </a:r>
            <a:endParaRPr lang="en-GB"/>
          </a:p>
        </p:txBody>
      </p:sp>
      <p:pic>
        <p:nvPicPr>
          <p:cNvPr id="13" name="Picture 12">
            <a:extLst>
              <a:ext uri="{FF2B5EF4-FFF2-40B4-BE49-F238E27FC236}">
                <a16:creationId xmlns:a16="http://schemas.microsoft.com/office/drawing/2014/main" id="{4AA45355-4F38-6CBD-FFB1-2FFF4F737345}"/>
              </a:ext>
            </a:extLst>
          </p:cNvPr>
          <p:cNvPicPr>
            <a:picLocks noChangeAspect="1"/>
          </p:cNvPicPr>
          <p:nvPr/>
        </p:nvPicPr>
        <p:blipFill>
          <a:blip r:embed="rId5"/>
          <a:stretch>
            <a:fillRect/>
          </a:stretch>
        </p:blipFill>
        <p:spPr>
          <a:xfrm>
            <a:off x="2743199" y="3875008"/>
            <a:ext cx="4222143" cy="859955"/>
          </a:xfrm>
          <a:prstGeom prst="rect">
            <a:avLst/>
          </a:prstGeom>
        </p:spPr>
      </p:pic>
      <p:pic>
        <p:nvPicPr>
          <p:cNvPr id="1026" name="Picture 2" descr="You Can Do It (@Youcandoit.YesUcan ...">
            <a:extLst>
              <a:ext uri="{FF2B5EF4-FFF2-40B4-BE49-F238E27FC236}">
                <a16:creationId xmlns:a16="http://schemas.microsoft.com/office/drawing/2014/main" id="{1E1433F8-C72F-4505-696A-A9D2FE12565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068058" y="2141458"/>
            <a:ext cx="2628900" cy="17335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2875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96A1FDA-4FD0-870E-BC4D-BE950995254A}"/>
              </a:ext>
            </a:extLst>
          </p:cNvPr>
          <p:cNvSpPr>
            <a:spLocks noGrp="1"/>
          </p:cNvSpPr>
          <p:nvPr>
            <p:ph type="sldNum" sz="quarter" idx="4"/>
          </p:nvPr>
        </p:nvSpPr>
        <p:spPr/>
        <p:txBody>
          <a:bodyPr/>
          <a:lstStyle/>
          <a:p>
            <a:fld id="{38FB3DE5-0BF2-9949-8E8E-62041A1EAFCC}" type="slidenum">
              <a:rPr lang="en-US" smtClean="0"/>
              <a:pPr/>
              <a:t>7</a:t>
            </a:fld>
            <a:endParaRPr lang="en-US"/>
          </a:p>
        </p:txBody>
      </p:sp>
      <p:sp>
        <p:nvSpPr>
          <p:cNvPr id="3" name="Title 2">
            <a:extLst>
              <a:ext uri="{FF2B5EF4-FFF2-40B4-BE49-F238E27FC236}">
                <a16:creationId xmlns:a16="http://schemas.microsoft.com/office/drawing/2014/main" id="{1EB45D92-165F-E6E3-85B0-556BC440CAE2}"/>
              </a:ext>
            </a:extLst>
          </p:cNvPr>
          <p:cNvSpPr>
            <a:spLocks noGrp="1"/>
          </p:cNvSpPr>
          <p:nvPr>
            <p:ph type="title"/>
          </p:nvPr>
        </p:nvSpPr>
        <p:spPr/>
        <p:txBody>
          <a:bodyPr/>
          <a:lstStyle/>
          <a:p>
            <a:r>
              <a:rPr lang="es-ES"/>
              <a:t>Remembering the biology</a:t>
            </a:r>
            <a:endParaRPr lang="en-GB"/>
          </a:p>
        </p:txBody>
      </p:sp>
      <p:sp>
        <p:nvSpPr>
          <p:cNvPr id="4" name="Text Placeholder 3">
            <a:extLst>
              <a:ext uri="{FF2B5EF4-FFF2-40B4-BE49-F238E27FC236}">
                <a16:creationId xmlns:a16="http://schemas.microsoft.com/office/drawing/2014/main" id="{C603BA75-07D2-16C1-FB8A-7C3620876B31}"/>
              </a:ext>
            </a:extLst>
          </p:cNvPr>
          <p:cNvSpPr>
            <a:spLocks noGrp="1"/>
          </p:cNvSpPr>
          <p:nvPr>
            <p:ph type="body" sz="quarter" idx="10"/>
          </p:nvPr>
        </p:nvSpPr>
        <p:spPr/>
        <p:txBody>
          <a:bodyPr/>
          <a:lstStyle/>
          <a:p>
            <a:r>
              <a:rPr lang="es-ES"/>
              <a:t>Prokaryotes are amazing</a:t>
            </a:r>
            <a:endParaRPr lang="en-GB"/>
          </a:p>
        </p:txBody>
      </p:sp>
      <p:pic>
        <p:nvPicPr>
          <p:cNvPr id="6" name="Picture 5">
            <a:extLst>
              <a:ext uri="{FF2B5EF4-FFF2-40B4-BE49-F238E27FC236}">
                <a16:creationId xmlns:a16="http://schemas.microsoft.com/office/drawing/2014/main" id="{6E5E3781-6324-5AA1-E07C-1AA9DCF0BEF2}"/>
              </a:ext>
            </a:extLst>
          </p:cNvPr>
          <p:cNvPicPr>
            <a:picLocks noChangeAspect="1"/>
          </p:cNvPicPr>
          <p:nvPr/>
        </p:nvPicPr>
        <p:blipFill>
          <a:blip r:embed="rId2"/>
          <a:stretch>
            <a:fillRect/>
          </a:stretch>
        </p:blipFill>
        <p:spPr>
          <a:xfrm>
            <a:off x="923544" y="1295339"/>
            <a:ext cx="6790153" cy="3332743"/>
          </a:xfrm>
          <a:prstGeom prst="rect">
            <a:avLst/>
          </a:prstGeom>
        </p:spPr>
      </p:pic>
    </p:spTree>
    <p:extLst>
      <p:ext uri="{BB962C8B-B14F-4D97-AF65-F5344CB8AC3E}">
        <p14:creationId xmlns:p14="http://schemas.microsoft.com/office/powerpoint/2010/main" val="9765349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F7B3B4C-41A3-1702-33EB-0FDF5148CA83}"/>
              </a:ext>
            </a:extLst>
          </p:cNvPr>
          <p:cNvPicPr>
            <a:picLocks noChangeAspect="1"/>
          </p:cNvPicPr>
          <p:nvPr/>
        </p:nvPicPr>
        <p:blipFill>
          <a:blip r:embed="rId2"/>
          <a:srcRect b="7056"/>
          <a:stretch>
            <a:fillRect/>
          </a:stretch>
        </p:blipFill>
        <p:spPr>
          <a:xfrm>
            <a:off x="1353312" y="587830"/>
            <a:ext cx="7294220" cy="4127045"/>
          </a:xfrm>
          <a:prstGeom prst="rect">
            <a:avLst/>
          </a:prstGeom>
        </p:spPr>
      </p:pic>
      <p:sp>
        <p:nvSpPr>
          <p:cNvPr id="2" name="Slide Number Placeholder 1">
            <a:extLst>
              <a:ext uri="{FF2B5EF4-FFF2-40B4-BE49-F238E27FC236}">
                <a16:creationId xmlns:a16="http://schemas.microsoft.com/office/drawing/2014/main" id="{0B9877E8-C64C-3B16-16DE-8C73167F5C48}"/>
              </a:ext>
            </a:extLst>
          </p:cNvPr>
          <p:cNvSpPr>
            <a:spLocks noGrp="1"/>
          </p:cNvSpPr>
          <p:nvPr>
            <p:ph type="sldNum" sz="quarter" idx="4"/>
          </p:nvPr>
        </p:nvSpPr>
        <p:spPr/>
        <p:txBody>
          <a:bodyPr/>
          <a:lstStyle/>
          <a:p>
            <a:fld id="{38FB3DE5-0BF2-9949-8E8E-62041A1EAFCC}" type="slidenum">
              <a:rPr lang="en-US" smtClean="0"/>
              <a:pPr/>
              <a:t>8</a:t>
            </a:fld>
            <a:endParaRPr lang="en-US"/>
          </a:p>
        </p:txBody>
      </p:sp>
      <p:sp>
        <p:nvSpPr>
          <p:cNvPr id="3" name="Title 2">
            <a:extLst>
              <a:ext uri="{FF2B5EF4-FFF2-40B4-BE49-F238E27FC236}">
                <a16:creationId xmlns:a16="http://schemas.microsoft.com/office/drawing/2014/main" id="{FA757889-50B7-C108-42AB-03A4F0DC9059}"/>
              </a:ext>
            </a:extLst>
          </p:cNvPr>
          <p:cNvSpPr>
            <a:spLocks noGrp="1"/>
          </p:cNvSpPr>
          <p:nvPr>
            <p:ph type="title"/>
          </p:nvPr>
        </p:nvSpPr>
        <p:spPr/>
        <p:txBody>
          <a:bodyPr/>
          <a:lstStyle/>
          <a:p>
            <a:r>
              <a:rPr lang="es-ES"/>
              <a:t>Remembering the biology</a:t>
            </a:r>
            <a:endParaRPr lang="en-GB"/>
          </a:p>
        </p:txBody>
      </p:sp>
      <p:sp>
        <p:nvSpPr>
          <p:cNvPr id="4" name="Text Placeholder 3">
            <a:extLst>
              <a:ext uri="{FF2B5EF4-FFF2-40B4-BE49-F238E27FC236}">
                <a16:creationId xmlns:a16="http://schemas.microsoft.com/office/drawing/2014/main" id="{95B00A88-4C1A-C0EA-BDEC-01FAD47ECD43}"/>
              </a:ext>
            </a:extLst>
          </p:cNvPr>
          <p:cNvSpPr>
            <a:spLocks noGrp="1"/>
          </p:cNvSpPr>
          <p:nvPr>
            <p:ph type="body" sz="quarter" idx="10"/>
          </p:nvPr>
        </p:nvSpPr>
        <p:spPr/>
        <p:txBody>
          <a:bodyPr/>
          <a:lstStyle/>
          <a:p>
            <a:r>
              <a:rPr lang="es-ES"/>
              <a:t>Eukayrotes… not so much</a:t>
            </a:r>
            <a:endParaRPr lang="en-GB"/>
          </a:p>
        </p:txBody>
      </p:sp>
    </p:spTree>
    <p:extLst>
      <p:ext uri="{BB962C8B-B14F-4D97-AF65-F5344CB8AC3E}">
        <p14:creationId xmlns:p14="http://schemas.microsoft.com/office/powerpoint/2010/main" val="28044954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AB2AD5C-1592-CF90-8D52-383EE5E22BF4}"/>
              </a:ext>
            </a:extLst>
          </p:cNvPr>
          <p:cNvSpPr>
            <a:spLocks noGrp="1"/>
          </p:cNvSpPr>
          <p:nvPr>
            <p:ph type="sldNum" sz="quarter" idx="4"/>
          </p:nvPr>
        </p:nvSpPr>
        <p:spPr/>
        <p:txBody>
          <a:bodyPr/>
          <a:lstStyle/>
          <a:p>
            <a:fld id="{38FB3DE5-0BF2-9949-8E8E-62041A1EAFCC}" type="slidenum">
              <a:rPr lang="en-US" smtClean="0"/>
              <a:pPr/>
              <a:t>9</a:t>
            </a:fld>
            <a:endParaRPr lang="en-US"/>
          </a:p>
        </p:txBody>
      </p:sp>
      <p:sp>
        <p:nvSpPr>
          <p:cNvPr id="3" name="Title 2">
            <a:extLst>
              <a:ext uri="{FF2B5EF4-FFF2-40B4-BE49-F238E27FC236}">
                <a16:creationId xmlns:a16="http://schemas.microsoft.com/office/drawing/2014/main" id="{BE754137-669A-158E-73FC-A2C2C9EFD359}"/>
              </a:ext>
            </a:extLst>
          </p:cNvPr>
          <p:cNvSpPr>
            <a:spLocks noGrp="1"/>
          </p:cNvSpPr>
          <p:nvPr>
            <p:ph type="title"/>
          </p:nvPr>
        </p:nvSpPr>
        <p:spPr/>
        <p:txBody>
          <a:bodyPr/>
          <a:lstStyle/>
          <a:p>
            <a:r>
              <a:rPr lang="es-ES"/>
              <a:t>How to annotate a genome?</a:t>
            </a:r>
            <a:endParaRPr lang="en-GB"/>
          </a:p>
        </p:txBody>
      </p:sp>
      <p:sp>
        <p:nvSpPr>
          <p:cNvPr id="4" name="Text Placeholder 3">
            <a:extLst>
              <a:ext uri="{FF2B5EF4-FFF2-40B4-BE49-F238E27FC236}">
                <a16:creationId xmlns:a16="http://schemas.microsoft.com/office/drawing/2014/main" id="{65FD4DDA-35A3-20D4-91CF-06A4BAF83C7F}"/>
              </a:ext>
            </a:extLst>
          </p:cNvPr>
          <p:cNvSpPr>
            <a:spLocks noGrp="1"/>
          </p:cNvSpPr>
          <p:nvPr>
            <p:ph type="body" sz="quarter" idx="10"/>
          </p:nvPr>
        </p:nvSpPr>
        <p:spPr/>
        <p:txBody>
          <a:bodyPr/>
          <a:lstStyle/>
          <a:p>
            <a:r>
              <a:rPr lang="es-ES"/>
              <a:t>As of today, three main approaches:</a:t>
            </a:r>
            <a:endParaRPr lang="en-GB"/>
          </a:p>
        </p:txBody>
      </p:sp>
      <p:grpSp>
        <p:nvGrpSpPr>
          <p:cNvPr id="7" name="Group 6">
            <a:extLst>
              <a:ext uri="{FF2B5EF4-FFF2-40B4-BE49-F238E27FC236}">
                <a16:creationId xmlns:a16="http://schemas.microsoft.com/office/drawing/2014/main" id="{1FEBFD6A-D38E-71D9-4D7B-7128BA7A85E5}"/>
              </a:ext>
            </a:extLst>
          </p:cNvPr>
          <p:cNvGrpSpPr/>
          <p:nvPr/>
        </p:nvGrpSpPr>
        <p:grpSpPr>
          <a:xfrm>
            <a:off x="384048" y="1252728"/>
            <a:ext cx="2496312" cy="3297555"/>
            <a:chOff x="384048" y="1252728"/>
            <a:chExt cx="2496312" cy="3297555"/>
          </a:xfrm>
        </p:grpSpPr>
        <p:sp>
          <p:nvSpPr>
            <p:cNvPr id="5" name="Rectangle 4">
              <a:extLst>
                <a:ext uri="{FF2B5EF4-FFF2-40B4-BE49-F238E27FC236}">
                  <a16:creationId xmlns:a16="http://schemas.microsoft.com/office/drawing/2014/main" id="{2C4CEB14-3F56-109E-02AA-D935CE11EA4C}"/>
                </a:ext>
              </a:extLst>
            </p:cNvPr>
            <p:cNvSpPr/>
            <p:nvPr/>
          </p:nvSpPr>
          <p:spPr>
            <a:xfrm>
              <a:off x="384048" y="1252728"/>
              <a:ext cx="2496312" cy="32975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2FA96187-8972-D21D-C780-3A31A2BB04BE}"/>
                </a:ext>
              </a:extLst>
            </p:cNvPr>
            <p:cNvSpPr/>
            <p:nvPr/>
          </p:nvSpPr>
          <p:spPr>
            <a:xfrm>
              <a:off x="649224" y="1435608"/>
              <a:ext cx="2030334" cy="3840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a:solidFill>
                    <a:schemeClr val="tx1"/>
                  </a:solidFill>
                </a:rPr>
                <a:t>Evidence-based</a:t>
              </a:r>
              <a:endParaRPr lang="en-GB">
                <a:solidFill>
                  <a:schemeClr val="tx1"/>
                </a:solidFill>
              </a:endParaRPr>
            </a:p>
          </p:txBody>
        </p:sp>
      </p:grpSp>
      <p:grpSp>
        <p:nvGrpSpPr>
          <p:cNvPr id="9" name="Group 8">
            <a:extLst>
              <a:ext uri="{FF2B5EF4-FFF2-40B4-BE49-F238E27FC236}">
                <a16:creationId xmlns:a16="http://schemas.microsoft.com/office/drawing/2014/main" id="{7A1A5A88-A6F2-3148-CBFF-790F573B4A07}"/>
              </a:ext>
            </a:extLst>
          </p:cNvPr>
          <p:cNvGrpSpPr/>
          <p:nvPr/>
        </p:nvGrpSpPr>
        <p:grpSpPr>
          <a:xfrm>
            <a:off x="3323844" y="1252728"/>
            <a:ext cx="2496312" cy="3297555"/>
            <a:chOff x="384048" y="1252728"/>
            <a:chExt cx="2496312" cy="3297555"/>
          </a:xfrm>
        </p:grpSpPr>
        <p:sp>
          <p:nvSpPr>
            <p:cNvPr id="10" name="Rectangle 9">
              <a:extLst>
                <a:ext uri="{FF2B5EF4-FFF2-40B4-BE49-F238E27FC236}">
                  <a16:creationId xmlns:a16="http://schemas.microsoft.com/office/drawing/2014/main" id="{3AD9A206-CF71-DDF4-5DB9-D1FD27229D64}"/>
                </a:ext>
              </a:extLst>
            </p:cNvPr>
            <p:cNvSpPr/>
            <p:nvPr/>
          </p:nvSpPr>
          <p:spPr>
            <a:xfrm>
              <a:off x="384048" y="1252728"/>
              <a:ext cx="2496312" cy="32975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1619AB70-D641-319D-2120-05B79637A6A1}"/>
                </a:ext>
              </a:extLst>
            </p:cNvPr>
            <p:cNvSpPr/>
            <p:nvPr/>
          </p:nvSpPr>
          <p:spPr>
            <a:xfrm>
              <a:off x="649224" y="1435608"/>
              <a:ext cx="2030334" cy="3840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a:solidFill>
                    <a:schemeClr val="tx1"/>
                  </a:solidFill>
                </a:rPr>
                <a:t>Evidence-driven</a:t>
              </a:r>
              <a:endParaRPr lang="en-GB">
                <a:solidFill>
                  <a:schemeClr val="tx1"/>
                </a:solidFill>
              </a:endParaRPr>
            </a:p>
          </p:txBody>
        </p:sp>
      </p:grpSp>
      <p:grpSp>
        <p:nvGrpSpPr>
          <p:cNvPr id="12" name="Group 11">
            <a:extLst>
              <a:ext uri="{FF2B5EF4-FFF2-40B4-BE49-F238E27FC236}">
                <a16:creationId xmlns:a16="http://schemas.microsoft.com/office/drawing/2014/main" id="{598CA731-D449-C06C-8117-E53DE1A01DCA}"/>
              </a:ext>
            </a:extLst>
          </p:cNvPr>
          <p:cNvGrpSpPr/>
          <p:nvPr/>
        </p:nvGrpSpPr>
        <p:grpSpPr>
          <a:xfrm>
            <a:off x="6263640" y="1252728"/>
            <a:ext cx="2496312" cy="3297555"/>
            <a:chOff x="384048" y="1252728"/>
            <a:chExt cx="2496312" cy="3297555"/>
          </a:xfrm>
        </p:grpSpPr>
        <p:sp>
          <p:nvSpPr>
            <p:cNvPr id="13" name="Rectangle 12">
              <a:extLst>
                <a:ext uri="{FF2B5EF4-FFF2-40B4-BE49-F238E27FC236}">
                  <a16:creationId xmlns:a16="http://schemas.microsoft.com/office/drawing/2014/main" id="{BEA65DAD-BB65-5FA5-66D3-2E0A14F63D2E}"/>
                </a:ext>
              </a:extLst>
            </p:cNvPr>
            <p:cNvSpPr/>
            <p:nvPr/>
          </p:nvSpPr>
          <p:spPr>
            <a:xfrm>
              <a:off x="384048" y="1252728"/>
              <a:ext cx="2496312" cy="32975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BA1AFBE-A366-37E6-505B-08C5698EBCBC}"/>
                </a:ext>
              </a:extLst>
            </p:cNvPr>
            <p:cNvSpPr/>
            <p:nvPr/>
          </p:nvSpPr>
          <p:spPr>
            <a:xfrm>
              <a:off x="649224" y="1435608"/>
              <a:ext cx="2030334" cy="3840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i="1">
                  <a:solidFill>
                    <a:schemeClr val="tx1"/>
                  </a:solidFill>
                </a:rPr>
                <a:t>Ab initio</a:t>
              </a:r>
              <a:endParaRPr lang="en-GB" i="1">
                <a:solidFill>
                  <a:schemeClr val="tx1"/>
                </a:solidFill>
              </a:endParaRPr>
            </a:p>
          </p:txBody>
        </p:sp>
      </p:grpSp>
    </p:spTree>
    <p:extLst>
      <p:ext uri="{BB962C8B-B14F-4D97-AF65-F5344CB8AC3E}">
        <p14:creationId xmlns:p14="http://schemas.microsoft.com/office/powerpoint/2010/main" val="37825146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54C2183-AF17-D41F-4C1A-8A274DB3BA4D}"/>
              </a:ext>
            </a:extLst>
          </p:cNvPr>
          <p:cNvSpPr>
            <a:spLocks noGrp="1"/>
          </p:cNvSpPr>
          <p:nvPr>
            <p:ph type="sldNum" sz="quarter" idx="4"/>
          </p:nvPr>
        </p:nvSpPr>
        <p:spPr/>
        <p:txBody>
          <a:bodyPr/>
          <a:lstStyle/>
          <a:p>
            <a:fld id="{38FB3DE5-0BF2-9949-8E8E-62041A1EAFCC}" type="slidenum">
              <a:rPr lang="en-US" smtClean="0"/>
              <a:pPr/>
              <a:t>10</a:t>
            </a:fld>
            <a:endParaRPr lang="en-US"/>
          </a:p>
        </p:txBody>
      </p:sp>
      <p:sp>
        <p:nvSpPr>
          <p:cNvPr id="3" name="Title 2">
            <a:extLst>
              <a:ext uri="{FF2B5EF4-FFF2-40B4-BE49-F238E27FC236}">
                <a16:creationId xmlns:a16="http://schemas.microsoft.com/office/drawing/2014/main" id="{DBE3416A-0738-7123-B786-C6936688EFE2}"/>
              </a:ext>
            </a:extLst>
          </p:cNvPr>
          <p:cNvSpPr>
            <a:spLocks noGrp="1"/>
          </p:cNvSpPr>
          <p:nvPr>
            <p:ph type="title"/>
          </p:nvPr>
        </p:nvSpPr>
        <p:spPr/>
        <p:txBody>
          <a:bodyPr/>
          <a:lstStyle/>
          <a:p>
            <a:r>
              <a:rPr lang="es-ES"/>
              <a:t>Ab initio</a:t>
            </a:r>
            <a:endParaRPr lang="en-GB"/>
          </a:p>
        </p:txBody>
      </p:sp>
      <p:sp>
        <p:nvSpPr>
          <p:cNvPr id="4" name="Text Placeholder 3">
            <a:extLst>
              <a:ext uri="{FF2B5EF4-FFF2-40B4-BE49-F238E27FC236}">
                <a16:creationId xmlns:a16="http://schemas.microsoft.com/office/drawing/2014/main" id="{F6CDFA82-FD74-AC73-8E6D-1CD89FC034B0}"/>
              </a:ext>
            </a:extLst>
          </p:cNvPr>
          <p:cNvSpPr>
            <a:spLocks noGrp="1"/>
          </p:cNvSpPr>
          <p:nvPr>
            <p:ph type="body" sz="quarter" idx="10"/>
          </p:nvPr>
        </p:nvSpPr>
        <p:spPr/>
        <p:txBody>
          <a:bodyPr/>
          <a:lstStyle/>
          <a:p>
            <a:r>
              <a:rPr lang="es-ES"/>
              <a:t>Rely on matematical models that are pretrained</a:t>
            </a:r>
          </a:p>
          <a:p>
            <a:r>
              <a:rPr lang="es-ES"/>
              <a:t>Most common </a:t>
            </a:r>
            <a:r>
              <a:rPr lang="es-ES">
                <a:sym typeface="Wingdings" panose="05000000000000000000" pitchFamily="2" charset="2"/>
              </a:rPr>
              <a:t> Hidden Markov Models (HMMs)</a:t>
            </a:r>
            <a:endParaRPr lang="en-GB"/>
          </a:p>
        </p:txBody>
      </p:sp>
    </p:spTree>
    <p:extLst>
      <p:ext uri="{BB962C8B-B14F-4D97-AF65-F5344CB8AC3E}">
        <p14:creationId xmlns:p14="http://schemas.microsoft.com/office/powerpoint/2010/main" val="36124463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9032B85-B7A9-906D-C845-ED82F40D5B03}"/>
              </a:ext>
            </a:extLst>
          </p:cNvPr>
          <p:cNvSpPr>
            <a:spLocks noGrp="1"/>
          </p:cNvSpPr>
          <p:nvPr>
            <p:ph type="sldNum" sz="quarter" idx="4"/>
          </p:nvPr>
        </p:nvSpPr>
        <p:spPr/>
        <p:txBody>
          <a:bodyPr/>
          <a:lstStyle/>
          <a:p>
            <a:fld id="{38FB3DE5-0BF2-9949-8E8E-62041A1EAFCC}" type="slidenum">
              <a:rPr lang="en-US" smtClean="0"/>
              <a:pPr/>
              <a:t>11</a:t>
            </a:fld>
            <a:endParaRPr lang="en-US"/>
          </a:p>
        </p:txBody>
      </p:sp>
      <p:sp>
        <p:nvSpPr>
          <p:cNvPr id="3" name="Title 2">
            <a:extLst>
              <a:ext uri="{FF2B5EF4-FFF2-40B4-BE49-F238E27FC236}">
                <a16:creationId xmlns:a16="http://schemas.microsoft.com/office/drawing/2014/main" id="{AB0061BD-1F2A-5F03-34D4-6AF59A1B7D76}"/>
              </a:ext>
            </a:extLst>
          </p:cNvPr>
          <p:cNvSpPr>
            <a:spLocks noGrp="1"/>
          </p:cNvSpPr>
          <p:nvPr>
            <p:ph type="title"/>
          </p:nvPr>
        </p:nvSpPr>
        <p:spPr/>
        <p:txBody>
          <a:bodyPr/>
          <a:lstStyle/>
          <a:p>
            <a:r>
              <a:rPr lang="es-ES"/>
              <a:t>Ab initio – Hidden Marov Models</a:t>
            </a:r>
            <a:endParaRPr lang="en-GB"/>
          </a:p>
        </p:txBody>
      </p:sp>
      <p:sp>
        <p:nvSpPr>
          <p:cNvPr id="5" name="Oval 4">
            <a:extLst>
              <a:ext uri="{FF2B5EF4-FFF2-40B4-BE49-F238E27FC236}">
                <a16:creationId xmlns:a16="http://schemas.microsoft.com/office/drawing/2014/main" id="{08D612E6-FB64-913C-41C2-83AB9A394ECF}"/>
              </a:ext>
            </a:extLst>
          </p:cNvPr>
          <p:cNvSpPr/>
          <p:nvPr/>
        </p:nvSpPr>
        <p:spPr>
          <a:xfrm>
            <a:off x="3988691" y="621994"/>
            <a:ext cx="957810" cy="826274"/>
          </a:xfrm>
          <a:prstGeom prst="ellipse">
            <a:avLst/>
          </a:prstGeom>
          <a:noFill/>
          <a:ln w="28575">
            <a:solidFill>
              <a:schemeClr val="accent6">
                <a:lumMod val="75000"/>
              </a:schemeClr>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s-ES">
                <a:solidFill>
                  <a:schemeClr val="accent6">
                    <a:lumMod val="75000"/>
                  </a:schemeClr>
                </a:solidFill>
              </a:rPr>
              <a:t>Start</a:t>
            </a:r>
            <a:br>
              <a:rPr lang="es-ES">
                <a:solidFill>
                  <a:schemeClr val="accent6">
                    <a:lumMod val="75000"/>
                  </a:schemeClr>
                </a:solidFill>
              </a:rPr>
            </a:br>
            <a:r>
              <a:rPr lang="es-ES">
                <a:solidFill>
                  <a:schemeClr val="accent6">
                    <a:lumMod val="75000"/>
                  </a:schemeClr>
                </a:solidFill>
              </a:rPr>
              <a:t>(S)</a:t>
            </a:r>
            <a:endParaRPr lang="en-GB">
              <a:solidFill>
                <a:schemeClr val="accent6">
                  <a:lumMod val="75000"/>
                </a:schemeClr>
              </a:solidFill>
            </a:endParaRPr>
          </a:p>
        </p:txBody>
      </p:sp>
      <p:sp>
        <p:nvSpPr>
          <p:cNvPr id="6" name="Oval 5">
            <a:extLst>
              <a:ext uri="{FF2B5EF4-FFF2-40B4-BE49-F238E27FC236}">
                <a16:creationId xmlns:a16="http://schemas.microsoft.com/office/drawing/2014/main" id="{6AA817EA-5F5F-C824-4A33-92054A80372A}"/>
              </a:ext>
            </a:extLst>
          </p:cNvPr>
          <p:cNvSpPr/>
          <p:nvPr/>
        </p:nvSpPr>
        <p:spPr>
          <a:xfrm>
            <a:off x="1551985" y="2089912"/>
            <a:ext cx="2745695" cy="889462"/>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a:solidFill>
                  <a:schemeClr val="accent1"/>
                </a:solidFill>
              </a:rPr>
              <a:t>Intergenic region</a:t>
            </a:r>
            <a:br>
              <a:rPr lang="es-ES">
                <a:solidFill>
                  <a:schemeClr val="accent1"/>
                </a:solidFill>
              </a:rPr>
            </a:br>
            <a:r>
              <a:rPr lang="es-ES">
                <a:solidFill>
                  <a:schemeClr val="accent1"/>
                </a:solidFill>
              </a:rPr>
              <a:t>(I)</a:t>
            </a:r>
            <a:endParaRPr lang="en-GB">
              <a:solidFill>
                <a:schemeClr val="accent1"/>
              </a:solidFill>
            </a:endParaRPr>
          </a:p>
        </p:txBody>
      </p:sp>
      <p:sp>
        <p:nvSpPr>
          <p:cNvPr id="11" name="Oval 10">
            <a:extLst>
              <a:ext uri="{FF2B5EF4-FFF2-40B4-BE49-F238E27FC236}">
                <a16:creationId xmlns:a16="http://schemas.microsoft.com/office/drawing/2014/main" id="{1D7D0609-9DB2-3720-A538-7B7C9C16BCC0}"/>
              </a:ext>
            </a:extLst>
          </p:cNvPr>
          <p:cNvSpPr/>
          <p:nvPr/>
        </p:nvSpPr>
        <p:spPr>
          <a:xfrm>
            <a:off x="4692670" y="2089912"/>
            <a:ext cx="2745695" cy="889462"/>
          </a:xfrm>
          <a:prstGeom prst="ellipse">
            <a:avLst/>
          </a:prstGeom>
          <a:no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a:solidFill>
                  <a:schemeClr val="accent2"/>
                </a:solidFill>
              </a:rPr>
              <a:t>Coding region</a:t>
            </a:r>
            <a:br>
              <a:rPr lang="es-ES">
                <a:solidFill>
                  <a:schemeClr val="accent2"/>
                </a:solidFill>
              </a:rPr>
            </a:br>
            <a:r>
              <a:rPr lang="es-ES">
                <a:solidFill>
                  <a:schemeClr val="accent2"/>
                </a:solidFill>
              </a:rPr>
              <a:t>(C)</a:t>
            </a:r>
            <a:endParaRPr lang="en-GB">
              <a:solidFill>
                <a:schemeClr val="accent2"/>
              </a:solidFill>
            </a:endParaRPr>
          </a:p>
        </p:txBody>
      </p:sp>
      <p:cxnSp>
        <p:nvCxnSpPr>
          <p:cNvPr id="13" name="Connector: Curved 12">
            <a:extLst>
              <a:ext uri="{FF2B5EF4-FFF2-40B4-BE49-F238E27FC236}">
                <a16:creationId xmlns:a16="http://schemas.microsoft.com/office/drawing/2014/main" id="{98B57C76-57ED-3D80-0381-88853A8484C7}"/>
              </a:ext>
            </a:extLst>
          </p:cNvPr>
          <p:cNvCxnSpPr>
            <a:cxnSpLocks/>
            <a:stCxn id="5" idx="4"/>
            <a:endCxn id="6" idx="0"/>
          </p:cNvCxnSpPr>
          <p:nvPr/>
        </p:nvCxnSpPr>
        <p:spPr>
          <a:xfrm rot="5400000">
            <a:off x="3375393" y="997709"/>
            <a:ext cx="641644" cy="1542763"/>
          </a:xfrm>
          <a:prstGeom prst="curvedConnector3">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0474A0D1-B00A-C13F-9F63-4C334654C437}"/>
              </a:ext>
            </a:extLst>
          </p:cNvPr>
          <p:cNvCxnSpPr>
            <a:cxnSpLocks/>
            <a:stCxn id="5" idx="4"/>
            <a:endCxn id="11" idx="0"/>
          </p:cNvCxnSpPr>
          <p:nvPr/>
        </p:nvCxnSpPr>
        <p:spPr>
          <a:xfrm rot="16200000" flipH="1">
            <a:off x="4945735" y="970129"/>
            <a:ext cx="641644" cy="1597922"/>
          </a:xfrm>
          <a:prstGeom prst="curvedConnector3">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Curved 16">
            <a:extLst>
              <a:ext uri="{FF2B5EF4-FFF2-40B4-BE49-F238E27FC236}">
                <a16:creationId xmlns:a16="http://schemas.microsoft.com/office/drawing/2014/main" id="{761A7098-51E0-0107-0B5F-515C4E7E4AB4}"/>
              </a:ext>
            </a:extLst>
          </p:cNvPr>
          <p:cNvCxnSpPr>
            <a:cxnSpLocks/>
            <a:stCxn id="6" idx="1"/>
            <a:endCxn id="6" idx="0"/>
          </p:cNvCxnSpPr>
          <p:nvPr/>
        </p:nvCxnSpPr>
        <p:spPr>
          <a:xfrm rot="5400000" flipH="1" flipV="1">
            <a:off x="2374329" y="1669667"/>
            <a:ext cx="130259" cy="970750"/>
          </a:xfrm>
          <a:prstGeom prst="curvedConnector3">
            <a:avLst>
              <a:gd name="adj1" fmla="val 275497"/>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onnector: Curved 21">
            <a:extLst>
              <a:ext uri="{FF2B5EF4-FFF2-40B4-BE49-F238E27FC236}">
                <a16:creationId xmlns:a16="http://schemas.microsoft.com/office/drawing/2014/main" id="{6D5451B4-B2D1-2D85-9D60-CBF78CE00646}"/>
              </a:ext>
            </a:extLst>
          </p:cNvPr>
          <p:cNvCxnSpPr>
            <a:stCxn id="11" idx="3"/>
            <a:endCxn id="6" idx="5"/>
          </p:cNvCxnSpPr>
          <p:nvPr/>
        </p:nvCxnSpPr>
        <p:spPr>
          <a:xfrm rot="5400000">
            <a:off x="4495175" y="2249522"/>
            <a:ext cx="12700" cy="1199186"/>
          </a:xfrm>
          <a:prstGeom prst="curvedConnector3">
            <a:avLst>
              <a:gd name="adj1" fmla="val 282566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onnector: Curved 23">
            <a:extLst>
              <a:ext uri="{FF2B5EF4-FFF2-40B4-BE49-F238E27FC236}">
                <a16:creationId xmlns:a16="http://schemas.microsoft.com/office/drawing/2014/main" id="{5AC0D23E-D201-81BA-D310-B40CBA0D10EF}"/>
              </a:ext>
            </a:extLst>
          </p:cNvPr>
          <p:cNvCxnSpPr>
            <a:stCxn id="6" idx="7"/>
            <a:endCxn id="11" idx="1"/>
          </p:cNvCxnSpPr>
          <p:nvPr/>
        </p:nvCxnSpPr>
        <p:spPr>
          <a:xfrm rot="5400000" flipH="1" flipV="1">
            <a:off x="4495175" y="1620578"/>
            <a:ext cx="12700" cy="1199186"/>
          </a:xfrm>
          <a:prstGeom prst="curvedConnector3">
            <a:avLst>
              <a:gd name="adj1" fmla="val 282566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6" name="Connector: Curved 25">
            <a:extLst>
              <a:ext uri="{FF2B5EF4-FFF2-40B4-BE49-F238E27FC236}">
                <a16:creationId xmlns:a16="http://schemas.microsoft.com/office/drawing/2014/main" id="{5A7395A5-5EE4-2A02-9204-58A6595DC93B}"/>
              </a:ext>
            </a:extLst>
          </p:cNvPr>
          <p:cNvCxnSpPr>
            <a:stCxn id="11" idx="7"/>
            <a:endCxn id="11" idx="0"/>
          </p:cNvCxnSpPr>
          <p:nvPr/>
        </p:nvCxnSpPr>
        <p:spPr>
          <a:xfrm rot="16200000" flipV="1">
            <a:off x="6485764" y="1669667"/>
            <a:ext cx="130259" cy="970749"/>
          </a:xfrm>
          <a:prstGeom prst="curvedConnector3">
            <a:avLst>
              <a:gd name="adj1" fmla="val 275497"/>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84242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1FDD7D-F08B-58D9-2BFC-394ECB7DC5E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0D0FA2C-63E2-05B4-CDD4-2205AD33B1E8}"/>
              </a:ext>
            </a:extLst>
          </p:cNvPr>
          <p:cNvSpPr>
            <a:spLocks noGrp="1"/>
          </p:cNvSpPr>
          <p:nvPr>
            <p:ph type="sldNum" sz="quarter" idx="4"/>
          </p:nvPr>
        </p:nvSpPr>
        <p:spPr/>
        <p:txBody>
          <a:bodyPr/>
          <a:lstStyle/>
          <a:p>
            <a:fld id="{38FB3DE5-0BF2-9949-8E8E-62041A1EAFCC}" type="slidenum">
              <a:rPr lang="en-US" smtClean="0"/>
              <a:pPr/>
              <a:t>12</a:t>
            </a:fld>
            <a:endParaRPr lang="en-US"/>
          </a:p>
        </p:txBody>
      </p:sp>
      <p:sp>
        <p:nvSpPr>
          <p:cNvPr id="3" name="Title 2">
            <a:extLst>
              <a:ext uri="{FF2B5EF4-FFF2-40B4-BE49-F238E27FC236}">
                <a16:creationId xmlns:a16="http://schemas.microsoft.com/office/drawing/2014/main" id="{4503B391-3400-C5EE-C32C-0F8FCEBA5A7B}"/>
              </a:ext>
            </a:extLst>
          </p:cNvPr>
          <p:cNvSpPr>
            <a:spLocks noGrp="1"/>
          </p:cNvSpPr>
          <p:nvPr>
            <p:ph type="title"/>
          </p:nvPr>
        </p:nvSpPr>
        <p:spPr/>
        <p:txBody>
          <a:bodyPr/>
          <a:lstStyle/>
          <a:p>
            <a:r>
              <a:rPr lang="es-ES"/>
              <a:t>Ab initio – Hidden Marov Models</a:t>
            </a:r>
            <a:endParaRPr lang="en-GB"/>
          </a:p>
        </p:txBody>
      </p:sp>
      <p:sp>
        <p:nvSpPr>
          <p:cNvPr id="5" name="Oval 4">
            <a:extLst>
              <a:ext uri="{FF2B5EF4-FFF2-40B4-BE49-F238E27FC236}">
                <a16:creationId xmlns:a16="http://schemas.microsoft.com/office/drawing/2014/main" id="{09752488-8066-9D6C-1566-04D128D1691B}"/>
              </a:ext>
            </a:extLst>
          </p:cNvPr>
          <p:cNvSpPr/>
          <p:nvPr/>
        </p:nvSpPr>
        <p:spPr>
          <a:xfrm>
            <a:off x="3988691" y="621994"/>
            <a:ext cx="957810" cy="826274"/>
          </a:xfrm>
          <a:prstGeom prst="ellipse">
            <a:avLst/>
          </a:prstGeom>
          <a:noFill/>
          <a:ln w="28575">
            <a:solidFill>
              <a:schemeClr val="accent6">
                <a:lumMod val="75000"/>
              </a:schemeClr>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s-ES">
                <a:solidFill>
                  <a:schemeClr val="accent6">
                    <a:lumMod val="75000"/>
                  </a:schemeClr>
                </a:solidFill>
              </a:rPr>
              <a:t>Start</a:t>
            </a:r>
            <a:br>
              <a:rPr lang="es-ES">
                <a:solidFill>
                  <a:schemeClr val="accent6">
                    <a:lumMod val="75000"/>
                  </a:schemeClr>
                </a:solidFill>
              </a:rPr>
            </a:br>
            <a:r>
              <a:rPr lang="es-ES">
                <a:solidFill>
                  <a:schemeClr val="accent6">
                    <a:lumMod val="75000"/>
                  </a:schemeClr>
                </a:solidFill>
              </a:rPr>
              <a:t>(S)</a:t>
            </a:r>
            <a:endParaRPr lang="en-GB">
              <a:solidFill>
                <a:schemeClr val="accent6">
                  <a:lumMod val="75000"/>
                </a:schemeClr>
              </a:solidFill>
            </a:endParaRPr>
          </a:p>
        </p:txBody>
      </p:sp>
      <p:sp>
        <p:nvSpPr>
          <p:cNvPr id="6" name="Oval 5">
            <a:extLst>
              <a:ext uri="{FF2B5EF4-FFF2-40B4-BE49-F238E27FC236}">
                <a16:creationId xmlns:a16="http://schemas.microsoft.com/office/drawing/2014/main" id="{47373BAA-9B12-6C04-AC24-2D31EC18DC55}"/>
              </a:ext>
            </a:extLst>
          </p:cNvPr>
          <p:cNvSpPr/>
          <p:nvPr/>
        </p:nvSpPr>
        <p:spPr>
          <a:xfrm>
            <a:off x="1551985" y="2089912"/>
            <a:ext cx="2745695" cy="889462"/>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a:solidFill>
                  <a:schemeClr val="accent1"/>
                </a:solidFill>
              </a:rPr>
              <a:t>Intergenic region</a:t>
            </a:r>
            <a:br>
              <a:rPr lang="es-ES">
                <a:solidFill>
                  <a:schemeClr val="accent1"/>
                </a:solidFill>
              </a:rPr>
            </a:br>
            <a:r>
              <a:rPr lang="es-ES">
                <a:solidFill>
                  <a:schemeClr val="accent1"/>
                </a:solidFill>
              </a:rPr>
              <a:t>(I)</a:t>
            </a:r>
            <a:endParaRPr lang="en-GB">
              <a:solidFill>
                <a:schemeClr val="accent1"/>
              </a:solidFill>
            </a:endParaRPr>
          </a:p>
        </p:txBody>
      </p:sp>
      <p:sp>
        <p:nvSpPr>
          <p:cNvPr id="11" name="Oval 10">
            <a:extLst>
              <a:ext uri="{FF2B5EF4-FFF2-40B4-BE49-F238E27FC236}">
                <a16:creationId xmlns:a16="http://schemas.microsoft.com/office/drawing/2014/main" id="{50EFC96B-B9F2-6A3C-80E6-E3AF65126EA5}"/>
              </a:ext>
            </a:extLst>
          </p:cNvPr>
          <p:cNvSpPr/>
          <p:nvPr/>
        </p:nvSpPr>
        <p:spPr>
          <a:xfrm>
            <a:off x="4692670" y="2089912"/>
            <a:ext cx="2745695" cy="889462"/>
          </a:xfrm>
          <a:prstGeom prst="ellipse">
            <a:avLst/>
          </a:prstGeom>
          <a:no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a:solidFill>
                  <a:schemeClr val="accent2"/>
                </a:solidFill>
              </a:rPr>
              <a:t>Coding region</a:t>
            </a:r>
            <a:br>
              <a:rPr lang="es-ES">
                <a:solidFill>
                  <a:schemeClr val="accent2"/>
                </a:solidFill>
              </a:rPr>
            </a:br>
            <a:r>
              <a:rPr lang="es-ES">
                <a:solidFill>
                  <a:schemeClr val="accent2"/>
                </a:solidFill>
              </a:rPr>
              <a:t>(C)</a:t>
            </a:r>
            <a:endParaRPr lang="en-GB">
              <a:solidFill>
                <a:schemeClr val="accent2"/>
              </a:solidFill>
            </a:endParaRPr>
          </a:p>
        </p:txBody>
      </p:sp>
      <p:cxnSp>
        <p:nvCxnSpPr>
          <p:cNvPr id="13" name="Connector: Curved 12">
            <a:extLst>
              <a:ext uri="{FF2B5EF4-FFF2-40B4-BE49-F238E27FC236}">
                <a16:creationId xmlns:a16="http://schemas.microsoft.com/office/drawing/2014/main" id="{12D9485B-61EB-97C0-A0CE-05FDC99829BD}"/>
              </a:ext>
            </a:extLst>
          </p:cNvPr>
          <p:cNvCxnSpPr>
            <a:cxnSpLocks/>
            <a:stCxn id="5" idx="4"/>
            <a:endCxn id="6" idx="0"/>
          </p:cNvCxnSpPr>
          <p:nvPr/>
        </p:nvCxnSpPr>
        <p:spPr>
          <a:xfrm rot="5400000">
            <a:off x="3375393" y="997709"/>
            <a:ext cx="641644" cy="1542763"/>
          </a:xfrm>
          <a:prstGeom prst="curvedConnector3">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B696F892-FCA3-16DD-F9CB-2DA7A1A4A9BB}"/>
              </a:ext>
            </a:extLst>
          </p:cNvPr>
          <p:cNvCxnSpPr>
            <a:cxnSpLocks/>
            <a:stCxn id="5" idx="4"/>
            <a:endCxn id="11" idx="0"/>
          </p:cNvCxnSpPr>
          <p:nvPr/>
        </p:nvCxnSpPr>
        <p:spPr>
          <a:xfrm rot="16200000" flipH="1">
            <a:off x="4945735" y="970129"/>
            <a:ext cx="641644" cy="1597922"/>
          </a:xfrm>
          <a:prstGeom prst="curvedConnector3">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Curved 16">
            <a:extLst>
              <a:ext uri="{FF2B5EF4-FFF2-40B4-BE49-F238E27FC236}">
                <a16:creationId xmlns:a16="http://schemas.microsoft.com/office/drawing/2014/main" id="{78D1BA08-3DF2-D4C7-7216-D325B4AE0A61}"/>
              </a:ext>
            </a:extLst>
          </p:cNvPr>
          <p:cNvCxnSpPr>
            <a:cxnSpLocks/>
            <a:stCxn id="6" idx="1"/>
            <a:endCxn id="6" idx="0"/>
          </p:cNvCxnSpPr>
          <p:nvPr/>
        </p:nvCxnSpPr>
        <p:spPr>
          <a:xfrm rot="5400000" flipH="1" flipV="1">
            <a:off x="2374329" y="1669667"/>
            <a:ext cx="130259" cy="970750"/>
          </a:xfrm>
          <a:prstGeom prst="curvedConnector3">
            <a:avLst>
              <a:gd name="adj1" fmla="val 275497"/>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onnector: Curved 21">
            <a:extLst>
              <a:ext uri="{FF2B5EF4-FFF2-40B4-BE49-F238E27FC236}">
                <a16:creationId xmlns:a16="http://schemas.microsoft.com/office/drawing/2014/main" id="{5E659FC9-69F2-D66F-945D-7DEA5B8CFCA5}"/>
              </a:ext>
            </a:extLst>
          </p:cNvPr>
          <p:cNvCxnSpPr>
            <a:stCxn id="11" idx="3"/>
            <a:endCxn id="6" idx="5"/>
          </p:cNvCxnSpPr>
          <p:nvPr/>
        </p:nvCxnSpPr>
        <p:spPr>
          <a:xfrm rot="5400000">
            <a:off x="4495175" y="2249522"/>
            <a:ext cx="12700" cy="1199186"/>
          </a:xfrm>
          <a:prstGeom prst="curvedConnector3">
            <a:avLst>
              <a:gd name="adj1" fmla="val 282566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onnector: Curved 23">
            <a:extLst>
              <a:ext uri="{FF2B5EF4-FFF2-40B4-BE49-F238E27FC236}">
                <a16:creationId xmlns:a16="http://schemas.microsoft.com/office/drawing/2014/main" id="{F1872ECD-63E4-A870-BBB8-A5658C4298B4}"/>
              </a:ext>
            </a:extLst>
          </p:cNvPr>
          <p:cNvCxnSpPr>
            <a:stCxn id="6" idx="7"/>
            <a:endCxn id="11" idx="1"/>
          </p:cNvCxnSpPr>
          <p:nvPr/>
        </p:nvCxnSpPr>
        <p:spPr>
          <a:xfrm rot="5400000" flipH="1" flipV="1">
            <a:off x="4495175" y="1620578"/>
            <a:ext cx="12700" cy="1199186"/>
          </a:xfrm>
          <a:prstGeom prst="curvedConnector3">
            <a:avLst>
              <a:gd name="adj1" fmla="val 282566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6" name="Connector: Curved 25">
            <a:extLst>
              <a:ext uri="{FF2B5EF4-FFF2-40B4-BE49-F238E27FC236}">
                <a16:creationId xmlns:a16="http://schemas.microsoft.com/office/drawing/2014/main" id="{FA42E40B-4F01-2BE3-C3FC-99A1D822E39E}"/>
              </a:ext>
            </a:extLst>
          </p:cNvPr>
          <p:cNvCxnSpPr>
            <a:stCxn id="11" idx="7"/>
            <a:endCxn id="11" idx="0"/>
          </p:cNvCxnSpPr>
          <p:nvPr/>
        </p:nvCxnSpPr>
        <p:spPr>
          <a:xfrm rot="16200000" flipV="1">
            <a:off x="6485764" y="1669667"/>
            <a:ext cx="130259" cy="970749"/>
          </a:xfrm>
          <a:prstGeom prst="curvedConnector3">
            <a:avLst>
              <a:gd name="adj1" fmla="val 275497"/>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71D78ACA-ADED-2195-5D48-42FBFA0C3220}"/>
              </a:ext>
            </a:extLst>
          </p:cNvPr>
          <p:cNvSpPr txBox="1"/>
          <p:nvPr/>
        </p:nvSpPr>
        <p:spPr>
          <a:xfrm>
            <a:off x="420934" y="2248584"/>
            <a:ext cx="1055089" cy="646331"/>
          </a:xfrm>
          <a:prstGeom prst="rect">
            <a:avLst/>
          </a:prstGeom>
          <a:noFill/>
        </p:spPr>
        <p:txBody>
          <a:bodyPr wrap="square" rtlCol="0">
            <a:spAutoFit/>
          </a:bodyPr>
          <a:lstStyle/>
          <a:p>
            <a:r>
              <a:rPr lang="es-ES"/>
              <a:t>Hidden</a:t>
            </a:r>
            <a:br>
              <a:rPr lang="es-ES"/>
            </a:br>
            <a:r>
              <a:rPr lang="es-ES"/>
              <a:t>states</a:t>
            </a:r>
            <a:endParaRPr lang="en-GB"/>
          </a:p>
        </p:txBody>
      </p:sp>
    </p:spTree>
    <p:extLst>
      <p:ext uri="{BB962C8B-B14F-4D97-AF65-F5344CB8AC3E}">
        <p14:creationId xmlns:p14="http://schemas.microsoft.com/office/powerpoint/2010/main" val="1706035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47326-9AC9-0262-8124-1E30B14B202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68032D7-7B95-8817-08F6-53DFC2861412}"/>
              </a:ext>
            </a:extLst>
          </p:cNvPr>
          <p:cNvSpPr>
            <a:spLocks noGrp="1"/>
          </p:cNvSpPr>
          <p:nvPr>
            <p:ph type="sldNum" sz="quarter" idx="4"/>
          </p:nvPr>
        </p:nvSpPr>
        <p:spPr/>
        <p:txBody>
          <a:bodyPr/>
          <a:lstStyle/>
          <a:p>
            <a:fld id="{38FB3DE5-0BF2-9949-8E8E-62041A1EAFCC}" type="slidenum">
              <a:rPr lang="en-US" smtClean="0"/>
              <a:pPr/>
              <a:t>13</a:t>
            </a:fld>
            <a:endParaRPr lang="en-US"/>
          </a:p>
        </p:txBody>
      </p:sp>
      <p:sp>
        <p:nvSpPr>
          <p:cNvPr id="3" name="Title 2">
            <a:extLst>
              <a:ext uri="{FF2B5EF4-FFF2-40B4-BE49-F238E27FC236}">
                <a16:creationId xmlns:a16="http://schemas.microsoft.com/office/drawing/2014/main" id="{73B2DBFF-F54F-E6D3-ABF5-7E7127F21D87}"/>
              </a:ext>
            </a:extLst>
          </p:cNvPr>
          <p:cNvSpPr>
            <a:spLocks noGrp="1"/>
          </p:cNvSpPr>
          <p:nvPr>
            <p:ph type="title"/>
          </p:nvPr>
        </p:nvSpPr>
        <p:spPr/>
        <p:txBody>
          <a:bodyPr/>
          <a:lstStyle/>
          <a:p>
            <a:r>
              <a:rPr lang="es-ES"/>
              <a:t>Ab initio – Hidden Marov Models</a:t>
            </a:r>
            <a:endParaRPr lang="en-GB"/>
          </a:p>
        </p:txBody>
      </p:sp>
      <p:sp>
        <p:nvSpPr>
          <p:cNvPr id="5" name="Oval 4">
            <a:extLst>
              <a:ext uri="{FF2B5EF4-FFF2-40B4-BE49-F238E27FC236}">
                <a16:creationId xmlns:a16="http://schemas.microsoft.com/office/drawing/2014/main" id="{27437851-2BD4-76F8-5FF9-63E996DE664B}"/>
              </a:ext>
            </a:extLst>
          </p:cNvPr>
          <p:cNvSpPr/>
          <p:nvPr/>
        </p:nvSpPr>
        <p:spPr>
          <a:xfrm>
            <a:off x="3988691" y="621994"/>
            <a:ext cx="957810" cy="826274"/>
          </a:xfrm>
          <a:prstGeom prst="ellipse">
            <a:avLst/>
          </a:prstGeom>
          <a:noFill/>
          <a:ln w="28575">
            <a:solidFill>
              <a:schemeClr val="accent6">
                <a:lumMod val="75000"/>
              </a:schemeClr>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s-ES">
                <a:solidFill>
                  <a:schemeClr val="accent6">
                    <a:lumMod val="75000"/>
                  </a:schemeClr>
                </a:solidFill>
              </a:rPr>
              <a:t>Start</a:t>
            </a:r>
            <a:br>
              <a:rPr lang="es-ES">
                <a:solidFill>
                  <a:schemeClr val="accent6">
                    <a:lumMod val="75000"/>
                  </a:schemeClr>
                </a:solidFill>
              </a:rPr>
            </a:br>
            <a:r>
              <a:rPr lang="es-ES">
                <a:solidFill>
                  <a:schemeClr val="accent6">
                    <a:lumMod val="75000"/>
                  </a:schemeClr>
                </a:solidFill>
              </a:rPr>
              <a:t>(S)</a:t>
            </a:r>
            <a:endParaRPr lang="en-GB">
              <a:solidFill>
                <a:schemeClr val="accent6">
                  <a:lumMod val="75000"/>
                </a:schemeClr>
              </a:solidFill>
            </a:endParaRPr>
          </a:p>
        </p:txBody>
      </p:sp>
      <p:sp>
        <p:nvSpPr>
          <p:cNvPr id="6" name="Oval 5">
            <a:extLst>
              <a:ext uri="{FF2B5EF4-FFF2-40B4-BE49-F238E27FC236}">
                <a16:creationId xmlns:a16="http://schemas.microsoft.com/office/drawing/2014/main" id="{6661D2C0-6133-B19D-FE7E-04B08462BFD3}"/>
              </a:ext>
            </a:extLst>
          </p:cNvPr>
          <p:cNvSpPr/>
          <p:nvPr/>
        </p:nvSpPr>
        <p:spPr>
          <a:xfrm>
            <a:off x="1551985" y="2089912"/>
            <a:ext cx="2745695" cy="889462"/>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a:solidFill>
                  <a:schemeClr val="accent1"/>
                </a:solidFill>
              </a:rPr>
              <a:t>Intergenic region</a:t>
            </a:r>
            <a:br>
              <a:rPr lang="es-ES">
                <a:solidFill>
                  <a:schemeClr val="accent1"/>
                </a:solidFill>
              </a:rPr>
            </a:br>
            <a:r>
              <a:rPr lang="es-ES">
                <a:solidFill>
                  <a:schemeClr val="accent1"/>
                </a:solidFill>
              </a:rPr>
              <a:t>(I)</a:t>
            </a:r>
            <a:endParaRPr lang="en-GB">
              <a:solidFill>
                <a:schemeClr val="accent1"/>
              </a:solidFill>
            </a:endParaRPr>
          </a:p>
        </p:txBody>
      </p:sp>
      <p:sp>
        <p:nvSpPr>
          <p:cNvPr id="11" name="Oval 10">
            <a:extLst>
              <a:ext uri="{FF2B5EF4-FFF2-40B4-BE49-F238E27FC236}">
                <a16:creationId xmlns:a16="http://schemas.microsoft.com/office/drawing/2014/main" id="{EFA85F3E-354A-0679-6BDE-211DE1655C34}"/>
              </a:ext>
            </a:extLst>
          </p:cNvPr>
          <p:cNvSpPr/>
          <p:nvPr/>
        </p:nvSpPr>
        <p:spPr>
          <a:xfrm>
            <a:off x="4692670" y="2089912"/>
            <a:ext cx="2745695" cy="889462"/>
          </a:xfrm>
          <a:prstGeom prst="ellipse">
            <a:avLst/>
          </a:prstGeom>
          <a:no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a:solidFill>
                  <a:schemeClr val="accent2"/>
                </a:solidFill>
              </a:rPr>
              <a:t>Coding region</a:t>
            </a:r>
            <a:br>
              <a:rPr lang="es-ES">
                <a:solidFill>
                  <a:schemeClr val="accent2"/>
                </a:solidFill>
              </a:rPr>
            </a:br>
            <a:r>
              <a:rPr lang="es-ES">
                <a:solidFill>
                  <a:schemeClr val="accent2"/>
                </a:solidFill>
              </a:rPr>
              <a:t>(C)</a:t>
            </a:r>
            <a:endParaRPr lang="en-GB">
              <a:solidFill>
                <a:schemeClr val="accent2"/>
              </a:solidFill>
            </a:endParaRPr>
          </a:p>
        </p:txBody>
      </p:sp>
      <p:cxnSp>
        <p:nvCxnSpPr>
          <p:cNvPr id="13" name="Connector: Curved 12">
            <a:extLst>
              <a:ext uri="{FF2B5EF4-FFF2-40B4-BE49-F238E27FC236}">
                <a16:creationId xmlns:a16="http://schemas.microsoft.com/office/drawing/2014/main" id="{234B9739-726D-E7B1-4CDA-519C87806714}"/>
              </a:ext>
            </a:extLst>
          </p:cNvPr>
          <p:cNvCxnSpPr>
            <a:cxnSpLocks/>
            <a:stCxn id="5" idx="4"/>
            <a:endCxn id="6" idx="0"/>
          </p:cNvCxnSpPr>
          <p:nvPr/>
        </p:nvCxnSpPr>
        <p:spPr>
          <a:xfrm rot="5400000">
            <a:off x="3375393" y="997709"/>
            <a:ext cx="641644" cy="1542763"/>
          </a:xfrm>
          <a:prstGeom prst="curvedConnector3">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F1283122-0253-FCCA-85BF-DAFA36C1FDBC}"/>
              </a:ext>
            </a:extLst>
          </p:cNvPr>
          <p:cNvCxnSpPr>
            <a:cxnSpLocks/>
            <a:stCxn id="5" idx="4"/>
            <a:endCxn id="11" idx="0"/>
          </p:cNvCxnSpPr>
          <p:nvPr/>
        </p:nvCxnSpPr>
        <p:spPr>
          <a:xfrm rot="16200000" flipH="1">
            <a:off x="4945735" y="970129"/>
            <a:ext cx="641644" cy="1597922"/>
          </a:xfrm>
          <a:prstGeom prst="curvedConnector3">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Curved 16">
            <a:extLst>
              <a:ext uri="{FF2B5EF4-FFF2-40B4-BE49-F238E27FC236}">
                <a16:creationId xmlns:a16="http://schemas.microsoft.com/office/drawing/2014/main" id="{DC8A2D11-75F8-042C-FE97-4B720E7E8356}"/>
              </a:ext>
            </a:extLst>
          </p:cNvPr>
          <p:cNvCxnSpPr>
            <a:cxnSpLocks/>
            <a:stCxn id="6" idx="1"/>
            <a:endCxn id="6" idx="0"/>
          </p:cNvCxnSpPr>
          <p:nvPr/>
        </p:nvCxnSpPr>
        <p:spPr>
          <a:xfrm rot="5400000" flipH="1" flipV="1">
            <a:off x="2374329" y="1669667"/>
            <a:ext cx="130259" cy="970750"/>
          </a:xfrm>
          <a:prstGeom prst="curvedConnector3">
            <a:avLst>
              <a:gd name="adj1" fmla="val 275497"/>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onnector: Curved 21">
            <a:extLst>
              <a:ext uri="{FF2B5EF4-FFF2-40B4-BE49-F238E27FC236}">
                <a16:creationId xmlns:a16="http://schemas.microsoft.com/office/drawing/2014/main" id="{52C1AC74-9C6A-D9FB-9617-083915DBAA03}"/>
              </a:ext>
            </a:extLst>
          </p:cNvPr>
          <p:cNvCxnSpPr>
            <a:stCxn id="11" idx="3"/>
            <a:endCxn id="6" idx="5"/>
          </p:cNvCxnSpPr>
          <p:nvPr/>
        </p:nvCxnSpPr>
        <p:spPr>
          <a:xfrm rot="5400000">
            <a:off x="4495175" y="2249522"/>
            <a:ext cx="12700" cy="1199186"/>
          </a:xfrm>
          <a:prstGeom prst="curvedConnector3">
            <a:avLst>
              <a:gd name="adj1" fmla="val 282566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onnector: Curved 23">
            <a:extLst>
              <a:ext uri="{FF2B5EF4-FFF2-40B4-BE49-F238E27FC236}">
                <a16:creationId xmlns:a16="http://schemas.microsoft.com/office/drawing/2014/main" id="{5500B965-0AB2-26C6-5CE9-D44E8AC87388}"/>
              </a:ext>
            </a:extLst>
          </p:cNvPr>
          <p:cNvCxnSpPr>
            <a:stCxn id="6" idx="7"/>
            <a:endCxn id="11" idx="1"/>
          </p:cNvCxnSpPr>
          <p:nvPr/>
        </p:nvCxnSpPr>
        <p:spPr>
          <a:xfrm rot="5400000" flipH="1" flipV="1">
            <a:off x="4495175" y="1620578"/>
            <a:ext cx="12700" cy="1199186"/>
          </a:xfrm>
          <a:prstGeom prst="curvedConnector3">
            <a:avLst>
              <a:gd name="adj1" fmla="val 282566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6" name="Connector: Curved 25">
            <a:extLst>
              <a:ext uri="{FF2B5EF4-FFF2-40B4-BE49-F238E27FC236}">
                <a16:creationId xmlns:a16="http://schemas.microsoft.com/office/drawing/2014/main" id="{3D6882CF-3553-26B1-4187-6D34D85592D0}"/>
              </a:ext>
            </a:extLst>
          </p:cNvPr>
          <p:cNvCxnSpPr>
            <a:stCxn id="11" idx="7"/>
            <a:endCxn id="11" idx="0"/>
          </p:cNvCxnSpPr>
          <p:nvPr/>
        </p:nvCxnSpPr>
        <p:spPr>
          <a:xfrm rot="16200000" flipV="1">
            <a:off x="6485764" y="1669667"/>
            <a:ext cx="130259" cy="970749"/>
          </a:xfrm>
          <a:prstGeom prst="curvedConnector3">
            <a:avLst>
              <a:gd name="adj1" fmla="val 275497"/>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A7034C08-256E-9EF7-34D2-7ABB4A9AF83C}"/>
              </a:ext>
            </a:extLst>
          </p:cNvPr>
          <p:cNvSpPr txBox="1"/>
          <p:nvPr/>
        </p:nvSpPr>
        <p:spPr>
          <a:xfrm>
            <a:off x="420934" y="2248584"/>
            <a:ext cx="1055089" cy="646331"/>
          </a:xfrm>
          <a:prstGeom prst="rect">
            <a:avLst/>
          </a:prstGeom>
          <a:noFill/>
        </p:spPr>
        <p:txBody>
          <a:bodyPr wrap="square" rtlCol="0">
            <a:spAutoFit/>
          </a:bodyPr>
          <a:lstStyle/>
          <a:p>
            <a:r>
              <a:rPr lang="es-ES"/>
              <a:t>Hidden</a:t>
            </a:r>
            <a:br>
              <a:rPr lang="es-ES"/>
            </a:br>
            <a:r>
              <a:rPr lang="es-ES"/>
              <a:t>states</a:t>
            </a:r>
            <a:endParaRPr lang="en-GB"/>
          </a:p>
        </p:txBody>
      </p:sp>
      <p:sp>
        <p:nvSpPr>
          <p:cNvPr id="7" name="TextBox 6">
            <a:extLst>
              <a:ext uri="{FF2B5EF4-FFF2-40B4-BE49-F238E27FC236}">
                <a16:creationId xmlns:a16="http://schemas.microsoft.com/office/drawing/2014/main" id="{92CFDE1A-64B0-199A-2261-854727BDFDF3}"/>
              </a:ext>
            </a:extLst>
          </p:cNvPr>
          <p:cNvSpPr txBox="1"/>
          <p:nvPr/>
        </p:nvSpPr>
        <p:spPr>
          <a:xfrm>
            <a:off x="420934" y="3310552"/>
            <a:ext cx="5402254" cy="738664"/>
          </a:xfrm>
          <a:prstGeom prst="rect">
            <a:avLst/>
          </a:prstGeom>
          <a:noFill/>
        </p:spPr>
        <p:txBody>
          <a:bodyPr wrap="square" rtlCol="0">
            <a:spAutoFit/>
          </a:bodyPr>
          <a:lstStyle/>
          <a:p>
            <a:r>
              <a:rPr lang="es-ES" sz="1400" b="1"/>
              <a:t>A possible path for the genome sequence:</a:t>
            </a:r>
          </a:p>
          <a:p>
            <a:endParaRPr lang="es-ES" sz="1400" b="1"/>
          </a:p>
          <a:p>
            <a:r>
              <a:rPr lang="es-ES" sz="1400"/>
              <a:t>AABBBAA</a:t>
            </a:r>
            <a:endParaRPr lang="en-GB" sz="1400"/>
          </a:p>
        </p:txBody>
      </p:sp>
    </p:spTree>
    <p:extLst>
      <p:ext uri="{BB962C8B-B14F-4D97-AF65-F5344CB8AC3E}">
        <p14:creationId xmlns:p14="http://schemas.microsoft.com/office/powerpoint/2010/main" val="23398842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E32C4-C4BB-BDB2-4DFC-FCC06F1EB78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3FC1231-C5BE-D084-00E6-4476C26A5D17}"/>
              </a:ext>
            </a:extLst>
          </p:cNvPr>
          <p:cNvSpPr>
            <a:spLocks noGrp="1"/>
          </p:cNvSpPr>
          <p:nvPr>
            <p:ph type="sldNum" sz="quarter" idx="4"/>
          </p:nvPr>
        </p:nvSpPr>
        <p:spPr/>
        <p:txBody>
          <a:bodyPr/>
          <a:lstStyle/>
          <a:p>
            <a:fld id="{38FB3DE5-0BF2-9949-8E8E-62041A1EAFCC}" type="slidenum">
              <a:rPr lang="en-US" smtClean="0"/>
              <a:pPr/>
              <a:t>14</a:t>
            </a:fld>
            <a:endParaRPr lang="en-US"/>
          </a:p>
        </p:txBody>
      </p:sp>
      <p:sp>
        <p:nvSpPr>
          <p:cNvPr id="3" name="Title 2">
            <a:extLst>
              <a:ext uri="{FF2B5EF4-FFF2-40B4-BE49-F238E27FC236}">
                <a16:creationId xmlns:a16="http://schemas.microsoft.com/office/drawing/2014/main" id="{B6DB021B-7731-E28D-5373-19AFCFD57526}"/>
              </a:ext>
            </a:extLst>
          </p:cNvPr>
          <p:cNvSpPr>
            <a:spLocks noGrp="1"/>
          </p:cNvSpPr>
          <p:nvPr>
            <p:ph type="title"/>
          </p:nvPr>
        </p:nvSpPr>
        <p:spPr/>
        <p:txBody>
          <a:bodyPr/>
          <a:lstStyle/>
          <a:p>
            <a:r>
              <a:rPr lang="es-ES"/>
              <a:t>Ab initio – Hidden Marov Models</a:t>
            </a:r>
            <a:endParaRPr lang="en-GB"/>
          </a:p>
        </p:txBody>
      </p:sp>
      <p:sp>
        <p:nvSpPr>
          <p:cNvPr id="5" name="Oval 4">
            <a:extLst>
              <a:ext uri="{FF2B5EF4-FFF2-40B4-BE49-F238E27FC236}">
                <a16:creationId xmlns:a16="http://schemas.microsoft.com/office/drawing/2014/main" id="{058BE4EB-B04F-A9F4-7946-700DF72A59E0}"/>
              </a:ext>
            </a:extLst>
          </p:cNvPr>
          <p:cNvSpPr/>
          <p:nvPr/>
        </p:nvSpPr>
        <p:spPr>
          <a:xfrm>
            <a:off x="3988691" y="621994"/>
            <a:ext cx="957810" cy="826274"/>
          </a:xfrm>
          <a:prstGeom prst="ellipse">
            <a:avLst/>
          </a:prstGeom>
          <a:noFill/>
          <a:ln w="28575">
            <a:solidFill>
              <a:schemeClr val="accent6">
                <a:lumMod val="75000"/>
              </a:schemeClr>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s-ES">
                <a:solidFill>
                  <a:schemeClr val="accent6">
                    <a:lumMod val="75000"/>
                  </a:schemeClr>
                </a:solidFill>
              </a:rPr>
              <a:t>Start</a:t>
            </a:r>
            <a:br>
              <a:rPr lang="es-ES">
                <a:solidFill>
                  <a:schemeClr val="accent6">
                    <a:lumMod val="75000"/>
                  </a:schemeClr>
                </a:solidFill>
              </a:rPr>
            </a:br>
            <a:r>
              <a:rPr lang="es-ES">
                <a:solidFill>
                  <a:schemeClr val="accent6">
                    <a:lumMod val="75000"/>
                  </a:schemeClr>
                </a:solidFill>
              </a:rPr>
              <a:t>(S)</a:t>
            </a:r>
            <a:endParaRPr lang="en-GB">
              <a:solidFill>
                <a:schemeClr val="accent6">
                  <a:lumMod val="75000"/>
                </a:schemeClr>
              </a:solidFill>
            </a:endParaRPr>
          </a:p>
        </p:txBody>
      </p:sp>
      <p:sp>
        <p:nvSpPr>
          <p:cNvPr id="6" name="Oval 5">
            <a:extLst>
              <a:ext uri="{FF2B5EF4-FFF2-40B4-BE49-F238E27FC236}">
                <a16:creationId xmlns:a16="http://schemas.microsoft.com/office/drawing/2014/main" id="{D84F534E-F2B6-26B8-FA91-AF202A478648}"/>
              </a:ext>
            </a:extLst>
          </p:cNvPr>
          <p:cNvSpPr/>
          <p:nvPr/>
        </p:nvSpPr>
        <p:spPr>
          <a:xfrm>
            <a:off x="1551985" y="2089912"/>
            <a:ext cx="2745695" cy="889462"/>
          </a:xfrm>
          <a:prstGeom prst="ellipse">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a:solidFill>
                  <a:schemeClr val="accent1"/>
                </a:solidFill>
              </a:rPr>
              <a:t>Intergenic region</a:t>
            </a:r>
            <a:br>
              <a:rPr lang="es-ES">
                <a:solidFill>
                  <a:schemeClr val="accent1"/>
                </a:solidFill>
              </a:rPr>
            </a:br>
            <a:r>
              <a:rPr lang="es-ES">
                <a:solidFill>
                  <a:schemeClr val="accent1"/>
                </a:solidFill>
              </a:rPr>
              <a:t>(I)</a:t>
            </a:r>
            <a:endParaRPr lang="en-GB">
              <a:solidFill>
                <a:schemeClr val="accent1"/>
              </a:solidFill>
            </a:endParaRPr>
          </a:p>
        </p:txBody>
      </p:sp>
      <p:sp>
        <p:nvSpPr>
          <p:cNvPr id="11" name="Oval 10">
            <a:extLst>
              <a:ext uri="{FF2B5EF4-FFF2-40B4-BE49-F238E27FC236}">
                <a16:creationId xmlns:a16="http://schemas.microsoft.com/office/drawing/2014/main" id="{4E3E2642-DAE8-D344-66A4-C0332EA935E6}"/>
              </a:ext>
            </a:extLst>
          </p:cNvPr>
          <p:cNvSpPr/>
          <p:nvPr/>
        </p:nvSpPr>
        <p:spPr>
          <a:xfrm>
            <a:off x="4692670" y="2089912"/>
            <a:ext cx="2745695" cy="889462"/>
          </a:xfrm>
          <a:prstGeom prst="ellipse">
            <a:avLst/>
          </a:prstGeom>
          <a:no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a:solidFill>
                  <a:schemeClr val="accent2"/>
                </a:solidFill>
              </a:rPr>
              <a:t>Coding region</a:t>
            </a:r>
            <a:br>
              <a:rPr lang="es-ES">
                <a:solidFill>
                  <a:schemeClr val="accent2"/>
                </a:solidFill>
              </a:rPr>
            </a:br>
            <a:r>
              <a:rPr lang="es-ES">
                <a:solidFill>
                  <a:schemeClr val="accent2"/>
                </a:solidFill>
              </a:rPr>
              <a:t>(C)</a:t>
            </a:r>
            <a:endParaRPr lang="en-GB">
              <a:solidFill>
                <a:schemeClr val="accent2"/>
              </a:solidFill>
            </a:endParaRPr>
          </a:p>
        </p:txBody>
      </p:sp>
      <p:cxnSp>
        <p:nvCxnSpPr>
          <p:cNvPr id="13" name="Connector: Curved 12">
            <a:extLst>
              <a:ext uri="{FF2B5EF4-FFF2-40B4-BE49-F238E27FC236}">
                <a16:creationId xmlns:a16="http://schemas.microsoft.com/office/drawing/2014/main" id="{7B4654C6-9546-AF8B-3D00-61DFDE81B1AB}"/>
              </a:ext>
            </a:extLst>
          </p:cNvPr>
          <p:cNvCxnSpPr>
            <a:cxnSpLocks/>
            <a:stCxn id="5" idx="4"/>
            <a:endCxn id="6" idx="0"/>
          </p:cNvCxnSpPr>
          <p:nvPr/>
        </p:nvCxnSpPr>
        <p:spPr>
          <a:xfrm rot="5400000">
            <a:off x="3375393" y="997709"/>
            <a:ext cx="641644" cy="1542763"/>
          </a:xfrm>
          <a:prstGeom prst="curvedConnector3">
            <a:avLst/>
          </a:prstGeom>
          <a:ln w="571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3FE2B1BF-5E76-0692-D93A-B2C1175EC3FB}"/>
              </a:ext>
            </a:extLst>
          </p:cNvPr>
          <p:cNvCxnSpPr>
            <a:cxnSpLocks/>
            <a:stCxn id="5" idx="4"/>
            <a:endCxn id="11" idx="0"/>
          </p:cNvCxnSpPr>
          <p:nvPr/>
        </p:nvCxnSpPr>
        <p:spPr>
          <a:xfrm rot="16200000" flipH="1">
            <a:off x="4945735" y="970129"/>
            <a:ext cx="641644" cy="1597922"/>
          </a:xfrm>
          <a:prstGeom prst="curvedConnector3">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Curved 16">
            <a:extLst>
              <a:ext uri="{FF2B5EF4-FFF2-40B4-BE49-F238E27FC236}">
                <a16:creationId xmlns:a16="http://schemas.microsoft.com/office/drawing/2014/main" id="{A65A88F2-A739-ADEF-75C3-9336B1571A2D}"/>
              </a:ext>
            </a:extLst>
          </p:cNvPr>
          <p:cNvCxnSpPr>
            <a:cxnSpLocks/>
            <a:stCxn id="6" idx="1"/>
            <a:endCxn id="6" idx="0"/>
          </p:cNvCxnSpPr>
          <p:nvPr/>
        </p:nvCxnSpPr>
        <p:spPr>
          <a:xfrm rot="5400000" flipH="1" flipV="1">
            <a:off x="2374329" y="1669667"/>
            <a:ext cx="130259" cy="970750"/>
          </a:xfrm>
          <a:prstGeom prst="curvedConnector3">
            <a:avLst>
              <a:gd name="adj1" fmla="val 275497"/>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onnector: Curved 21">
            <a:extLst>
              <a:ext uri="{FF2B5EF4-FFF2-40B4-BE49-F238E27FC236}">
                <a16:creationId xmlns:a16="http://schemas.microsoft.com/office/drawing/2014/main" id="{21EEAB6D-2750-6B17-5DF1-991AF7EF621A}"/>
              </a:ext>
            </a:extLst>
          </p:cNvPr>
          <p:cNvCxnSpPr>
            <a:stCxn id="11" idx="3"/>
            <a:endCxn id="6" idx="5"/>
          </p:cNvCxnSpPr>
          <p:nvPr/>
        </p:nvCxnSpPr>
        <p:spPr>
          <a:xfrm rot="5400000">
            <a:off x="4495175" y="2249522"/>
            <a:ext cx="12700" cy="1199186"/>
          </a:xfrm>
          <a:prstGeom prst="curvedConnector3">
            <a:avLst>
              <a:gd name="adj1" fmla="val 282566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onnector: Curved 23">
            <a:extLst>
              <a:ext uri="{FF2B5EF4-FFF2-40B4-BE49-F238E27FC236}">
                <a16:creationId xmlns:a16="http://schemas.microsoft.com/office/drawing/2014/main" id="{E58A7EA2-D8FF-DFF0-9815-3F067AD0777A}"/>
              </a:ext>
            </a:extLst>
          </p:cNvPr>
          <p:cNvCxnSpPr>
            <a:stCxn id="6" idx="7"/>
            <a:endCxn id="11" idx="1"/>
          </p:cNvCxnSpPr>
          <p:nvPr/>
        </p:nvCxnSpPr>
        <p:spPr>
          <a:xfrm rot="5400000" flipH="1" flipV="1">
            <a:off x="4495175" y="1620578"/>
            <a:ext cx="12700" cy="1199186"/>
          </a:xfrm>
          <a:prstGeom prst="curvedConnector3">
            <a:avLst>
              <a:gd name="adj1" fmla="val 282566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6" name="Connector: Curved 25">
            <a:extLst>
              <a:ext uri="{FF2B5EF4-FFF2-40B4-BE49-F238E27FC236}">
                <a16:creationId xmlns:a16="http://schemas.microsoft.com/office/drawing/2014/main" id="{07F971BB-343E-F479-3F00-03EA23346258}"/>
              </a:ext>
            </a:extLst>
          </p:cNvPr>
          <p:cNvCxnSpPr>
            <a:stCxn id="11" idx="7"/>
            <a:endCxn id="11" idx="0"/>
          </p:cNvCxnSpPr>
          <p:nvPr/>
        </p:nvCxnSpPr>
        <p:spPr>
          <a:xfrm rot="16200000" flipV="1">
            <a:off x="6485764" y="1669667"/>
            <a:ext cx="130259" cy="970749"/>
          </a:xfrm>
          <a:prstGeom prst="curvedConnector3">
            <a:avLst>
              <a:gd name="adj1" fmla="val 275497"/>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86340984-9815-D709-3330-127149CD8827}"/>
              </a:ext>
            </a:extLst>
          </p:cNvPr>
          <p:cNvSpPr txBox="1"/>
          <p:nvPr/>
        </p:nvSpPr>
        <p:spPr>
          <a:xfrm>
            <a:off x="420934" y="2248584"/>
            <a:ext cx="1055089" cy="646331"/>
          </a:xfrm>
          <a:prstGeom prst="rect">
            <a:avLst/>
          </a:prstGeom>
          <a:noFill/>
        </p:spPr>
        <p:txBody>
          <a:bodyPr wrap="square" rtlCol="0">
            <a:spAutoFit/>
          </a:bodyPr>
          <a:lstStyle/>
          <a:p>
            <a:r>
              <a:rPr lang="es-ES"/>
              <a:t>Hidden</a:t>
            </a:r>
            <a:br>
              <a:rPr lang="es-ES"/>
            </a:br>
            <a:r>
              <a:rPr lang="es-ES"/>
              <a:t>states</a:t>
            </a:r>
            <a:endParaRPr lang="en-GB"/>
          </a:p>
        </p:txBody>
      </p:sp>
      <p:sp>
        <p:nvSpPr>
          <p:cNvPr id="7" name="TextBox 6">
            <a:extLst>
              <a:ext uri="{FF2B5EF4-FFF2-40B4-BE49-F238E27FC236}">
                <a16:creationId xmlns:a16="http://schemas.microsoft.com/office/drawing/2014/main" id="{B996260B-4652-0677-90FD-F9F58CFE2DF1}"/>
              </a:ext>
            </a:extLst>
          </p:cNvPr>
          <p:cNvSpPr txBox="1"/>
          <p:nvPr/>
        </p:nvSpPr>
        <p:spPr>
          <a:xfrm>
            <a:off x="420934" y="3310552"/>
            <a:ext cx="5402254" cy="954107"/>
          </a:xfrm>
          <a:prstGeom prst="rect">
            <a:avLst/>
          </a:prstGeom>
          <a:noFill/>
        </p:spPr>
        <p:txBody>
          <a:bodyPr wrap="square" rtlCol="0">
            <a:spAutoFit/>
          </a:bodyPr>
          <a:lstStyle/>
          <a:p>
            <a:r>
              <a:rPr lang="es-ES" sz="1400" b="1"/>
              <a:t>A possible path for the genome sequence:</a:t>
            </a:r>
          </a:p>
          <a:p>
            <a:endParaRPr lang="es-ES" sz="1400" b="1"/>
          </a:p>
          <a:p>
            <a:r>
              <a:rPr lang="es-ES" sz="1400"/>
              <a:t>AABBBAA</a:t>
            </a:r>
            <a:br>
              <a:rPr lang="es-ES" sz="1400"/>
            </a:br>
            <a:r>
              <a:rPr lang="es-ES" sz="1400"/>
              <a:t> </a:t>
            </a:r>
            <a:r>
              <a:rPr lang="es-ES" sz="1400">
                <a:solidFill>
                  <a:schemeClr val="accent1"/>
                </a:solidFill>
              </a:rPr>
              <a:t>I</a:t>
            </a:r>
            <a:r>
              <a:rPr lang="es-ES" sz="1400"/>
              <a:t> </a:t>
            </a:r>
            <a:endParaRPr lang="en-GB" sz="1400"/>
          </a:p>
        </p:txBody>
      </p:sp>
    </p:spTree>
    <p:extLst>
      <p:ext uri="{BB962C8B-B14F-4D97-AF65-F5344CB8AC3E}">
        <p14:creationId xmlns:p14="http://schemas.microsoft.com/office/powerpoint/2010/main" val="20091621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6FEE6-D7BF-54B5-9CDF-5067E8C4944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4661E69-F519-5AB4-C2D3-916C1C3D7453}"/>
              </a:ext>
            </a:extLst>
          </p:cNvPr>
          <p:cNvSpPr>
            <a:spLocks noGrp="1"/>
          </p:cNvSpPr>
          <p:nvPr>
            <p:ph type="sldNum" sz="quarter" idx="4"/>
          </p:nvPr>
        </p:nvSpPr>
        <p:spPr/>
        <p:txBody>
          <a:bodyPr/>
          <a:lstStyle/>
          <a:p>
            <a:fld id="{38FB3DE5-0BF2-9949-8E8E-62041A1EAFCC}" type="slidenum">
              <a:rPr lang="en-US" smtClean="0"/>
              <a:pPr/>
              <a:t>15</a:t>
            </a:fld>
            <a:endParaRPr lang="en-US"/>
          </a:p>
        </p:txBody>
      </p:sp>
      <p:sp>
        <p:nvSpPr>
          <p:cNvPr id="3" name="Title 2">
            <a:extLst>
              <a:ext uri="{FF2B5EF4-FFF2-40B4-BE49-F238E27FC236}">
                <a16:creationId xmlns:a16="http://schemas.microsoft.com/office/drawing/2014/main" id="{7B4F14F0-C102-0427-1DF7-85E633A7AEC3}"/>
              </a:ext>
            </a:extLst>
          </p:cNvPr>
          <p:cNvSpPr>
            <a:spLocks noGrp="1"/>
          </p:cNvSpPr>
          <p:nvPr>
            <p:ph type="title"/>
          </p:nvPr>
        </p:nvSpPr>
        <p:spPr/>
        <p:txBody>
          <a:bodyPr/>
          <a:lstStyle/>
          <a:p>
            <a:r>
              <a:rPr lang="es-ES"/>
              <a:t>Ab initio – Hidden Marov Models</a:t>
            </a:r>
            <a:endParaRPr lang="en-GB"/>
          </a:p>
        </p:txBody>
      </p:sp>
      <p:sp>
        <p:nvSpPr>
          <p:cNvPr id="5" name="Oval 4">
            <a:extLst>
              <a:ext uri="{FF2B5EF4-FFF2-40B4-BE49-F238E27FC236}">
                <a16:creationId xmlns:a16="http://schemas.microsoft.com/office/drawing/2014/main" id="{5FF8170A-8016-EC82-08B0-A93A39163094}"/>
              </a:ext>
            </a:extLst>
          </p:cNvPr>
          <p:cNvSpPr/>
          <p:nvPr/>
        </p:nvSpPr>
        <p:spPr>
          <a:xfrm>
            <a:off x="3988691" y="621994"/>
            <a:ext cx="957810" cy="826274"/>
          </a:xfrm>
          <a:prstGeom prst="ellipse">
            <a:avLst/>
          </a:prstGeom>
          <a:noFill/>
          <a:ln w="28575">
            <a:solidFill>
              <a:schemeClr val="accent6">
                <a:lumMod val="75000"/>
              </a:schemeClr>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s-ES">
                <a:solidFill>
                  <a:schemeClr val="accent6">
                    <a:lumMod val="75000"/>
                  </a:schemeClr>
                </a:solidFill>
              </a:rPr>
              <a:t>Start</a:t>
            </a:r>
            <a:br>
              <a:rPr lang="es-ES">
                <a:solidFill>
                  <a:schemeClr val="accent6">
                    <a:lumMod val="75000"/>
                  </a:schemeClr>
                </a:solidFill>
              </a:rPr>
            </a:br>
            <a:r>
              <a:rPr lang="es-ES">
                <a:solidFill>
                  <a:schemeClr val="accent6">
                    <a:lumMod val="75000"/>
                  </a:schemeClr>
                </a:solidFill>
              </a:rPr>
              <a:t>(S)</a:t>
            </a:r>
            <a:endParaRPr lang="en-GB">
              <a:solidFill>
                <a:schemeClr val="accent6">
                  <a:lumMod val="75000"/>
                </a:schemeClr>
              </a:solidFill>
            </a:endParaRPr>
          </a:p>
        </p:txBody>
      </p:sp>
      <p:sp>
        <p:nvSpPr>
          <p:cNvPr id="6" name="Oval 5">
            <a:extLst>
              <a:ext uri="{FF2B5EF4-FFF2-40B4-BE49-F238E27FC236}">
                <a16:creationId xmlns:a16="http://schemas.microsoft.com/office/drawing/2014/main" id="{EA7CCD37-99CA-E7AE-4256-E937D5321FE0}"/>
              </a:ext>
            </a:extLst>
          </p:cNvPr>
          <p:cNvSpPr/>
          <p:nvPr/>
        </p:nvSpPr>
        <p:spPr>
          <a:xfrm>
            <a:off x="1551985" y="2089912"/>
            <a:ext cx="2745695" cy="889462"/>
          </a:xfrm>
          <a:prstGeom prst="ellipse">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a:solidFill>
                  <a:schemeClr val="accent1"/>
                </a:solidFill>
              </a:rPr>
              <a:t>Intergenic region</a:t>
            </a:r>
            <a:br>
              <a:rPr lang="es-ES">
                <a:solidFill>
                  <a:schemeClr val="accent1"/>
                </a:solidFill>
              </a:rPr>
            </a:br>
            <a:r>
              <a:rPr lang="es-ES">
                <a:solidFill>
                  <a:schemeClr val="accent1"/>
                </a:solidFill>
              </a:rPr>
              <a:t>(I)</a:t>
            </a:r>
            <a:endParaRPr lang="en-GB">
              <a:solidFill>
                <a:schemeClr val="accent1"/>
              </a:solidFill>
            </a:endParaRPr>
          </a:p>
        </p:txBody>
      </p:sp>
      <p:sp>
        <p:nvSpPr>
          <p:cNvPr id="11" name="Oval 10">
            <a:extLst>
              <a:ext uri="{FF2B5EF4-FFF2-40B4-BE49-F238E27FC236}">
                <a16:creationId xmlns:a16="http://schemas.microsoft.com/office/drawing/2014/main" id="{03FF61BE-C370-BEBB-547A-358A0957CBA7}"/>
              </a:ext>
            </a:extLst>
          </p:cNvPr>
          <p:cNvSpPr/>
          <p:nvPr/>
        </p:nvSpPr>
        <p:spPr>
          <a:xfrm>
            <a:off x="4692670" y="2089912"/>
            <a:ext cx="2745695" cy="889462"/>
          </a:xfrm>
          <a:prstGeom prst="ellipse">
            <a:avLst/>
          </a:prstGeom>
          <a:no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a:solidFill>
                  <a:schemeClr val="accent2"/>
                </a:solidFill>
              </a:rPr>
              <a:t>Coding region</a:t>
            </a:r>
            <a:br>
              <a:rPr lang="es-ES">
                <a:solidFill>
                  <a:schemeClr val="accent2"/>
                </a:solidFill>
              </a:rPr>
            </a:br>
            <a:r>
              <a:rPr lang="es-ES">
                <a:solidFill>
                  <a:schemeClr val="accent2"/>
                </a:solidFill>
              </a:rPr>
              <a:t>(C)</a:t>
            </a:r>
            <a:endParaRPr lang="en-GB">
              <a:solidFill>
                <a:schemeClr val="accent2"/>
              </a:solidFill>
            </a:endParaRPr>
          </a:p>
        </p:txBody>
      </p:sp>
      <p:cxnSp>
        <p:nvCxnSpPr>
          <p:cNvPr id="13" name="Connector: Curved 12">
            <a:extLst>
              <a:ext uri="{FF2B5EF4-FFF2-40B4-BE49-F238E27FC236}">
                <a16:creationId xmlns:a16="http://schemas.microsoft.com/office/drawing/2014/main" id="{260949AC-62D5-F8FD-FD11-D2A028E0FE59}"/>
              </a:ext>
            </a:extLst>
          </p:cNvPr>
          <p:cNvCxnSpPr>
            <a:cxnSpLocks/>
            <a:stCxn id="5" idx="4"/>
            <a:endCxn id="6" idx="0"/>
          </p:cNvCxnSpPr>
          <p:nvPr/>
        </p:nvCxnSpPr>
        <p:spPr>
          <a:xfrm rot="5400000">
            <a:off x="3375393" y="997709"/>
            <a:ext cx="641644" cy="1542763"/>
          </a:xfrm>
          <a:prstGeom prst="curvedConnector3">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90D12B71-5AF9-A114-7B75-D2017655BB9A}"/>
              </a:ext>
            </a:extLst>
          </p:cNvPr>
          <p:cNvCxnSpPr>
            <a:cxnSpLocks/>
            <a:stCxn id="5" idx="4"/>
            <a:endCxn id="11" idx="0"/>
          </p:cNvCxnSpPr>
          <p:nvPr/>
        </p:nvCxnSpPr>
        <p:spPr>
          <a:xfrm rot="16200000" flipH="1">
            <a:off x="4945735" y="970129"/>
            <a:ext cx="641644" cy="1597922"/>
          </a:xfrm>
          <a:prstGeom prst="curvedConnector3">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Curved 16">
            <a:extLst>
              <a:ext uri="{FF2B5EF4-FFF2-40B4-BE49-F238E27FC236}">
                <a16:creationId xmlns:a16="http://schemas.microsoft.com/office/drawing/2014/main" id="{A68CA724-6604-78AE-8E13-A77EB7B22657}"/>
              </a:ext>
            </a:extLst>
          </p:cNvPr>
          <p:cNvCxnSpPr>
            <a:cxnSpLocks/>
            <a:stCxn id="6" idx="1"/>
            <a:endCxn id="6" idx="0"/>
          </p:cNvCxnSpPr>
          <p:nvPr/>
        </p:nvCxnSpPr>
        <p:spPr>
          <a:xfrm rot="5400000" flipH="1" flipV="1">
            <a:off x="2374329" y="1669667"/>
            <a:ext cx="130259" cy="970750"/>
          </a:xfrm>
          <a:prstGeom prst="curvedConnector3">
            <a:avLst>
              <a:gd name="adj1" fmla="val 275497"/>
            </a:avLst>
          </a:prstGeom>
          <a:ln w="571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onnector: Curved 21">
            <a:extLst>
              <a:ext uri="{FF2B5EF4-FFF2-40B4-BE49-F238E27FC236}">
                <a16:creationId xmlns:a16="http://schemas.microsoft.com/office/drawing/2014/main" id="{28AFCE67-9552-D25D-2A29-CA2BA2492B88}"/>
              </a:ext>
            </a:extLst>
          </p:cNvPr>
          <p:cNvCxnSpPr>
            <a:stCxn id="11" idx="3"/>
            <a:endCxn id="6" idx="5"/>
          </p:cNvCxnSpPr>
          <p:nvPr/>
        </p:nvCxnSpPr>
        <p:spPr>
          <a:xfrm rot="5400000">
            <a:off x="4495175" y="2249522"/>
            <a:ext cx="12700" cy="1199186"/>
          </a:xfrm>
          <a:prstGeom prst="curvedConnector3">
            <a:avLst>
              <a:gd name="adj1" fmla="val 282566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onnector: Curved 23">
            <a:extLst>
              <a:ext uri="{FF2B5EF4-FFF2-40B4-BE49-F238E27FC236}">
                <a16:creationId xmlns:a16="http://schemas.microsoft.com/office/drawing/2014/main" id="{15B8459A-4691-D5B3-9641-34707A68F9DE}"/>
              </a:ext>
            </a:extLst>
          </p:cNvPr>
          <p:cNvCxnSpPr>
            <a:stCxn id="6" idx="7"/>
            <a:endCxn id="11" idx="1"/>
          </p:cNvCxnSpPr>
          <p:nvPr/>
        </p:nvCxnSpPr>
        <p:spPr>
          <a:xfrm rot="5400000" flipH="1" flipV="1">
            <a:off x="4495175" y="1620578"/>
            <a:ext cx="12700" cy="1199186"/>
          </a:xfrm>
          <a:prstGeom prst="curvedConnector3">
            <a:avLst>
              <a:gd name="adj1" fmla="val 282566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6" name="Connector: Curved 25">
            <a:extLst>
              <a:ext uri="{FF2B5EF4-FFF2-40B4-BE49-F238E27FC236}">
                <a16:creationId xmlns:a16="http://schemas.microsoft.com/office/drawing/2014/main" id="{F305B7DB-5154-BE20-0A44-5A327ECD4341}"/>
              </a:ext>
            </a:extLst>
          </p:cNvPr>
          <p:cNvCxnSpPr>
            <a:stCxn id="11" idx="7"/>
            <a:endCxn id="11" idx="0"/>
          </p:cNvCxnSpPr>
          <p:nvPr/>
        </p:nvCxnSpPr>
        <p:spPr>
          <a:xfrm rot="16200000" flipV="1">
            <a:off x="6485764" y="1669667"/>
            <a:ext cx="130259" cy="970749"/>
          </a:xfrm>
          <a:prstGeom prst="curvedConnector3">
            <a:avLst>
              <a:gd name="adj1" fmla="val 275497"/>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89D5AFF0-1FD7-6528-CA2D-2FDF74E9C337}"/>
              </a:ext>
            </a:extLst>
          </p:cNvPr>
          <p:cNvSpPr txBox="1"/>
          <p:nvPr/>
        </p:nvSpPr>
        <p:spPr>
          <a:xfrm>
            <a:off x="420934" y="2248584"/>
            <a:ext cx="1055089" cy="646331"/>
          </a:xfrm>
          <a:prstGeom prst="rect">
            <a:avLst/>
          </a:prstGeom>
          <a:noFill/>
        </p:spPr>
        <p:txBody>
          <a:bodyPr wrap="square" rtlCol="0">
            <a:spAutoFit/>
          </a:bodyPr>
          <a:lstStyle/>
          <a:p>
            <a:r>
              <a:rPr lang="es-ES"/>
              <a:t>Hidden</a:t>
            </a:r>
            <a:br>
              <a:rPr lang="es-ES"/>
            </a:br>
            <a:r>
              <a:rPr lang="es-ES"/>
              <a:t>states</a:t>
            </a:r>
            <a:endParaRPr lang="en-GB"/>
          </a:p>
        </p:txBody>
      </p:sp>
      <p:sp>
        <p:nvSpPr>
          <p:cNvPr id="7" name="TextBox 6">
            <a:extLst>
              <a:ext uri="{FF2B5EF4-FFF2-40B4-BE49-F238E27FC236}">
                <a16:creationId xmlns:a16="http://schemas.microsoft.com/office/drawing/2014/main" id="{FFF5F8CA-5497-F75E-FBEE-5DA8567CF579}"/>
              </a:ext>
            </a:extLst>
          </p:cNvPr>
          <p:cNvSpPr txBox="1"/>
          <p:nvPr/>
        </p:nvSpPr>
        <p:spPr>
          <a:xfrm>
            <a:off x="420934" y="3310552"/>
            <a:ext cx="5402254" cy="954107"/>
          </a:xfrm>
          <a:prstGeom prst="rect">
            <a:avLst/>
          </a:prstGeom>
          <a:noFill/>
        </p:spPr>
        <p:txBody>
          <a:bodyPr wrap="square" rtlCol="0">
            <a:spAutoFit/>
          </a:bodyPr>
          <a:lstStyle/>
          <a:p>
            <a:r>
              <a:rPr lang="es-ES" sz="1400" b="1"/>
              <a:t>A possible path for the genome sequence:</a:t>
            </a:r>
          </a:p>
          <a:p>
            <a:endParaRPr lang="es-ES" sz="1400" b="1"/>
          </a:p>
          <a:p>
            <a:r>
              <a:rPr lang="es-ES" sz="1400"/>
              <a:t>AABBBAA</a:t>
            </a:r>
            <a:br>
              <a:rPr lang="es-ES" sz="1400"/>
            </a:br>
            <a:r>
              <a:rPr lang="es-ES" sz="1400"/>
              <a:t> I I </a:t>
            </a:r>
            <a:endParaRPr lang="en-GB" sz="1400"/>
          </a:p>
        </p:txBody>
      </p:sp>
    </p:spTree>
    <p:extLst>
      <p:ext uri="{BB962C8B-B14F-4D97-AF65-F5344CB8AC3E}">
        <p14:creationId xmlns:p14="http://schemas.microsoft.com/office/powerpoint/2010/main" val="26249964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DF801-61CA-6D5A-A8FF-E17F897F6D6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061ECA2-B7A3-E2DC-58C4-D200DF225253}"/>
              </a:ext>
            </a:extLst>
          </p:cNvPr>
          <p:cNvSpPr>
            <a:spLocks noGrp="1"/>
          </p:cNvSpPr>
          <p:nvPr>
            <p:ph type="sldNum" sz="quarter" idx="4"/>
          </p:nvPr>
        </p:nvSpPr>
        <p:spPr/>
        <p:txBody>
          <a:bodyPr/>
          <a:lstStyle/>
          <a:p>
            <a:fld id="{38FB3DE5-0BF2-9949-8E8E-62041A1EAFCC}" type="slidenum">
              <a:rPr lang="en-US" smtClean="0"/>
              <a:pPr/>
              <a:t>16</a:t>
            </a:fld>
            <a:endParaRPr lang="en-US"/>
          </a:p>
        </p:txBody>
      </p:sp>
      <p:sp>
        <p:nvSpPr>
          <p:cNvPr id="3" name="Title 2">
            <a:extLst>
              <a:ext uri="{FF2B5EF4-FFF2-40B4-BE49-F238E27FC236}">
                <a16:creationId xmlns:a16="http://schemas.microsoft.com/office/drawing/2014/main" id="{974D0D7D-1356-596E-501C-265BAB2E271F}"/>
              </a:ext>
            </a:extLst>
          </p:cNvPr>
          <p:cNvSpPr>
            <a:spLocks noGrp="1"/>
          </p:cNvSpPr>
          <p:nvPr>
            <p:ph type="title"/>
          </p:nvPr>
        </p:nvSpPr>
        <p:spPr/>
        <p:txBody>
          <a:bodyPr/>
          <a:lstStyle/>
          <a:p>
            <a:r>
              <a:rPr lang="es-ES"/>
              <a:t>Ab initio – Hidden Marov Models</a:t>
            </a:r>
            <a:endParaRPr lang="en-GB"/>
          </a:p>
        </p:txBody>
      </p:sp>
      <p:sp>
        <p:nvSpPr>
          <p:cNvPr id="5" name="Oval 4">
            <a:extLst>
              <a:ext uri="{FF2B5EF4-FFF2-40B4-BE49-F238E27FC236}">
                <a16:creationId xmlns:a16="http://schemas.microsoft.com/office/drawing/2014/main" id="{F9CBD00C-67D1-70B6-F416-2AC8825B95DE}"/>
              </a:ext>
            </a:extLst>
          </p:cNvPr>
          <p:cNvSpPr/>
          <p:nvPr/>
        </p:nvSpPr>
        <p:spPr>
          <a:xfrm>
            <a:off x="3988691" y="621994"/>
            <a:ext cx="957810" cy="826274"/>
          </a:xfrm>
          <a:prstGeom prst="ellipse">
            <a:avLst/>
          </a:prstGeom>
          <a:noFill/>
          <a:ln w="28575">
            <a:solidFill>
              <a:schemeClr val="accent6">
                <a:lumMod val="75000"/>
              </a:schemeClr>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s-ES">
                <a:solidFill>
                  <a:schemeClr val="accent6">
                    <a:lumMod val="75000"/>
                  </a:schemeClr>
                </a:solidFill>
              </a:rPr>
              <a:t>Start</a:t>
            </a:r>
            <a:br>
              <a:rPr lang="es-ES">
                <a:solidFill>
                  <a:schemeClr val="accent6">
                    <a:lumMod val="75000"/>
                  </a:schemeClr>
                </a:solidFill>
              </a:rPr>
            </a:br>
            <a:r>
              <a:rPr lang="es-ES">
                <a:solidFill>
                  <a:schemeClr val="accent6">
                    <a:lumMod val="75000"/>
                  </a:schemeClr>
                </a:solidFill>
              </a:rPr>
              <a:t>(S)</a:t>
            </a:r>
            <a:endParaRPr lang="en-GB">
              <a:solidFill>
                <a:schemeClr val="accent6">
                  <a:lumMod val="75000"/>
                </a:schemeClr>
              </a:solidFill>
            </a:endParaRPr>
          </a:p>
        </p:txBody>
      </p:sp>
      <p:sp>
        <p:nvSpPr>
          <p:cNvPr id="6" name="Oval 5">
            <a:extLst>
              <a:ext uri="{FF2B5EF4-FFF2-40B4-BE49-F238E27FC236}">
                <a16:creationId xmlns:a16="http://schemas.microsoft.com/office/drawing/2014/main" id="{9A6D567E-0D6F-6DD5-9AEF-B816BAEA3303}"/>
              </a:ext>
            </a:extLst>
          </p:cNvPr>
          <p:cNvSpPr/>
          <p:nvPr/>
        </p:nvSpPr>
        <p:spPr>
          <a:xfrm>
            <a:off x="1551985" y="2089912"/>
            <a:ext cx="2745695" cy="889462"/>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a:solidFill>
                  <a:schemeClr val="accent1"/>
                </a:solidFill>
              </a:rPr>
              <a:t>Intergenic region</a:t>
            </a:r>
            <a:br>
              <a:rPr lang="es-ES">
                <a:solidFill>
                  <a:schemeClr val="accent1"/>
                </a:solidFill>
              </a:rPr>
            </a:br>
            <a:r>
              <a:rPr lang="es-ES">
                <a:solidFill>
                  <a:schemeClr val="accent1"/>
                </a:solidFill>
              </a:rPr>
              <a:t>(I)</a:t>
            </a:r>
            <a:endParaRPr lang="en-GB">
              <a:solidFill>
                <a:schemeClr val="accent1"/>
              </a:solidFill>
            </a:endParaRPr>
          </a:p>
        </p:txBody>
      </p:sp>
      <p:sp>
        <p:nvSpPr>
          <p:cNvPr id="11" name="Oval 10">
            <a:extLst>
              <a:ext uri="{FF2B5EF4-FFF2-40B4-BE49-F238E27FC236}">
                <a16:creationId xmlns:a16="http://schemas.microsoft.com/office/drawing/2014/main" id="{3A1B7CEA-3199-88D5-98C3-EE285D14C421}"/>
              </a:ext>
            </a:extLst>
          </p:cNvPr>
          <p:cNvSpPr/>
          <p:nvPr/>
        </p:nvSpPr>
        <p:spPr>
          <a:xfrm>
            <a:off x="4692670" y="2089912"/>
            <a:ext cx="2745695" cy="889462"/>
          </a:xfrm>
          <a:prstGeom prst="ellipse">
            <a:avLst/>
          </a:prstGeom>
          <a:noFill/>
          <a:ln w="571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a:solidFill>
                  <a:schemeClr val="accent2"/>
                </a:solidFill>
              </a:rPr>
              <a:t>Coding region</a:t>
            </a:r>
            <a:br>
              <a:rPr lang="es-ES">
                <a:solidFill>
                  <a:schemeClr val="accent2"/>
                </a:solidFill>
              </a:rPr>
            </a:br>
            <a:r>
              <a:rPr lang="es-ES">
                <a:solidFill>
                  <a:schemeClr val="accent2"/>
                </a:solidFill>
              </a:rPr>
              <a:t>(C)</a:t>
            </a:r>
            <a:endParaRPr lang="en-GB">
              <a:solidFill>
                <a:schemeClr val="accent2"/>
              </a:solidFill>
            </a:endParaRPr>
          </a:p>
        </p:txBody>
      </p:sp>
      <p:cxnSp>
        <p:nvCxnSpPr>
          <p:cNvPr id="13" name="Connector: Curved 12">
            <a:extLst>
              <a:ext uri="{FF2B5EF4-FFF2-40B4-BE49-F238E27FC236}">
                <a16:creationId xmlns:a16="http://schemas.microsoft.com/office/drawing/2014/main" id="{4537F51D-972F-611D-5FB1-737082C8BC5B}"/>
              </a:ext>
            </a:extLst>
          </p:cNvPr>
          <p:cNvCxnSpPr>
            <a:cxnSpLocks/>
            <a:stCxn id="5" idx="4"/>
            <a:endCxn id="6" idx="0"/>
          </p:cNvCxnSpPr>
          <p:nvPr/>
        </p:nvCxnSpPr>
        <p:spPr>
          <a:xfrm rot="5400000">
            <a:off x="3375393" y="997709"/>
            <a:ext cx="641644" cy="1542763"/>
          </a:xfrm>
          <a:prstGeom prst="curvedConnector3">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60C10144-14FC-CA51-21CF-5700061066A1}"/>
              </a:ext>
            </a:extLst>
          </p:cNvPr>
          <p:cNvCxnSpPr>
            <a:cxnSpLocks/>
            <a:stCxn id="5" idx="4"/>
            <a:endCxn id="11" idx="0"/>
          </p:cNvCxnSpPr>
          <p:nvPr/>
        </p:nvCxnSpPr>
        <p:spPr>
          <a:xfrm rot="16200000" flipH="1">
            <a:off x="4945735" y="970129"/>
            <a:ext cx="641644" cy="1597922"/>
          </a:xfrm>
          <a:prstGeom prst="curvedConnector3">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Curved 16">
            <a:extLst>
              <a:ext uri="{FF2B5EF4-FFF2-40B4-BE49-F238E27FC236}">
                <a16:creationId xmlns:a16="http://schemas.microsoft.com/office/drawing/2014/main" id="{19B308FF-8B09-11FD-48E2-C610E3B8285D}"/>
              </a:ext>
            </a:extLst>
          </p:cNvPr>
          <p:cNvCxnSpPr>
            <a:cxnSpLocks/>
            <a:stCxn id="6" idx="1"/>
            <a:endCxn id="6" idx="0"/>
          </p:cNvCxnSpPr>
          <p:nvPr/>
        </p:nvCxnSpPr>
        <p:spPr>
          <a:xfrm rot="5400000" flipH="1" flipV="1">
            <a:off x="2374329" y="1669667"/>
            <a:ext cx="130259" cy="970750"/>
          </a:xfrm>
          <a:prstGeom prst="curvedConnector3">
            <a:avLst>
              <a:gd name="adj1" fmla="val 275497"/>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onnector: Curved 21">
            <a:extLst>
              <a:ext uri="{FF2B5EF4-FFF2-40B4-BE49-F238E27FC236}">
                <a16:creationId xmlns:a16="http://schemas.microsoft.com/office/drawing/2014/main" id="{036E0797-94AD-A523-9EBA-E631745D124E}"/>
              </a:ext>
            </a:extLst>
          </p:cNvPr>
          <p:cNvCxnSpPr>
            <a:stCxn id="11" idx="3"/>
            <a:endCxn id="6" idx="5"/>
          </p:cNvCxnSpPr>
          <p:nvPr/>
        </p:nvCxnSpPr>
        <p:spPr>
          <a:xfrm rot="5400000">
            <a:off x="4495175" y="2249522"/>
            <a:ext cx="12700" cy="1199186"/>
          </a:xfrm>
          <a:prstGeom prst="curvedConnector3">
            <a:avLst>
              <a:gd name="adj1" fmla="val 282566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onnector: Curved 23">
            <a:extLst>
              <a:ext uri="{FF2B5EF4-FFF2-40B4-BE49-F238E27FC236}">
                <a16:creationId xmlns:a16="http://schemas.microsoft.com/office/drawing/2014/main" id="{7BF42EF6-87E8-C8FA-0A4F-CE04CBC7DE48}"/>
              </a:ext>
            </a:extLst>
          </p:cNvPr>
          <p:cNvCxnSpPr>
            <a:stCxn id="6" idx="7"/>
            <a:endCxn id="11" idx="1"/>
          </p:cNvCxnSpPr>
          <p:nvPr/>
        </p:nvCxnSpPr>
        <p:spPr>
          <a:xfrm rot="5400000" flipH="1" flipV="1">
            <a:off x="4495175" y="1620578"/>
            <a:ext cx="12700" cy="1199186"/>
          </a:xfrm>
          <a:prstGeom prst="curvedConnector3">
            <a:avLst>
              <a:gd name="adj1" fmla="val 2825661"/>
            </a:avLst>
          </a:prstGeom>
          <a:ln w="571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6" name="Connector: Curved 25">
            <a:extLst>
              <a:ext uri="{FF2B5EF4-FFF2-40B4-BE49-F238E27FC236}">
                <a16:creationId xmlns:a16="http://schemas.microsoft.com/office/drawing/2014/main" id="{0B7036C9-2311-8B24-0052-734978CD9A25}"/>
              </a:ext>
            </a:extLst>
          </p:cNvPr>
          <p:cNvCxnSpPr>
            <a:stCxn id="11" idx="7"/>
            <a:endCxn id="11" idx="0"/>
          </p:cNvCxnSpPr>
          <p:nvPr/>
        </p:nvCxnSpPr>
        <p:spPr>
          <a:xfrm rot="16200000" flipV="1">
            <a:off x="6485764" y="1669667"/>
            <a:ext cx="130259" cy="970749"/>
          </a:xfrm>
          <a:prstGeom prst="curvedConnector3">
            <a:avLst>
              <a:gd name="adj1" fmla="val 275497"/>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9B1B85F6-0CED-5444-F265-3A05DC7A2EF0}"/>
              </a:ext>
            </a:extLst>
          </p:cNvPr>
          <p:cNvSpPr txBox="1"/>
          <p:nvPr/>
        </p:nvSpPr>
        <p:spPr>
          <a:xfrm>
            <a:off x="420934" y="2248584"/>
            <a:ext cx="1055089" cy="646331"/>
          </a:xfrm>
          <a:prstGeom prst="rect">
            <a:avLst/>
          </a:prstGeom>
          <a:noFill/>
        </p:spPr>
        <p:txBody>
          <a:bodyPr wrap="square" rtlCol="0">
            <a:spAutoFit/>
          </a:bodyPr>
          <a:lstStyle/>
          <a:p>
            <a:r>
              <a:rPr lang="es-ES"/>
              <a:t>Hidden</a:t>
            </a:r>
            <a:br>
              <a:rPr lang="es-ES"/>
            </a:br>
            <a:r>
              <a:rPr lang="es-ES"/>
              <a:t>states</a:t>
            </a:r>
            <a:endParaRPr lang="en-GB"/>
          </a:p>
        </p:txBody>
      </p:sp>
      <p:sp>
        <p:nvSpPr>
          <p:cNvPr id="7" name="TextBox 6">
            <a:extLst>
              <a:ext uri="{FF2B5EF4-FFF2-40B4-BE49-F238E27FC236}">
                <a16:creationId xmlns:a16="http://schemas.microsoft.com/office/drawing/2014/main" id="{0AFA734E-2B6C-E382-DEEC-C981BD354A7B}"/>
              </a:ext>
            </a:extLst>
          </p:cNvPr>
          <p:cNvSpPr txBox="1"/>
          <p:nvPr/>
        </p:nvSpPr>
        <p:spPr>
          <a:xfrm>
            <a:off x="420934" y="3310552"/>
            <a:ext cx="5402254" cy="954107"/>
          </a:xfrm>
          <a:prstGeom prst="rect">
            <a:avLst/>
          </a:prstGeom>
          <a:noFill/>
        </p:spPr>
        <p:txBody>
          <a:bodyPr wrap="square" rtlCol="0">
            <a:spAutoFit/>
          </a:bodyPr>
          <a:lstStyle/>
          <a:p>
            <a:r>
              <a:rPr lang="es-ES" sz="1400" b="1"/>
              <a:t>A possible path for the genome sequence:</a:t>
            </a:r>
          </a:p>
          <a:p>
            <a:endParaRPr lang="es-ES" sz="1400" b="1"/>
          </a:p>
          <a:p>
            <a:r>
              <a:rPr lang="es-ES" sz="1400"/>
              <a:t>AABBBAA</a:t>
            </a:r>
            <a:br>
              <a:rPr lang="es-ES" sz="1400"/>
            </a:br>
            <a:r>
              <a:rPr lang="es-ES" sz="1400"/>
              <a:t> I I CC</a:t>
            </a:r>
            <a:endParaRPr lang="en-GB" sz="1400"/>
          </a:p>
        </p:txBody>
      </p:sp>
    </p:spTree>
    <p:extLst>
      <p:ext uri="{BB962C8B-B14F-4D97-AF65-F5344CB8AC3E}">
        <p14:creationId xmlns:p14="http://schemas.microsoft.com/office/powerpoint/2010/main" val="15615889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6DFD11-CFED-790F-DB56-D2D89145F414}"/>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7356B00-340D-3B77-1BD0-C9620FE175A7}"/>
              </a:ext>
            </a:extLst>
          </p:cNvPr>
          <p:cNvSpPr>
            <a:spLocks noGrp="1"/>
          </p:cNvSpPr>
          <p:nvPr>
            <p:ph type="sldNum" sz="quarter" idx="4"/>
          </p:nvPr>
        </p:nvSpPr>
        <p:spPr/>
        <p:txBody>
          <a:bodyPr/>
          <a:lstStyle/>
          <a:p>
            <a:fld id="{38FB3DE5-0BF2-9949-8E8E-62041A1EAFCC}" type="slidenum">
              <a:rPr lang="en-US" smtClean="0"/>
              <a:pPr/>
              <a:t>17</a:t>
            </a:fld>
            <a:endParaRPr lang="en-US"/>
          </a:p>
        </p:txBody>
      </p:sp>
      <p:sp>
        <p:nvSpPr>
          <p:cNvPr id="3" name="Title 2">
            <a:extLst>
              <a:ext uri="{FF2B5EF4-FFF2-40B4-BE49-F238E27FC236}">
                <a16:creationId xmlns:a16="http://schemas.microsoft.com/office/drawing/2014/main" id="{61F8E92D-4827-5B63-D912-FF87F9E77BF5}"/>
              </a:ext>
            </a:extLst>
          </p:cNvPr>
          <p:cNvSpPr>
            <a:spLocks noGrp="1"/>
          </p:cNvSpPr>
          <p:nvPr>
            <p:ph type="title"/>
          </p:nvPr>
        </p:nvSpPr>
        <p:spPr/>
        <p:txBody>
          <a:bodyPr/>
          <a:lstStyle/>
          <a:p>
            <a:r>
              <a:rPr lang="es-ES"/>
              <a:t>Ab initio – Hidden Marov Models</a:t>
            </a:r>
            <a:endParaRPr lang="en-GB"/>
          </a:p>
        </p:txBody>
      </p:sp>
      <p:sp>
        <p:nvSpPr>
          <p:cNvPr id="5" name="Oval 4">
            <a:extLst>
              <a:ext uri="{FF2B5EF4-FFF2-40B4-BE49-F238E27FC236}">
                <a16:creationId xmlns:a16="http://schemas.microsoft.com/office/drawing/2014/main" id="{F8C8B149-C665-5A91-A305-3524F13ADBED}"/>
              </a:ext>
            </a:extLst>
          </p:cNvPr>
          <p:cNvSpPr/>
          <p:nvPr/>
        </p:nvSpPr>
        <p:spPr>
          <a:xfrm>
            <a:off x="3988691" y="621994"/>
            <a:ext cx="957810" cy="826274"/>
          </a:xfrm>
          <a:prstGeom prst="ellipse">
            <a:avLst/>
          </a:prstGeom>
          <a:noFill/>
          <a:ln w="28575">
            <a:solidFill>
              <a:schemeClr val="accent6">
                <a:lumMod val="75000"/>
              </a:schemeClr>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s-ES">
                <a:solidFill>
                  <a:schemeClr val="accent6">
                    <a:lumMod val="75000"/>
                  </a:schemeClr>
                </a:solidFill>
              </a:rPr>
              <a:t>Start</a:t>
            </a:r>
            <a:br>
              <a:rPr lang="es-ES">
                <a:solidFill>
                  <a:schemeClr val="accent6">
                    <a:lumMod val="75000"/>
                  </a:schemeClr>
                </a:solidFill>
              </a:rPr>
            </a:br>
            <a:r>
              <a:rPr lang="es-ES">
                <a:solidFill>
                  <a:schemeClr val="accent6">
                    <a:lumMod val="75000"/>
                  </a:schemeClr>
                </a:solidFill>
              </a:rPr>
              <a:t>(S)</a:t>
            </a:r>
            <a:endParaRPr lang="en-GB">
              <a:solidFill>
                <a:schemeClr val="accent6">
                  <a:lumMod val="75000"/>
                </a:schemeClr>
              </a:solidFill>
            </a:endParaRPr>
          </a:p>
        </p:txBody>
      </p:sp>
      <p:sp>
        <p:nvSpPr>
          <p:cNvPr id="6" name="Oval 5">
            <a:extLst>
              <a:ext uri="{FF2B5EF4-FFF2-40B4-BE49-F238E27FC236}">
                <a16:creationId xmlns:a16="http://schemas.microsoft.com/office/drawing/2014/main" id="{FC02F1AF-38F5-4984-EF57-EFA7C82EAA1E}"/>
              </a:ext>
            </a:extLst>
          </p:cNvPr>
          <p:cNvSpPr/>
          <p:nvPr/>
        </p:nvSpPr>
        <p:spPr>
          <a:xfrm>
            <a:off x="1551985" y="2089912"/>
            <a:ext cx="2745695" cy="889462"/>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a:solidFill>
                  <a:schemeClr val="accent1"/>
                </a:solidFill>
              </a:rPr>
              <a:t>Intergenic region</a:t>
            </a:r>
            <a:br>
              <a:rPr lang="es-ES">
                <a:solidFill>
                  <a:schemeClr val="accent1"/>
                </a:solidFill>
              </a:rPr>
            </a:br>
            <a:r>
              <a:rPr lang="es-ES">
                <a:solidFill>
                  <a:schemeClr val="accent1"/>
                </a:solidFill>
              </a:rPr>
              <a:t>(I)</a:t>
            </a:r>
            <a:endParaRPr lang="en-GB">
              <a:solidFill>
                <a:schemeClr val="accent1"/>
              </a:solidFill>
            </a:endParaRPr>
          </a:p>
        </p:txBody>
      </p:sp>
      <p:sp>
        <p:nvSpPr>
          <p:cNvPr id="11" name="Oval 10">
            <a:extLst>
              <a:ext uri="{FF2B5EF4-FFF2-40B4-BE49-F238E27FC236}">
                <a16:creationId xmlns:a16="http://schemas.microsoft.com/office/drawing/2014/main" id="{29EF4AD2-6AE5-602F-CCDB-648A09223FB5}"/>
              </a:ext>
            </a:extLst>
          </p:cNvPr>
          <p:cNvSpPr/>
          <p:nvPr/>
        </p:nvSpPr>
        <p:spPr>
          <a:xfrm>
            <a:off x="4692670" y="2089912"/>
            <a:ext cx="2745695" cy="889462"/>
          </a:xfrm>
          <a:prstGeom prst="ellipse">
            <a:avLst/>
          </a:prstGeom>
          <a:no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a:solidFill>
                  <a:schemeClr val="accent2"/>
                </a:solidFill>
              </a:rPr>
              <a:t>Coding region</a:t>
            </a:r>
            <a:br>
              <a:rPr lang="es-ES">
                <a:solidFill>
                  <a:schemeClr val="accent2"/>
                </a:solidFill>
              </a:rPr>
            </a:br>
            <a:r>
              <a:rPr lang="es-ES">
                <a:solidFill>
                  <a:schemeClr val="accent2"/>
                </a:solidFill>
              </a:rPr>
              <a:t>(C)</a:t>
            </a:r>
            <a:endParaRPr lang="en-GB">
              <a:solidFill>
                <a:schemeClr val="accent2"/>
              </a:solidFill>
            </a:endParaRPr>
          </a:p>
        </p:txBody>
      </p:sp>
      <p:cxnSp>
        <p:nvCxnSpPr>
          <p:cNvPr id="13" name="Connector: Curved 12">
            <a:extLst>
              <a:ext uri="{FF2B5EF4-FFF2-40B4-BE49-F238E27FC236}">
                <a16:creationId xmlns:a16="http://schemas.microsoft.com/office/drawing/2014/main" id="{36B4C904-E9DE-956E-1CC4-3E63B4D68979}"/>
              </a:ext>
            </a:extLst>
          </p:cNvPr>
          <p:cNvCxnSpPr>
            <a:cxnSpLocks/>
            <a:stCxn id="5" idx="4"/>
            <a:endCxn id="6" idx="0"/>
          </p:cNvCxnSpPr>
          <p:nvPr/>
        </p:nvCxnSpPr>
        <p:spPr>
          <a:xfrm rot="5400000">
            <a:off x="3375393" y="997709"/>
            <a:ext cx="641644" cy="1542763"/>
          </a:xfrm>
          <a:prstGeom prst="curvedConnector3">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C97E7453-831C-2E02-570A-225CB6683D8C}"/>
              </a:ext>
            </a:extLst>
          </p:cNvPr>
          <p:cNvCxnSpPr>
            <a:cxnSpLocks/>
            <a:stCxn id="5" idx="4"/>
            <a:endCxn id="11" idx="0"/>
          </p:cNvCxnSpPr>
          <p:nvPr/>
        </p:nvCxnSpPr>
        <p:spPr>
          <a:xfrm rot="16200000" flipH="1">
            <a:off x="4945735" y="970129"/>
            <a:ext cx="641644" cy="1597922"/>
          </a:xfrm>
          <a:prstGeom prst="curvedConnector3">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Curved 16">
            <a:extLst>
              <a:ext uri="{FF2B5EF4-FFF2-40B4-BE49-F238E27FC236}">
                <a16:creationId xmlns:a16="http://schemas.microsoft.com/office/drawing/2014/main" id="{954934FF-D079-90EE-0C10-946B87DC1B77}"/>
              </a:ext>
            </a:extLst>
          </p:cNvPr>
          <p:cNvCxnSpPr>
            <a:cxnSpLocks/>
            <a:stCxn id="6" idx="1"/>
            <a:endCxn id="6" idx="0"/>
          </p:cNvCxnSpPr>
          <p:nvPr/>
        </p:nvCxnSpPr>
        <p:spPr>
          <a:xfrm rot="5400000" flipH="1" flipV="1">
            <a:off x="2374329" y="1669667"/>
            <a:ext cx="130259" cy="970750"/>
          </a:xfrm>
          <a:prstGeom prst="curvedConnector3">
            <a:avLst>
              <a:gd name="adj1" fmla="val 275497"/>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onnector: Curved 21">
            <a:extLst>
              <a:ext uri="{FF2B5EF4-FFF2-40B4-BE49-F238E27FC236}">
                <a16:creationId xmlns:a16="http://schemas.microsoft.com/office/drawing/2014/main" id="{195B5798-C36A-3875-C619-B88201D61E5B}"/>
              </a:ext>
            </a:extLst>
          </p:cNvPr>
          <p:cNvCxnSpPr>
            <a:stCxn id="11" idx="3"/>
            <a:endCxn id="6" idx="5"/>
          </p:cNvCxnSpPr>
          <p:nvPr/>
        </p:nvCxnSpPr>
        <p:spPr>
          <a:xfrm rot="5400000">
            <a:off x="4495175" y="2249522"/>
            <a:ext cx="12700" cy="1199186"/>
          </a:xfrm>
          <a:prstGeom prst="curvedConnector3">
            <a:avLst>
              <a:gd name="adj1" fmla="val 282566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onnector: Curved 23">
            <a:extLst>
              <a:ext uri="{FF2B5EF4-FFF2-40B4-BE49-F238E27FC236}">
                <a16:creationId xmlns:a16="http://schemas.microsoft.com/office/drawing/2014/main" id="{2054ED15-7BB1-9500-3AD0-2AC8260CAC9A}"/>
              </a:ext>
            </a:extLst>
          </p:cNvPr>
          <p:cNvCxnSpPr>
            <a:stCxn id="6" idx="7"/>
            <a:endCxn id="11" idx="1"/>
          </p:cNvCxnSpPr>
          <p:nvPr/>
        </p:nvCxnSpPr>
        <p:spPr>
          <a:xfrm rot="5400000" flipH="1" flipV="1">
            <a:off x="4495175" y="1620578"/>
            <a:ext cx="12700" cy="1199186"/>
          </a:xfrm>
          <a:prstGeom prst="curvedConnector3">
            <a:avLst>
              <a:gd name="adj1" fmla="val 282566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6" name="Connector: Curved 25">
            <a:extLst>
              <a:ext uri="{FF2B5EF4-FFF2-40B4-BE49-F238E27FC236}">
                <a16:creationId xmlns:a16="http://schemas.microsoft.com/office/drawing/2014/main" id="{AE0405EC-588D-BB7F-D312-1841D378A146}"/>
              </a:ext>
            </a:extLst>
          </p:cNvPr>
          <p:cNvCxnSpPr>
            <a:stCxn id="11" idx="7"/>
            <a:endCxn id="11" idx="0"/>
          </p:cNvCxnSpPr>
          <p:nvPr/>
        </p:nvCxnSpPr>
        <p:spPr>
          <a:xfrm rot="16200000" flipV="1">
            <a:off x="6485764" y="1669667"/>
            <a:ext cx="130259" cy="970749"/>
          </a:xfrm>
          <a:prstGeom prst="curvedConnector3">
            <a:avLst>
              <a:gd name="adj1" fmla="val 275497"/>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E94F2EB4-7FD9-B41F-D63E-71BB1A5078F2}"/>
              </a:ext>
            </a:extLst>
          </p:cNvPr>
          <p:cNvSpPr txBox="1"/>
          <p:nvPr/>
        </p:nvSpPr>
        <p:spPr>
          <a:xfrm>
            <a:off x="420934" y="2248584"/>
            <a:ext cx="1055089" cy="646331"/>
          </a:xfrm>
          <a:prstGeom prst="rect">
            <a:avLst/>
          </a:prstGeom>
          <a:noFill/>
        </p:spPr>
        <p:txBody>
          <a:bodyPr wrap="square" rtlCol="0">
            <a:spAutoFit/>
          </a:bodyPr>
          <a:lstStyle/>
          <a:p>
            <a:r>
              <a:rPr lang="es-ES"/>
              <a:t>Hidden</a:t>
            </a:r>
            <a:br>
              <a:rPr lang="es-ES"/>
            </a:br>
            <a:r>
              <a:rPr lang="es-ES"/>
              <a:t>states</a:t>
            </a:r>
            <a:endParaRPr lang="en-GB"/>
          </a:p>
        </p:txBody>
      </p:sp>
      <p:sp>
        <p:nvSpPr>
          <p:cNvPr id="7" name="TextBox 6">
            <a:extLst>
              <a:ext uri="{FF2B5EF4-FFF2-40B4-BE49-F238E27FC236}">
                <a16:creationId xmlns:a16="http://schemas.microsoft.com/office/drawing/2014/main" id="{BBCAF3DA-53B0-72BE-DCE4-404C86665E8A}"/>
              </a:ext>
            </a:extLst>
          </p:cNvPr>
          <p:cNvSpPr txBox="1"/>
          <p:nvPr/>
        </p:nvSpPr>
        <p:spPr>
          <a:xfrm>
            <a:off x="489289" y="4148037"/>
            <a:ext cx="5402254" cy="738664"/>
          </a:xfrm>
          <a:prstGeom prst="rect">
            <a:avLst/>
          </a:prstGeom>
          <a:noFill/>
        </p:spPr>
        <p:txBody>
          <a:bodyPr wrap="square" rtlCol="0">
            <a:spAutoFit/>
          </a:bodyPr>
          <a:lstStyle/>
          <a:p>
            <a:r>
              <a:rPr lang="es-ES" sz="1400" b="1"/>
              <a:t>A possible path for the genome sequence:</a:t>
            </a:r>
          </a:p>
          <a:p>
            <a:r>
              <a:rPr lang="es-ES" sz="1400"/>
              <a:t>AABBBAA</a:t>
            </a:r>
            <a:br>
              <a:rPr lang="es-ES" sz="1400"/>
            </a:br>
            <a:r>
              <a:rPr lang="es-ES" sz="1400"/>
              <a:t> I I CC</a:t>
            </a:r>
            <a:endParaRPr lang="en-GB" sz="1400"/>
          </a:p>
        </p:txBody>
      </p:sp>
      <p:sp>
        <p:nvSpPr>
          <p:cNvPr id="8" name="Rectangle 7">
            <a:extLst>
              <a:ext uri="{FF2B5EF4-FFF2-40B4-BE49-F238E27FC236}">
                <a16:creationId xmlns:a16="http://schemas.microsoft.com/office/drawing/2014/main" id="{9EBB1F05-7496-B9F6-D484-98F9E825DC69}"/>
              </a:ext>
            </a:extLst>
          </p:cNvPr>
          <p:cNvSpPr/>
          <p:nvPr/>
        </p:nvSpPr>
        <p:spPr>
          <a:xfrm>
            <a:off x="2687088" y="3641816"/>
            <a:ext cx="475488" cy="435573"/>
          </a:xfrm>
          <a:prstGeom prst="rect">
            <a:avLst/>
          </a:prstGeom>
          <a:noFill/>
          <a:ln w="28575">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964DB4A2-EFEF-80D3-6A8E-49E6648F8E4F}"/>
              </a:ext>
            </a:extLst>
          </p:cNvPr>
          <p:cNvSpPr/>
          <p:nvPr/>
        </p:nvSpPr>
        <p:spPr>
          <a:xfrm>
            <a:off x="5827775" y="3641815"/>
            <a:ext cx="475488" cy="435573"/>
          </a:xfrm>
          <a:prstGeom prst="rect">
            <a:avLst/>
          </a:prstGeom>
          <a:noFill/>
          <a:ln w="28575">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DE61BEF3-F82C-57FC-B58F-E61DD155BAF9}"/>
              </a:ext>
            </a:extLst>
          </p:cNvPr>
          <p:cNvSpPr txBox="1"/>
          <p:nvPr/>
        </p:nvSpPr>
        <p:spPr>
          <a:xfrm>
            <a:off x="2773843" y="3684079"/>
            <a:ext cx="338554" cy="369332"/>
          </a:xfrm>
          <a:prstGeom prst="rect">
            <a:avLst/>
          </a:prstGeom>
          <a:noFill/>
        </p:spPr>
        <p:txBody>
          <a:bodyPr wrap="none" rtlCol="0">
            <a:spAutoFit/>
          </a:bodyPr>
          <a:lstStyle/>
          <a:p>
            <a:r>
              <a:rPr lang="es-ES"/>
              <a:t>A</a:t>
            </a:r>
            <a:endParaRPr lang="en-GB"/>
          </a:p>
        </p:txBody>
      </p:sp>
      <p:sp>
        <p:nvSpPr>
          <p:cNvPr id="12" name="TextBox 11">
            <a:extLst>
              <a:ext uri="{FF2B5EF4-FFF2-40B4-BE49-F238E27FC236}">
                <a16:creationId xmlns:a16="http://schemas.microsoft.com/office/drawing/2014/main" id="{3DB1CEF0-C84B-8BE1-A5ED-B266C30BA1D9}"/>
              </a:ext>
            </a:extLst>
          </p:cNvPr>
          <p:cNvSpPr txBox="1"/>
          <p:nvPr/>
        </p:nvSpPr>
        <p:spPr>
          <a:xfrm>
            <a:off x="5905386" y="3683534"/>
            <a:ext cx="338554" cy="369332"/>
          </a:xfrm>
          <a:prstGeom prst="rect">
            <a:avLst/>
          </a:prstGeom>
          <a:noFill/>
        </p:spPr>
        <p:txBody>
          <a:bodyPr wrap="square" rtlCol="0">
            <a:spAutoFit/>
          </a:bodyPr>
          <a:lstStyle/>
          <a:p>
            <a:r>
              <a:rPr lang="es-ES"/>
              <a:t>B</a:t>
            </a:r>
            <a:endParaRPr lang="en-GB"/>
          </a:p>
        </p:txBody>
      </p:sp>
      <p:cxnSp>
        <p:nvCxnSpPr>
          <p:cNvPr id="16" name="Straight Arrow Connector 15">
            <a:extLst>
              <a:ext uri="{FF2B5EF4-FFF2-40B4-BE49-F238E27FC236}">
                <a16:creationId xmlns:a16="http://schemas.microsoft.com/office/drawing/2014/main" id="{38522810-5665-74AF-687D-16D9C80427AC}"/>
              </a:ext>
            </a:extLst>
          </p:cNvPr>
          <p:cNvCxnSpPr>
            <a:stCxn id="6" idx="4"/>
            <a:endCxn id="8" idx="0"/>
          </p:cNvCxnSpPr>
          <p:nvPr/>
        </p:nvCxnSpPr>
        <p:spPr>
          <a:xfrm flipH="1">
            <a:off x="2924832" y="2979374"/>
            <a:ext cx="1" cy="662442"/>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90D545D-C81A-08E3-04B5-5A9EC9DF379C}"/>
              </a:ext>
            </a:extLst>
          </p:cNvPr>
          <p:cNvCxnSpPr>
            <a:cxnSpLocks/>
            <a:stCxn id="6" idx="4"/>
            <a:endCxn id="9" idx="1"/>
          </p:cNvCxnSpPr>
          <p:nvPr/>
        </p:nvCxnSpPr>
        <p:spPr>
          <a:xfrm>
            <a:off x="2924833" y="2979374"/>
            <a:ext cx="2902942" cy="88022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5E9D84D-F6AD-7F0E-963A-6FCFCF396B7F}"/>
              </a:ext>
            </a:extLst>
          </p:cNvPr>
          <p:cNvCxnSpPr>
            <a:stCxn id="11" idx="4"/>
            <a:endCxn id="9" idx="0"/>
          </p:cNvCxnSpPr>
          <p:nvPr/>
        </p:nvCxnSpPr>
        <p:spPr>
          <a:xfrm>
            <a:off x="6065518" y="2979374"/>
            <a:ext cx="1" cy="662441"/>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cxnSp>
        <p:nvCxnSpPr>
          <p:cNvPr id="25" name="Straight Arrow Connector 24">
            <a:extLst>
              <a:ext uri="{FF2B5EF4-FFF2-40B4-BE49-F238E27FC236}">
                <a16:creationId xmlns:a16="http://schemas.microsoft.com/office/drawing/2014/main" id="{411EA4A1-B3C9-CA1C-90D6-AD131A9F5933}"/>
              </a:ext>
            </a:extLst>
          </p:cNvPr>
          <p:cNvCxnSpPr>
            <a:cxnSpLocks/>
            <a:stCxn id="11" idx="4"/>
            <a:endCxn id="8" idx="3"/>
          </p:cNvCxnSpPr>
          <p:nvPr/>
        </p:nvCxnSpPr>
        <p:spPr>
          <a:xfrm flipH="1">
            <a:off x="3162576" y="2979374"/>
            <a:ext cx="2902942" cy="880229"/>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7094398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2BB9054-80B3-7C93-7EA4-A5C1235FCD34}"/>
              </a:ext>
            </a:extLst>
          </p:cNvPr>
          <p:cNvSpPr>
            <a:spLocks noGrp="1"/>
          </p:cNvSpPr>
          <p:nvPr>
            <p:ph type="sldNum" sz="quarter" idx="4"/>
          </p:nvPr>
        </p:nvSpPr>
        <p:spPr/>
        <p:txBody>
          <a:bodyPr/>
          <a:lstStyle/>
          <a:p>
            <a:fld id="{38FB3DE5-0BF2-9949-8E8E-62041A1EAFCC}" type="slidenum">
              <a:rPr lang="en-US" smtClean="0"/>
              <a:pPr/>
              <a:t>18</a:t>
            </a:fld>
            <a:endParaRPr lang="en-US"/>
          </a:p>
        </p:txBody>
      </p:sp>
      <p:sp>
        <p:nvSpPr>
          <p:cNvPr id="3" name="Title 2">
            <a:extLst>
              <a:ext uri="{FF2B5EF4-FFF2-40B4-BE49-F238E27FC236}">
                <a16:creationId xmlns:a16="http://schemas.microsoft.com/office/drawing/2014/main" id="{98B06369-A94B-54C7-69C6-8632C2EEFF04}"/>
              </a:ext>
            </a:extLst>
          </p:cNvPr>
          <p:cNvSpPr>
            <a:spLocks noGrp="1"/>
          </p:cNvSpPr>
          <p:nvPr>
            <p:ph type="title"/>
          </p:nvPr>
        </p:nvSpPr>
        <p:spPr/>
        <p:txBody>
          <a:bodyPr/>
          <a:lstStyle/>
          <a:p>
            <a:endParaRPr lang="en-GB"/>
          </a:p>
        </p:txBody>
      </p:sp>
      <p:sp>
        <p:nvSpPr>
          <p:cNvPr id="4" name="Text Placeholder 3">
            <a:extLst>
              <a:ext uri="{FF2B5EF4-FFF2-40B4-BE49-F238E27FC236}">
                <a16:creationId xmlns:a16="http://schemas.microsoft.com/office/drawing/2014/main" id="{928AD26F-4D1B-1836-E95A-470CDC146EA6}"/>
              </a:ext>
            </a:extLst>
          </p:cNvPr>
          <p:cNvSpPr>
            <a:spLocks noGrp="1"/>
          </p:cNvSpPr>
          <p:nvPr>
            <p:ph type="body" sz="quarter" idx="10"/>
          </p:nvPr>
        </p:nvSpPr>
        <p:spPr/>
        <p:txBody>
          <a:bodyPr/>
          <a:lstStyle/>
          <a:p>
            <a:endParaRPr lang="en-GB"/>
          </a:p>
        </p:txBody>
      </p:sp>
    </p:spTree>
    <p:extLst>
      <p:ext uri="{BB962C8B-B14F-4D97-AF65-F5344CB8AC3E}">
        <p14:creationId xmlns:p14="http://schemas.microsoft.com/office/powerpoint/2010/main" val="9299819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666F534-04B6-CAA0-F686-1EF66001769A}"/>
              </a:ext>
            </a:extLst>
          </p:cNvPr>
          <p:cNvSpPr>
            <a:spLocks noGrp="1"/>
          </p:cNvSpPr>
          <p:nvPr>
            <p:ph type="sldNum" sz="quarter" idx="4"/>
          </p:nvPr>
        </p:nvSpPr>
        <p:spPr/>
        <p:txBody>
          <a:bodyPr/>
          <a:lstStyle/>
          <a:p>
            <a:fld id="{38FB3DE5-0BF2-9949-8E8E-62041A1EAFCC}" type="slidenum">
              <a:rPr lang="en-US" smtClean="0"/>
              <a:pPr/>
              <a:t>19</a:t>
            </a:fld>
            <a:endParaRPr lang="en-US"/>
          </a:p>
        </p:txBody>
      </p:sp>
      <p:sp>
        <p:nvSpPr>
          <p:cNvPr id="3" name="Title 2">
            <a:extLst>
              <a:ext uri="{FF2B5EF4-FFF2-40B4-BE49-F238E27FC236}">
                <a16:creationId xmlns:a16="http://schemas.microsoft.com/office/drawing/2014/main" id="{AE2DC453-B2F9-0664-9F10-7D7A3F0C0D21}"/>
              </a:ext>
            </a:extLst>
          </p:cNvPr>
          <p:cNvSpPr>
            <a:spLocks noGrp="1"/>
          </p:cNvSpPr>
          <p:nvPr>
            <p:ph type="title"/>
          </p:nvPr>
        </p:nvSpPr>
        <p:spPr/>
        <p:txBody>
          <a:bodyPr/>
          <a:lstStyle/>
          <a:p>
            <a:r>
              <a:rPr lang="es-ES"/>
              <a:t>Evidence-based</a:t>
            </a:r>
            <a:endParaRPr lang="en-GB"/>
          </a:p>
        </p:txBody>
      </p:sp>
      <p:sp>
        <p:nvSpPr>
          <p:cNvPr id="4" name="Text Placeholder 3">
            <a:extLst>
              <a:ext uri="{FF2B5EF4-FFF2-40B4-BE49-F238E27FC236}">
                <a16:creationId xmlns:a16="http://schemas.microsoft.com/office/drawing/2014/main" id="{63B77B32-378F-9609-7F51-C4BDA5FF6A71}"/>
              </a:ext>
            </a:extLst>
          </p:cNvPr>
          <p:cNvSpPr>
            <a:spLocks noGrp="1"/>
          </p:cNvSpPr>
          <p:nvPr>
            <p:ph type="body" sz="quarter" idx="10"/>
          </p:nvPr>
        </p:nvSpPr>
        <p:spPr/>
        <p:txBody>
          <a:bodyPr/>
          <a:lstStyle/>
          <a:p>
            <a:r>
              <a:rPr lang="es-ES"/>
              <a:t>Generating gene models directly from the empirical evidence</a:t>
            </a:r>
          </a:p>
          <a:p>
            <a:r>
              <a:rPr lang="es-ES"/>
              <a:t>Mapping the transcripts against the genome</a:t>
            </a:r>
          </a:p>
          <a:p>
            <a:r>
              <a:rPr lang="es-ES"/>
              <a:t>Overlaying the protein evidence</a:t>
            </a:r>
          </a:p>
          <a:p>
            <a:r>
              <a:rPr lang="en-GB"/>
              <a:t>If you have RNA-seq data:</a:t>
            </a:r>
          </a:p>
          <a:p>
            <a:pPr marL="0" indent="0">
              <a:buNone/>
            </a:pPr>
            <a:endParaRPr lang="en-GB"/>
          </a:p>
        </p:txBody>
      </p:sp>
    </p:spTree>
    <p:extLst>
      <p:ext uri="{BB962C8B-B14F-4D97-AF65-F5344CB8AC3E}">
        <p14:creationId xmlns:p14="http://schemas.microsoft.com/office/powerpoint/2010/main" val="2835345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36496CF-6616-AF84-C759-E2E0DA524C61}"/>
              </a:ext>
            </a:extLst>
          </p:cNvPr>
          <p:cNvSpPr>
            <a:spLocks noGrp="1"/>
          </p:cNvSpPr>
          <p:nvPr>
            <p:ph type="sldNum" sz="quarter" idx="4"/>
          </p:nvPr>
        </p:nvSpPr>
        <p:spPr/>
        <p:txBody>
          <a:bodyPr/>
          <a:lstStyle/>
          <a:p>
            <a:fld id="{38FB3DE5-0BF2-9949-8E8E-62041A1EAFCC}" type="slidenum">
              <a:rPr lang="en-US" smtClean="0"/>
              <a:pPr/>
              <a:t>20</a:t>
            </a:fld>
            <a:endParaRPr lang="en-US"/>
          </a:p>
        </p:txBody>
      </p:sp>
      <p:sp>
        <p:nvSpPr>
          <p:cNvPr id="3" name="Title 2">
            <a:extLst>
              <a:ext uri="{FF2B5EF4-FFF2-40B4-BE49-F238E27FC236}">
                <a16:creationId xmlns:a16="http://schemas.microsoft.com/office/drawing/2014/main" id="{208E5F06-49A1-3748-DD77-E3F485E4B368}"/>
              </a:ext>
            </a:extLst>
          </p:cNvPr>
          <p:cNvSpPr>
            <a:spLocks noGrp="1"/>
          </p:cNvSpPr>
          <p:nvPr>
            <p:ph type="title"/>
          </p:nvPr>
        </p:nvSpPr>
        <p:spPr/>
        <p:txBody>
          <a:bodyPr/>
          <a:lstStyle/>
          <a:p>
            <a:r>
              <a:rPr lang="es-ES"/>
              <a:t>Evidence based – Transcriptome curation </a:t>
            </a:r>
            <a:endParaRPr lang="en-GB"/>
          </a:p>
        </p:txBody>
      </p:sp>
      <p:sp>
        <p:nvSpPr>
          <p:cNvPr id="4" name="Text Placeholder 3">
            <a:extLst>
              <a:ext uri="{FF2B5EF4-FFF2-40B4-BE49-F238E27FC236}">
                <a16:creationId xmlns:a16="http://schemas.microsoft.com/office/drawing/2014/main" id="{596F4D07-4049-C364-D9F1-DA762E3D59AC}"/>
              </a:ext>
            </a:extLst>
          </p:cNvPr>
          <p:cNvSpPr>
            <a:spLocks noGrp="1"/>
          </p:cNvSpPr>
          <p:nvPr>
            <p:ph type="body" sz="quarter" idx="10"/>
          </p:nvPr>
        </p:nvSpPr>
        <p:spPr/>
        <p:txBody>
          <a:bodyPr/>
          <a:lstStyle/>
          <a:p>
            <a:r>
              <a:rPr lang="es-ES"/>
              <a:t>Any time you are using a long-reads defined transcriptome (or a transcriptome)</a:t>
            </a:r>
            <a:r>
              <a:rPr lang="en-GB"/>
              <a:t> is fundamental to curate it</a:t>
            </a:r>
          </a:p>
          <a:p>
            <a:r>
              <a:rPr lang="en-GB"/>
              <a:t>Even though we already know, here the curation takes a new perspective</a:t>
            </a:r>
          </a:p>
          <a:p>
            <a:pPr lvl="1"/>
            <a:r>
              <a:rPr lang="en-GB"/>
              <a:t>You do not have a reference annotation </a:t>
            </a:r>
            <a:r>
              <a:rPr lang="en-GB">
                <a:sym typeface="Wingdings" panose="05000000000000000000" pitchFamily="2" charset="2"/>
              </a:rPr>
              <a:t> Filtering via TTS/Structural categories not feasible</a:t>
            </a:r>
            <a:endParaRPr lang="en-GB"/>
          </a:p>
          <a:p>
            <a:pPr lvl="1"/>
            <a:r>
              <a:rPr lang="en-GB"/>
              <a:t>Many times, there are no short reads available</a:t>
            </a:r>
            <a:endParaRPr lang="es-ES"/>
          </a:p>
        </p:txBody>
      </p:sp>
    </p:spTree>
    <p:extLst>
      <p:ext uri="{BB962C8B-B14F-4D97-AF65-F5344CB8AC3E}">
        <p14:creationId xmlns:p14="http://schemas.microsoft.com/office/powerpoint/2010/main" val="18438633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D020247-B9D1-40F6-A16D-AE947B0A35BD}"/>
              </a:ext>
            </a:extLst>
          </p:cNvPr>
          <p:cNvSpPr>
            <a:spLocks noGrp="1"/>
          </p:cNvSpPr>
          <p:nvPr>
            <p:ph type="sldNum" sz="quarter" idx="4"/>
          </p:nvPr>
        </p:nvSpPr>
        <p:spPr/>
        <p:txBody>
          <a:bodyPr/>
          <a:lstStyle/>
          <a:p>
            <a:fld id="{38FB3DE5-0BF2-9949-8E8E-62041A1EAFCC}" type="slidenum">
              <a:rPr lang="en-US" smtClean="0"/>
              <a:pPr/>
              <a:t>21</a:t>
            </a:fld>
            <a:endParaRPr lang="en-US"/>
          </a:p>
        </p:txBody>
      </p:sp>
      <p:sp>
        <p:nvSpPr>
          <p:cNvPr id="3" name="Title 2">
            <a:extLst>
              <a:ext uri="{FF2B5EF4-FFF2-40B4-BE49-F238E27FC236}">
                <a16:creationId xmlns:a16="http://schemas.microsoft.com/office/drawing/2014/main" id="{1FDBB6D1-B002-F48B-9882-7355631A58CD}"/>
              </a:ext>
            </a:extLst>
          </p:cNvPr>
          <p:cNvSpPr>
            <a:spLocks noGrp="1"/>
          </p:cNvSpPr>
          <p:nvPr>
            <p:ph type="title"/>
          </p:nvPr>
        </p:nvSpPr>
        <p:spPr/>
        <p:txBody>
          <a:bodyPr/>
          <a:lstStyle/>
          <a:p>
            <a:r>
              <a:rPr lang="es-ES"/>
              <a:t>Evidence driven</a:t>
            </a:r>
            <a:endParaRPr lang="en-GB"/>
          </a:p>
        </p:txBody>
      </p:sp>
      <p:sp>
        <p:nvSpPr>
          <p:cNvPr id="4" name="Text Placeholder 3">
            <a:extLst>
              <a:ext uri="{FF2B5EF4-FFF2-40B4-BE49-F238E27FC236}">
                <a16:creationId xmlns:a16="http://schemas.microsoft.com/office/drawing/2014/main" id="{31AE1CD0-A68B-5322-80FD-5A6737F7F6AA}"/>
              </a:ext>
            </a:extLst>
          </p:cNvPr>
          <p:cNvSpPr>
            <a:spLocks noGrp="1"/>
          </p:cNvSpPr>
          <p:nvPr>
            <p:ph type="body" sz="quarter" idx="10"/>
          </p:nvPr>
        </p:nvSpPr>
        <p:spPr/>
        <p:txBody>
          <a:bodyPr/>
          <a:lstStyle/>
          <a:p>
            <a:r>
              <a:rPr lang="es-ES"/>
              <a:t>Offers the combination of empirical data and genome prediction</a:t>
            </a:r>
            <a:endParaRPr lang="en-GB"/>
          </a:p>
        </p:txBody>
      </p:sp>
    </p:spTree>
    <p:extLst>
      <p:ext uri="{BB962C8B-B14F-4D97-AF65-F5344CB8AC3E}">
        <p14:creationId xmlns:p14="http://schemas.microsoft.com/office/powerpoint/2010/main" val="36789758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1A03CA0-5F80-6376-5E86-897EAE7C9C9D}"/>
              </a:ext>
            </a:extLst>
          </p:cNvPr>
          <p:cNvSpPr>
            <a:spLocks noGrp="1"/>
          </p:cNvSpPr>
          <p:nvPr>
            <p:ph type="sldNum" sz="quarter" idx="4"/>
          </p:nvPr>
        </p:nvSpPr>
        <p:spPr/>
        <p:txBody>
          <a:bodyPr/>
          <a:lstStyle/>
          <a:p>
            <a:fld id="{38FB3DE5-0BF2-9949-8E8E-62041A1EAFCC}" type="slidenum">
              <a:rPr lang="en-US" smtClean="0"/>
              <a:pPr/>
              <a:t>22</a:t>
            </a:fld>
            <a:endParaRPr lang="en-US"/>
          </a:p>
        </p:txBody>
      </p:sp>
      <p:sp>
        <p:nvSpPr>
          <p:cNvPr id="3" name="Title 2">
            <a:extLst>
              <a:ext uri="{FF2B5EF4-FFF2-40B4-BE49-F238E27FC236}">
                <a16:creationId xmlns:a16="http://schemas.microsoft.com/office/drawing/2014/main" id="{33D57037-B96F-33FE-3E14-F28AFF3B5DC1}"/>
              </a:ext>
            </a:extLst>
          </p:cNvPr>
          <p:cNvSpPr>
            <a:spLocks noGrp="1"/>
          </p:cNvSpPr>
          <p:nvPr>
            <p:ph type="title"/>
          </p:nvPr>
        </p:nvSpPr>
        <p:spPr/>
        <p:txBody>
          <a:bodyPr/>
          <a:lstStyle/>
          <a:p>
            <a:r>
              <a:rPr lang="es-ES"/>
              <a:t>SQANTI-evidence</a:t>
            </a:r>
            <a:endParaRPr lang="en-GB"/>
          </a:p>
        </p:txBody>
      </p:sp>
      <p:sp>
        <p:nvSpPr>
          <p:cNvPr id="4" name="Text Placeholder 3">
            <a:extLst>
              <a:ext uri="{FF2B5EF4-FFF2-40B4-BE49-F238E27FC236}">
                <a16:creationId xmlns:a16="http://schemas.microsoft.com/office/drawing/2014/main" id="{A936C0FB-4D91-B37E-867C-1B1A14A307A3}"/>
              </a:ext>
            </a:extLst>
          </p:cNvPr>
          <p:cNvSpPr>
            <a:spLocks noGrp="1"/>
          </p:cNvSpPr>
          <p:nvPr>
            <p:ph type="body" sz="quarter" idx="10"/>
          </p:nvPr>
        </p:nvSpPr>
        <p:spPr/>
        <p:txBody>
          <a:bodyPr/>
          <a:lstStyle/>
          <a:p>
            <a:r>
              <a:rPr lang="es-ES"/>
              <a:t>Snakemake based tool </a:t>
            </a:r>
            <a:r>
              <a:rPr lang="es-ES">
                <a:sym typeface="Wingdings" panose="05000000000000000000" pitchFamily="2" charset="2"/>
              </a:rPr>
              <a:t> Can be run using one command only</a:t>
            </a:r>
            <a:endParaRPr lang="en-GB"/>
          </a:p>
        </p:txBody>
      </p:sp>
    </p:spTree>
    <p:extLst>
      <p:ext uri="{BB962C8B-B14F-4D97-AF65-F5344CB8AC3E}">
        <p14:creationId xmlns:p14="http://schemas.microsoft.com/office/powerpoint/2010/main" val="3734904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3257B25-326C-2159-F400-97CF9BA337D4}"/>
              </a:ext>
            </a:extLst>
          </p:cNvPr>
          <p:cNvSpPr>
            <a:spLocks noGrp="1"/>
          </p:cNvSpPr>
          <p:nvPr>
            <p:ph type="sldNum" sz="quarter" idx="4"/>
          </p:nvPr>
        </p:nvSpPr>
        <p:spPr/>
        <p:txBody>
          <a:bodyPr/>
          <a:lstStyle/>
          <a:p>
            <a:fld id="{38FB3DE5-0BF2-9949-8E8E-62041A1EAFCC}" type="slidenum">
              <a:rPr lang="en-US" smtClean="0"/>
              <a:pPr/>
              <a:t>23</a:t>
            </a:fld>
            <a:endParaRPr lang="en-US"/>
          </a:p>
        </p:txBody>
      </p:sp>
      <p:sp>
        <p:nvSpPr>
          <p:cNvPr id="3" name="Title 2">
            <a:extLst>
              <a:ext uri="{FF2B5EF4-FFF2-40B4-BE49-F238E27FC236}">
                <a16:creationId xmlns:a16="http://schemas.microsoft.com/office/drawing/2014/main" id="{4B9A47F4-F6DB-6E78-FCCA-C597FF2926B5}"/>
              </a:ext>
            </a:extLst>
          </p:cNvPr>
          <p:cNvSpPr>
            <a:spLocks noGrp="1"/>
          </p:cNvSpPr>
          <p:nvPr>
            <p:ph type="title"/>
          </p:nvPr>
        </p:nvSpPr>
        <p:spPr/>
        <p:txBody>
          <a:bodyPr/>
          <a:lstStyle/>
          <a:p>
            <a:r>
              <a:rPr lang="es-ES"/>
              <a:t>Deep learning genome annotation methods</a:t>
            </a:r>
            <a:endParaRPr lang="en-GB"/>
          </a:p>
        </p:txBody>
      </p:sp>
      <p:sp>
        <p:nvSpPr>
          <p:cNvPr id="4" name="Text Placeholder 3">
            <a:extLst>
              <a:ext uri="{FF2B5EF4-FFF2-40B4-BE49-F238E27FC236}">
                <a16:creationId xmlns:a16="http://schemas.microsoft.com/office/drawing/2014/main" id="{2EF67F54-4623-3B76-06DF-4285FAD3C368}"/>
              </a:ext>
            </a:extLst>
          </p:cNvPr>
          <p:cNvSpPr>
            <a:spLocks noGrp="1"/>
          </p:cNvSpPr>
          <p:nvPr>
            <p:ph type="body" sz="quarter" idx="10"/>
          </p:nvPr>
        </p:nvSpPr>
        <p:spPr/>
        <p:txBody>
          <a:bodyPr/>
          <a:lstStyle/>
          <a:p>
            <a:r>
              <a:rPr lang="es-ES"/>
              <a:t>Helixer is the best option as of today</a:t>
            </a:r>
            <a:endParaRPr lang="en-GB"/>
          </a:p>
        </p:txBody>
      </p:sp>
      <p:pic>
        <p:nvPicPr>
          <p:cNvPr id="6" name="Picture 5">
            <a:extLst>
              <a:ext uri="{FF2B5EF4-FFF2-40B4-BE49-F238E27FC236}">
                <a16:creationId xmlns:a16="http://schemas.microsoft.com/office/drawing/2014/main" id="{DC68668C-5D69-3A40-72EC-74F5F9D23762}"/>
              </a:ext>
            </a:extLst>
          </p:cNvPr>
          <p:cNvPicPr>
            <a:picLocks noChangeAspect="1"/>
          </p:cNvPicPr>
          <p:nvPr/>
        </p:nvPicPr>
        <p:blipFill>
          <a:blip r:embed="rId2"/>
          <a:stretch>
            <a:fillRect/>
          </a:stretch>
        </p:blipFill>
        <p:spPr>
          <a:xfrm>
            <a:off x="2421924" y="1009261"/>
            <a:ext cx="4910740" cy="3793605"/>
          </a:xfrm>
          <a:prstGeom prst="rect">
            <a:avLst/>
          </a:prstGeom>
        </p:spPr>
      </p:pic>
    </p:spTree>
    <p:extLst>
      <p:ext uri="{BB962C8B-B14F-4D97-AF65-F5344CB8AC3E}">
        <p14:creationId xmlns:p14="http://schemas.microsoft.com/office/powerpoint/2010/main" val="12204149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694EB5-932E-0F6A-9D14-ADBD00ADB22A}"/>
              </a:ext>
            </a:extLst>
          </p:cNvPr>
          <p:cNvSpPr>
            <a:spLocks noGrp="1"/>
          </p:cNvSpPr>
          <p:nvPr>
            <p:ph type="sldNum" sz="quarter" idx="4"/>
          </p:nvPr>
        </p:nvSpPr>
        <p:spPr/>
        <p:txBody>
          <a:bodyPr/>
          <a:lstStyle/>
          <a:p>
            <a:fld id="{38FB3DE5-0BF2-9949-8E8E-62041A1EAFCC}" type="slidenum">
              <a:rPr lang="en-US" smtClean="0"/>
              <a:pPr/>
              <a:t>24</a:t>
            </a:fld>
            <a:endParaRPr lang="en-US"/>
          </a:p>
        </p:txBody>
      </p:sp>
      <p:sp>
        <p:nvSpPr>
          <p:cNvPr id="3" name="Title 2">
            <a:extLst>
              <a:ext uri="{FF2B5EF4-FFF2-40B4-BE49-F238E27FC236}">
                <a16:creationId xmlns:a16="http://schemas.microsoft.com/office/drawing/2014/main" id="{EEE7C04E-FCBE-3D62-4B7E-97A8FB8632CD}"/>
              </a:ext>
            </a:extLst>
          </p:cNvPr>
          <p:cNvSpPr>
            <a:spLocks noGrp="1"/>
          </p:cNvSpPr>
          <p:nvPr>
            <p:ph type="title"/>
          </p:nvPr>
        </p:nvSpPr>
        <p:spPr/>
        <p:txBody>
          <a:bodyPr/>
          <a:lstStyle/>
          <a:p>
            <a:r>
              <a:rPr lang="es-ES"/>
              <a:t>Deep learning based</a:t>
            </a:r>
            <a:endParaRPr lang="en-GB"/>
          </a:p>
        </p:txBody>
      </p:sp>
      <p:sp>
        <p:nvSpPr>
          <p:cNvPr id="4" name="Text Placeholder 3">
            <a:extLst>
              <a:ext uri="{FF2B5EF4-FFF2-40B4-BE49-F238E27FC236}">
                <a16:creationId xmlns:a16="http://schemas.microsoft.com/office/drawing/2014/main" id="{D52DEC3C-B680-9435-64B2-093DD21A50D1}"/>
              </a:ext>
            </a:extLst>
          </p:cNvPr>
          <p:cNvSpPr>
            <a:spLocks noGrp="1"/>
          </p:cNvSpPr>
          <p:nvPr>
            <p:ph type="body" sz="quarter" idx="10"/>
          </p:nvPr>
        </p:nvSpPr>
        <p:spPr/>
        <p:txBody>
          <a:bodyPr/>
          <a:lstStyle/>
          <a:p>
            <a:r>
              <a:rPr lang="es-ES"/>
              <a:t>Not everything is so perfect:</a:t>
            </a:r>
          </a:p>
          <a:p>
            <a:pPr lvl="1"/>
            <a:r>
              <a:rPr lang="en-GB"/>
              <a:t>no evidence integration</a:t>
            </a:r>
          </a:p>
          <a:p>
            <a:pPr lvl="1"/>
            <a:r>
              <a:rPr lang="en-US"/>
              <a:t>no alternative splicing isoform prediction</a:t>
            </a:r>
          </a:p>
          <a:p>
            <a:pPr lvl="1"/>
            <a:r>
              <a:rPr lang="en-US"/>
              <a:t>require expensive GPU for feasible runtime</a:t>
            </a:r>
          </a:p>
          <a:p>
            <a:pPr lvl="1"/>
            <a:r>
              <a:rPr lang="en-GB"/>
              <a:t>limited to specific clades</a:t>
            </a:r>
          </a:p>
        </p:txBody>
      </p:sp>
    </p:spTree>
    <p:extLst>
      <p:ext uri="{BB962C8B-B14F-4D97-AF65-F5344CB8AC3E}">
        <p14:creationId xmlns:p14="http://schemas.microsoft.com/office/powerpoint/2010/main" val="13452619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34E613A-C01F-D456-7C8D-68CDF4F1FF78}"/>
              </a:ext>
            </a:extLst>
          </p:cNvPr>
          <p:cNvSpPr>
            <a:spLocks noGrp="1"/>
          </p:cNvSpPr>
          <p:nvPr>
            <p:ph type="sldNum" sz="quarter" idx="4"/>
          </p:nvPr>
        </p:nvSpPr>
        <p:spPr/>
        <p:txBody>
          <a:bodyPr/>
          <a:lstStyle/>
          <a:p>
            <a:fld id="{38FB3DE5-0BF2-9949-8E8E-62041A1EAFCC}" type="slidenum">
              <a:rPr lang="en-US" smtClean="0"/>
              <a:pPr/>
              <a:t>25</a:t>
            </a:fld>
            <a:endParaRPr lang="en-US"/>
          </a:p>
        </p:txBody>
      </p:sp>
      <p:sp>
        <p:nvSpPr>
          <p:cNvPr id="3" name="Title 2">
            <a:extLst>
              <a:ext uri="{FF2B5EF4-FFF2-40B4-BE49-F238E27FC236}">
                <a16:creationId xmlns:a16="http://schemas.microsoft.com/office/drawing/2014/main" id="{AD5E95BF-5046-4E9A-68B1-AC5396B3BCFF}"/>
              </a:ext>
            </a:extLst>
          </p:cNvPr>
          <p:cNvSpPr>
            <a:spLocks noGrp="1"/>
          </p:cNvSpPr>
          <p:nvPr>
            <p:ph type="title"/>
          </p:nvPr>
        </p:nvSpPr>
        <p:spPr/>
        <p:txBody>
          <a:bodyPr/>
          <a:lstStyle/>
          <a:p>
            <a:r>
              <a:rPr lang="es-ES"/>
              <a:t>Quality Control</a:t>
            </a:r>
            <a:endParaRPr lang="en-GB"/>
          </a:p>
        </p:txBody>
      </p:sp>
      <p:sp>
        <p:nvSpPr>
          <p:cNvPr id="4" name="Text Placeholder 3">
            <a:extLst>
              <a:ext uri="{FF2B5EF4-FFF2-40B4-BE49-F238E27FC236}">
                <a16:creationId xmlns:a16="http://schemas.microsoft.com/office/drawing/2014/main" id="{88C2C009-DC47-A67B-14EB-D99C88FD759D}"/>
              </a:ext>
            </a:extLst>
          </p:cNvPr>
          <p:cNvSpPr>
            <a:spLocks noGrp="1"/>
          </p:cNvSpPr>
          <p:nvPr>
            <p:ph type="body" sz="quarter" idx="10"/>
          </p:nvPr>
        </p:nvSpPr>
        <p:spPr/>
        <p:txBody>
          <a:bodyPr/>
          <a:lstStyle/>
          <a:p>
            <a:r>
              <a:rPr lang="es-ES"/>
              <a:t>It is important to understand how well your annotation is done</a:t>
            </a:r>
            <a:endParaRPr lang="en-GB"/>
          </a:p>
        </p:txBody>
      </p:sp>
    </p:spTree>
    <p:extLst>
      <p:ext uri="{BB962C8B-B14F-4D97-AF65-F5344CB8AC3E}">
        <p14:creationId xmlns:p14="http://schemas.microsoft.com/office/powerpoint/2010/main" val="14059090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QANTI_theory" id="{4C6E5C03-92B4-498B-9F51-0ADA25D80C00}" vid="{420755FB-5DFD-4D61-9588-57E7B2E67E5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Summer_school_Template</Template>
  <TotalTime>8818</TotalTime>
  <Words>964</Words>
  <Application>Microsoft Office PowerPoint</Application>
  <PresentationFormat>On-screen Show (16:9)</PresentationFormat>
  <Paragraphs>151</Paragraphs>
  <Slides>25</Slides>
  <Notes>13</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Wingdings</vt:lpstr>
      <vt:lpstr>Office Theme</vt:lpstr>
      <vt:lpstr>PowerPoint Presentation</vt:lpstr>
      <vt:lpstr>PowerPoint Presentation</vt:lpstr>
      <vt:lpstr>What is an annotation?</vt:lpstr>
      <vt:lpstr>Structural vs Functional</vt:lpstr>
      <vt:lpstr>A bit of history</vt:lpstr>
      <vt:lpstr>A bit of history</vt:lpstr>
      <vt:lpstr>Remembering the biology</vt:lpstr>
      <vt:lpstr>Remembering the biology</vt:lpstr>
      <vt:lpstr>How to annotate a genome?</vt:lpstr>
      <vt:lpstr>Ab initio</vt:lpstr>
      <vt:lpstr>Ab initio – Hidden Marov Models</vt:lpstr>
      <vt:lpstr>Ab initio – Hidden Marov Models</vt:lpstr>
      <vt:lpstr>Ab initio – Hidden Marov Models</vt:lpstr>
      <vt:lpstr>Ab initio – Hidden Marov Models</vt:lpstr>
      <vt:lpstr>Ab initio – Hidden Marov Models</vt:lpstr>
      <vt:lpstr>Ab initio – Hidden Marov Models</vt:lpstr>
      <vt:lpstr>Ab initio – Hidden Marov Models</vt:lpstr>
      <vt:lpstr>PowerPoint Presentation</vt:lpstr>
      <vt:lpstr>Evidence-based</vt:lpstr>
      <vt:lpstr>Evidence based – Transcriptome curation </vt:lpstr>
      <vt:lpstr>Evidence driven</vt:lpstr>
      <vt:lpstr>SQANTI-evidence</vt:lpstr>
      <vt:lpstr>Deep learning genome annotation methods</vt:lpstr>
      <vt:lpstr>Deep learning based</vt:lpstr>
      <vt:lpstr>Quality Control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PptxGenJS Presentation</dc:subject>
  <dc:creator>Pablo Atienza</dc:creator>
  <cp:lastModifiedBy>Pablo Atienza</cp:lastModifiedBy>
  <cp:revision>5</cp:revision>
  <dcterms:created xsi:type="dcterms:W3CDTF">2026-05-29T12:56:38Z</dcterms:created>
  <dcterms:modified xsi:type="dcterms:W3CDTF">2026-06-12T13:28:13Z</dcterms:modified>
</cp:coreProperties>
</file>